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4.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arm-up" id="{d4b103b2-f256-c497-82ab-12cf46281849}">
          <p14:sldIdLst>
            <p14:sldId id="256"/>
            <p14:sldId id="257"/>
            <p14:sldId id="258"/>
            <p14:sldId id="259"/>
            <p14:sldId id="260"/>
          </p14:sldIdLst>
        </p14:section>
        <p14:section name="The data" id="{879f2bbd-f799-543f-fdb4-a7ba65d16931}">
          <p14:sldIdLst>
            <p14:sldId id="261"/>
            <p14:sldId id="262"/>
            <p14:sldId id="263"/>
          </p14:sldIdLst>
        </p14:section>
        <p14:section name="Prepare the data" id="{130b1292-7313-174b-817b-19750448b2ef}">
          <p14:sldIdLst>
            <p14:sldId id="264"/>
            <p14:sldId id="265"/>
          </p14:sldIdLst>
        </p14:section>
        <p14:section name="Detect with labels" id="{8e47337e-f9f3-0759-b1bd-5ee0fbe39379}">
          <p14:sldIdLst>
            <p14:sldId id="266"/>
            <p14:sldId id="267"/>
          </p14:sldIdLst>
        </p14:section>
        <p14:section name="Detect without labels" id="{09de3fe9-80cd-f197-3909-1596eba57073}">
          <p14:sldIdLst>
            <p14:sldId id="268"/>
            <p14:sldId id="269"/>
          </p14:sldIdLst>
        </p14:section>
        <p14:section name="Trust &amp; explain" id="{4faa3762-93c2-18b6-8a4a-cd2b919502a4}">
          <p14:sldIdLst>
            <p14:sldId id="270"/>
            <p14:sldId id="271"/>
          </p14:sldIdLst>
        </p14:section>
        <p14:section name="Wrap-up" id="{e7ceb894-6ded-0048-5274-a16a30a6c275}">
          <p14:sldIdLst>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B2A35"/>
                </a:solidFill>
                <a:latin typeface="+mn-lt"/>
              </a:defRPr>
            </a:pPr>
            <a:r>
              <a:rPr sz="1100" b="0" i="0" u="none" strike="noStrike">
                <a:solidFill>
                  <a:srgbClr val="1B2A35"/>
                </a:solidFill>
                <a:latin typeface="+mn-lt"/>
              </a:rPr>
              <a:t>Group accuracy on Loghub-2k ground truth</a:t>
            </a:r>
          </a:p>
        </c:rich>
      </c:tx>
      <c:layout/>
      <c:overlay val="0"/>
    </c:title>
    <c:autoTitleDeleted val="0"/>
    <c:plotArea>
      <c:layout/>
      <c:barChart>
        <c:barDir val="col"/>
        <c:grouping val="clustered"/>
        <c:varyColors val="0"/>
        <c:ser>
          <c:idx val="0"/>
          <c:order val="0"/>
          <c:tx>
            <c:strRef>
              <c:f>Sheet1!$B$1</c:f>
              <c:strCache>
                <c:ptCount val="1"/>
                <c:pt idx="0">
                  <c:v>no preprocessing</c:v>
                </c:pt>
              </c:strCache>
            </c:strRef>
          </c:tx>
          <c:spPr>
            <a:solidFill>
              <a:srgbClr val="B9C4CC"/>
            </a:solidFill>
            <a:effectLst/>
          </c:spPr>
          <c:invertIfNegative val="0"/>
          <c:dLbls>
            <c:numFmt formatCode="0.000" sourceLinked="0"/>
            <c:txPr>
              <a:bodyPr/>
              <a:lstStyle/>
              <a:p>
                <a:pPr>
                  <a:defRPr b="0" i="0" strike="noStrike" sz="1000" u="none">
                    <a:solidFill>
                      <a:srgbClr val="1B2A35"/>
                    </a:solidFill>
                    <a:latin typeface="+mn-lt"/>
                  </a:defRPr>
                </a:pPr>
              </a:p>
            </c:txPr>
            <c:showLegendKey val="0"/>
            <c:showVal val="1"/>
            <c:showCatName val="0"/>
            <c:showSerName val="0"/>
            <c:showPercent val="0"/>
            <c:showBubbleSize val="0"/>
            <c:showLeaderLines val="0"/>
          </c:dLbls>
          <c:cat>
            <c:multiLvlStrRef>
              <c:f>Sheet1!$A$2:$A$3</c:f>
              <c:multiLvlStrCache>
                <c:ptCount val="2"/>
                <c:lvl>
                  <c:pt idx="0">
                    <c:v>HDFS</c:v>
                  </c:pt>
                  <c:pt idx="1">
                    <c:v>BGL</c:v>
                  </c:pt>
                </c:lvl>
              </c:multiLvlStrCache>
            </c:multiLvlStrRef>
          </c:cat>
          <c:val>
            <c:numRef>
              <c:f>Sheet1!$B$2:$B$3</c:f>
              <c:numCache>
                <c:formatCode>General</c:formatCode>
                <c:ptCount val="2"/>
                <c:pt idx="0">
                  <c:v>0.998</c:v>
                </c:pt>
                <c:pt idx="1">
                  <c:v>0.963</c:v>
                </c:pt>
              </c:numCache>
            </c:numRef>
          </c:val>
        </c:ser>
        <c:ser>
          <c:idx val="1"/>
          <c:order val="1"/>
          <c:tx>
            <c:strRef>
              <c:f>Sheet1!$C$1</c:f>
              <c:strCache>
                <c:ptCount val="1"/>
                <c:pt idx="0">
                  <c:v>our regex preprocessing</c:v>
                </c:pt>
              </c:strCache>
            </c:strRef>
          </c:tx>
          <c:spPr>
            <a:solidFill>
              <a:srgbClr val="2A9D8F"/>
            </a:solidFill>
            <a:effectLst/>
          </c:spPr>
          <c:invertIfNegative val="0"/>
          <c:dLbls>
            <c:numFmt formatCode="0.000" sourceLinked="0"/>
            <c:txPr>
              <a:bodyPr/>
              <a:lstStyle/>
              <a:p>
                <a:pPr>
                  <a:defRPr b="0" i="0" strike="noStrike" sz="1000" u="none">
                    <a:solidFill>
                      <a:srgbClr val="1B2A35"/>
                    </a:solidFill>
                    <a:latin typeface="+mn-lt"/>
                  </a:defRPr>
                </a:pPr>
              </a:p>
            </c:txPr>
            <c:showLegendKey val="0"/>
            <c:showVal val="1"/>
            <c:showCatName val="0"/>
            <c:showSerName val="0"/>
            <c:showPercent val="0"/>
            <c:showBubbleSize val="0"/>
            <c:showLeaderLines val="0"/>
          </c:dLbls>
          <c:cat>
            <c:multiLvlStrRef>
              <c:f>Sheet1!$A$2:$A$3</c:f>
              <c:multiLvlStrCache>
                <c:ptCount val="2"/>
                <c:lvl>
                  <c:pt idx="0">
                    <c:v>HDFS</c:v>
                  </c:pt>
                  <c:pt idx="1">
                    <c:v>BGL</c:v>
                  </c:pt>
                </c:lvl>
              </c:multiLvlStrCache>
            </c:multiLvlStrRef>
          </c:cat>
          <c:val>
            <c:numRef>
              <c:f>Sheet1!$C$2:$C$3</c:f>
              <c:numCache>
                <c:formatCode>General</c:formatCode>
                <c:ptCount val="2"/>
                <c:pt idx="0">
                  <c:v>1</c:v>
                </c:pt>
                <c:pt idx="1">
                  <c:v>0.97</c:v>
                </c:pt>
              </c:numCache>
            </c:numRef>
          </c:val>
        </c:ser>
        <c:ser>
          <c:idx val="2"/>
          <c:order val="2"/>
          <c:tx>
            <c:strRef>
              <c:f>Sheet1!$D$1</c:f>
              <c:strCache>
                <c:ptCount val="1"/>
                <c:pt idx="0">
                  <c:v>our first (buggy) version</c:v>
                </c:pt>
              </c:strCache>
            </c:strRef>
          </c:tx>
          <c:spPr>
            <a:solidFill>
              <a:srgbClr val="C8323F"/>
            </a:solidFill>
            <a:effectLst/>
          </c:spPr>
          <c:invertIfNegative val="0"/>
          <c:dLbls>
            <c:numFmt formatCode="0.000" sourceLinked="0"/>
            <c:txPr>
              <a:bodyPr/>
              <a:lstStyle/>
              <a:p>
                <a:pPr>
                  <a:defRPr b="0" i="0" strike="noStrike" sz="1000" u="none">
                    <a:solidFill>
                      <a:srgbClr val="1B2A35"/>
                    </a:solidFill>
                    <a:latin typeface="+mn-lt"/>
                  </a:defRPr>
                </a:pPr>
              </a:p>
            </c:txPr>
            <c:showLegendKey val="0"/>
            <c:showVal val="1"/>
            <c:showCatName val="0"/>
            <c:showSerName val="0"/>
            <c:showPercent val="0"/>
            <c:showBubbleSize val="0"/>
            <c:showLeaderLines val="0"/>
          </c:dLbls>
          <c:cat>
            <c:multiLvlStrRef>
              <c:f>Sheet1!$A$2:$A$3</c:f>
              <c:multiLvlStrCache>
                <c:ptCount val="2"/>
                <c:lvl>
                  <c:pt idx="0">
                    <c:v>HDFS</c:v>
                  </c:pt>
                  <c:pt idx="1">
                    <c:v>BGL</c:v>
                  </c:pt>
                </c:lvl>
              </c:multiLvlStrCache>
            </c:multiLvlStrRef>
          </c:cat>
          <c:val>
            <c:numRef>
              <c:f>Sheet1!$D$2:$D$3</c:f>
              <c:numCache>
                <c:formatCode>General</c:formatCode>
                <c:ptCount val="2"/>
                <c:pt idx="0">
                  <c:v>1</c:v>
                </c:pt>
                <c:pt idx="1">
                  <c:v>0.918</c:v>
                </c:pt>
              </c:numCache>
            </c:numRef>
          </c:val>
        </c:ser>
        <c:dLbls>
          <c:numFmt formatCode="0.000" sourceLinked="0"/>
          <c:txPr>
            <a:bodyPr/>
            <a:lstStyle/>
            <a:p>
              <a:pPr>
                <a:defRPr b="0" i="0" strike="noStrike" sz="1000" u="none">
                  <a:solidFill>
                    <a:srgbClr val="1B2A35"/>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770"/>
                </a:solidFill>
                <a:latin typeface="+mn-lt"/>
              </a:defRPr>
            </a:pPr>
            <a:endParaRPr lang="en-US"/>
          </a:p>
        </c:txPr>
        <c:crossAx val="2094734552"/>
        <c:crosses val="autoZero"/>
        <c:auto val="1"/>
        <c:lblAlgn val="ctr"/>
        <c:noMultiLvlLbl val="1"/>
      </c:catAx>
      <c:valAx>
        <c:axId val="2094734552"/>
        <c:scaling>
          <c:orientation val="minMax"/>
          <c:max val="1.05"/>
          <c:min val="0.85"/>
        </c:scaling>
        <c:delete val="0"/>
        <c:axPos val="l"/>
        <c:majorGridlines>
          <c:spPr>
            <a:ln w="6350" cap="flat">
              <a:solidFill>
                <a:srgbClr val="DDE3E7"/>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770"/>
                </a:solidFill>
                <a:latin typeface="+mn-lt"/>
              </a:defRPr>
            </a:pPr>
            <a:endParaRPr lang="en-US"/>
          </a:p>
        </c:txPr>
        <c:crossAx val="2094734554"/>
        <c:crosses val="autoZero"/>
        <c:crossBetween val="between"/>
        <c:majorUnit val="0.05"/>
      </c:valAx>
      <c:spPr>
        <a:noFill/>
        <a:ln>
          <a:noFill/>
        </a:ln>
        <a:effectLst/>
      </c:spPr>
    </c:plotArea>
    <c:legend>
      <c:legendPos val="t"/>
      <c:overlay val="0"/>
      <c:txPr>
        <a:bodyPr/>
        <a:lstStyle/>
        <a:p>
          <a:pPr>
            <a:defRPr sz="10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B2A35"/>
                </a:solidFill>
                <a:latin typeface="+mn-lt"/>
              </a:defRPr>
            </a:pPr>
            <a:r>
              <a:rPr sz="1100" b="0" i="0" u="none" strike="noStrike">
                <a:solidFill>
                  <a:srgbClr val="1B2A35"/>
                </a:solidFill>
                <a:latin typeface="+mn-lt"/>
              </a:rPr>
              <a:t>F1 on the test sets</a:t>
            </a:r>
          </a:p>
        </c:rich>
      </c:tx>
      <c:layout/>
      <c:overlay val="0"/>
    </c:title>
    <c:autoTitleDeleted val="0"/>
    <c:plotArea>
      <c:layout/>
      <c:barChart>
        <c:barDir val="col"/>
        <c:grouping val="clustered"/>
        <c:varyColors val="0"/>
        <c:ser>
          <c:idx val="0"/>
          <c:order val="0"/>
          <c:tx>
            <c:strRef>
              <c:f>Sheet1!$B$1</c:f>
              <c:strCache>
                <c:ptCount val="1"/>
                <c:pt idx="0">
                  <c:v>ours (mean of 10 splits)</c:v>
                </c:pt>
              </c:strCache>
            </c:strRef>
          </c:tx>
          <c:spPr>
            <a:solidFill>
              <a:srgbClr val="3D5A80"/>
            </a:solidFill>
            <a:effectLst/>
          </c:spPr>
          <c:invertIfNegative val="0"/>
          <c:dLbls>
            <c:numFmt formatCode="0.000" sourceLinked="0"/>
            <c:txPr>
              <a:bodyPr/>
              <a:lstStyle/>
              <a:p>
                <a:pPr>
                  <a:defRPr b="0" i="0" strike="noStrike" sz="1000" u="none">
                    <a:solidFill>
                      <a:srgbClr val="1B2A35"/>
                    </a:solidFill>
                    <a:latin typeface="+mn-lt"/>
                  </a:defRPr>
                </a:pPr>
              </a:p>
            </c:txPr>
            <c:showLegendKey val="0"/>
            <c:showVal val="1"/>
            <c:showCatName val="0"/>
            <c:showSerName val="0"/>
            <c:showPercent val="0"/>
            <c:showBubbleSize val="0"/>
            <c:showLeaderLines val="0"/>
          </c:dLbls>
          <c:cat>
            <c:multiLvlStrRef>
              <c:f>Sheet1!$A$2:$A$5</c:f>
              <c:multiLvlStrCache>
                <c:ptCount val="4"/>
                <c:lvl>
                  <c:pt idx="0">
                    <c:v>RF HDFS</c:v>
                  </c:pt>
                  <c:pt idx="1">
                    <c:v>LSTM HDFS</c:v>
                  </c:pt>
                  <c:pt idx="2">
                    <c:v>RF BGL</c:v>
                  </c:pt>
                  <c:pt idx="3">
                    <c:v>LSTM BGL</c:v>
                  </c:pt>
                </c:lvl>
              </c:multiLvlStrCache>
            </c:multiLvlStrRef>
          </c:cat>
          <c:val>
            <c:numRef>
              <c:f>Sheet1!$B$2:$B$5</c:f>
              <c:numCache>
                <c:formatCode>General</c:formatCode>
                <c:ptCount val="4"/>
                <c:pt idx="0">
                  <c:v>0.998</c:v>
                </c:pt>
                <c:pt idx="1">
                  <c:v>0.968</c:v>
                </c:pt>
                <c:pt idx="2">
                  <c:v>0.921</c:v>
                </c:pt>
                <c:pt idx="3">
                  <c:v>0.851</c:v>
                </c:pt>
              </c:numCache>
            </c:numRef>
          </c:val>
        </c:ser>
        <c:ser>
          <c:idx val="1"/>
          <c:order val="1"/>
          <c:tx>
            <c:strRef>
              <c:f>Sheet1!$C$1</c:f>
              <c:strCache>
                <c:ptCount val="1"/>
                <c:pt idx="0">
                  <c:v>paper</c:v>
                </c:pt>
              </c:strCache>
            </c:strRef>
          </c:tx>
          <c:spPr>
            <a:solidFill>
              <a:srgbClr val="B9C4CC"/>
            </a:solidFill>
            <a:effectLst/>
          </c:spPr>
          <c:invertIfNegative val="0"/>
          <c:dLbls>
            <c:numFmt formatCode="0.000" sourceLinked="0"/>
            <c:txPr>
              <a:bodyPr/>
              <a:lstStyle/>
              <a:p>
                <a:pPr>
                  <a:defRPr b="0" i="0" strike="noStrike" sz="1000" u="none">
                    <a:solidFill>
                      <a:srgbClr val="1B2A35"/>
                    </a:solidFill>
                    <a:latin typeface="+mn-lt"/>
                  </a:defRPr>
                </a:pPr>
              </a:p>
            </c:txPr>
            <c:showLegendKey val="0"/>
            <c:showVal val="1"/>
            <c:showCatName val="0"/>
            <c:showSerName val="0"/>
            <c:showPercent val="0"/>
            <c:showBubbleSize val="0"/>
            <c:showLeaderLines val="0"/>
          </c:dLbls>
          <c:cat>
            <c:multiLvlStrRef>
              <c:f>Sheet1!$A$2:$A$5</c:f>
              <c:multiLvlStrCache>
                <c:ptCount val="4"/>
                <c:lvl>
                  <c:pt idx="0">
                    <c:v>RF HDFS</c:v>
                  </c:pt>
                  <c:pt idx="1">
                    <c:v>LSTM HDFS</c:v>
                  </c:pt>
                  <c:pt idx="2">
                    <c:v>RF BGL</c:v>
                  </c:pt>
                  <c:pt idx="3">
                    <c:v>LSTM BGL</c:v>
                  </c:pt>
                </c:lvl>
              </c:multiLvlStrCache>
            </c:multiLvlStrRef>
          </c:cat>
          <c:val>
            <c:numRef>
              <c:f>Sheet1!$C$2:$C$5</c:f>
              <c:numCache>
                <c:formatCode>General</c:formatCode>
                <c:ptCount val="4"/>
                <c:pt idx="0">
                  <c:v>0.999</c:v>
                </c:pt>
                <c:pt idx="1">
                  <c:v>0.955</c:v>
                </c:pt>
                <c:pt idx="2">
                  <c:v>0.891</c:v>
                </c:pt>
                <c:pt idx="3">
                  <c:v>0.871</c:v>
                </c:pt>
              </c:numCache>
            </c:numRef>
          </c:val>
        </c:ser>
        <c:dLbls>
          <c:numFmt formatCode="0.000" sourceLinked="0"/>
          <c:txPr>
            <a:bodyPr/>
            <a:lstStyle/>
            <a:p>
              <a:pPr>
                <a:defRPr b="0" i="0" strike="noStrike" sz="1000" u="none">
                  <a:solidFill>
                    <a:srgbClr val="1B2A35"/>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770"/>
                </a:solidFill>
                <a:latin typeface="+mn-lt"/>
              </a:defRPr>
            </a:pPr>
            <a:endParaRPr lang="en-US"/>
          </a:p>
        </c:txPr>
        <c:crossAx val="2094734552"/>
        <c:crosses val="autoZero"/>
        <c:auto val="1"/>
        <c:lblAlgn val="ctr"/>
        <c:noMultiLvlLbl val="1"/>
      </c:catAx>
      <c:valAx>
        <c:axId val="2094734552"/>
        <c:scaling>
          <c:orientation val="minMax"/>
          <c:max val="1.05"/>
          <c:min val="0.7"/>
        </c:scaling>
        <c:delete val="0"/>
        <c:axPos val="l"/>
        <c:majorGridlines>
          <c:spPr>
            <a:ln w="6350" cap="flat">
              <a:solidFill>
                <a:srgbClr val="DDE3E7"/>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770"/>
                </a:solidFill>
                <a:latin typeface="+mn-lt"/>
              </a:defRPr>
            </a:pPr>
            <a:endParaRPr lang="en-US"/>
          </a:p>
        </c:txPr>
        <c:crossAx val="2094734554"/>
        <c:crosses val="autoZero"/>
        <c:crossBetween val="between"/>
        <c:majorUnit val="0.1"/>
      </c:valAx>
      <c:spPr>
        <a:noFill/>
        <a:ln>
          <a:noFill/>
        </a:ln>
        <a:effectLst/>
      </c:spPr>
    </c:plotArea>
    <c:legend>
      <c:legendPos val="t"/>
      <c:overlay val="0"/>
      <c:txPr>
        <a:bodyPr/>
        <a:lstStyle/>
        <a:p>
          <a:pPr>
            <a:defRPr sz="1000">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B2A35"/>
                </a:solidFill>
                <a:latin typeface="+mn-lt"/>
              </a:defRPr>
            </a:pPr>
            <a:r>
              <a:rPr sz="1100" b="0" i="0" u="none" strike="noStrike">
                <a:solidFill>
                  <a:srgbClr val="1B2A35"/>
                </a:solidFill>
                <a:latin typeface="+mn-lt"/>
              </a:rPr>
              <a:t>HDFS, mean of 10 splits</a:t>
            </a:r>
          </a:p>
        </c:rich>
      </c:tx>
      <c:layout/>
      <c:overlay val="0"/>
    </c:title>
    <c:autoTitleDeleted val="0"/>
    <c:plotArea>
      <c:layout/>
      <c:barChart>
        <c:barDir val="col"/>
        <c:grouping val="clustered"/>
        <c:varyColors val="0"/>
        <c:ser>
          <c:idx val="0"/>
          <c:order val="0"/>
          <c:tx>
            <c:strRef>
              <c:f>Sheet1!$B$1</c:f>
              <c:strCache>
                <c:ptCount val="1"/>
                <c:pt idx="0">
                  <c:v>F1</c:v>
                </c:pt>
              </c:strCache>
            </c:strRef>
          </c:tx>
          <c:spPr>
            <a:solidFill>
              <a:srgbClr val="B9A6D6"/>
            </a:solidFill>
            <a:effectLst/>
          </c:spPr>
          <c:invertIfNegative val="0"/>
          <c:dLbls>
            <c:numFmt formatCode="0.000" sourceLinked="0"/>
            <c:txPr>
              <a:bodyPr/>
              <a:lstStyle/>
              <a:p>
                <a:pPr>
                  <a:defRPr b="0" i="0" strike="noStrike" sz="1000" u="none">
                    <a:solidFill>
                      <a:srgbClr val="1B2A35"/>
                    </a:solidFill>
                    <a:latin typeface="+mn-lt"/>
                  </a:defRPr>
                </a:pPr>
              </a:p>
            </c:txPr>
            <c:showLegendKey val="0"/>
            <c:showVal val="1"/>
            <c:showCatName val="0"/>
            <c:showSerName val="0"/>
            <c:showPercent val="0"/>
            <c:showBubbleSize val="0"/>
            <c:showLeaderLines val="0"/>
          </c:dLbls>
          <c:cat>
            <c:multiLvlStrRef>
              <c:f>Sheet1!$A$2:$A$4</c:f>
              <c:multiLvlStrCache>
                <c:ptCount val="3"/>
                <c:lvl>
                  <c:pt idx="0">
                    <c:v>DeepLog</c:v>
                  </c:pt>
                  <c:pt idx="1">
                    <c:v>DeepLog + EOS</c:v>
                  </c:pt>
                  <c:pt idx="2">
                    <c:v>Isolation Forest</c:v>
                  </c:pt>
                </c:lvl>
              </c:multiLvlStrCache>
            </c:multiLvlStrRef>
          </c:cat>
          <c:val>
            <c:numRef>
              <c:f>Sheet1!$B$2:$B$4</c:f>
              <c:numCache>
                <c:formatCode>General</c:formatCode>
                <c:ptCount val="3"/>
                <c:pt idx="0">
                  <c:v>0.573</c:v>
                </c:pt>
                <c:pt idx="1">
                  <c:v>0.64</c:v>
                </c:pt>
                <c:pt idx="2">
                  <c:v>0.654</c:v>
                </c:pt>
              </c:numCache>
            </c:numRef>
          </c:val>
        </c:ser>
        <c:ser>
          <c:idx val="1"/>
          <c:order val="1"/>
          <c:tx>
            <c:strRef>
              <c:f>Sheet1!$C$1</c:f>
              <c:strCache>
                <c:ptCount val="1"/>
                <c:pt idx="0">
                  <c:v>AUC</c:v>
                </c:pt>
              </c:strCache>
            </c:strRef>
          </c:tx>
          <c:spPr>
            <a:solidFill>
              <a:srgbClr val="7B5EA7"/>
            </a:solidFill>
            <a:effectLst/>
          </c:spPr>
          <c:invertIfNegative val="0"/>
          <c:dLbls>
            <c:numFmt formatCode="0.000" sourceLinked="0"/>
            <c:txPr>
              <a:bodyPr/>
              <a:lstStyle/>
              <a:p>
                <a:pPr>
                  <a:defRPr b="0" i="0" strike="noStrike" sz="1000" u="none">
                    <a:solidFill>
                      <a:srgbClr val="1B2A35"/>
                    </a:solidFill>
                    <a:latin typeface="+mn-lt"/>
                  </a:defRPr>
                </a:pPr>
              </a:p>
            </c:txPr>
            <c:showLegendKey val="0"/>
            <c:showVal val="1"/>
            <c:showCatName val="0"/>
            <c:showSerName val="0"/>
            <c:showPercent val="0"/>
            <c:showBubbleSize val="0"/>
            <c:showLeaderLines val="0"/>
          </c:dLbls>
          <c:cat>
            <c:multiLvlStrRef>
              <c:f>Sheet1!$A$2:$A$4</c:f>
              <c:multiLvlStrCache>
                <c:ptCount val="3"/>
                <c:lvl>
                  <c:pt idx="0">
                    <c:v>DeepLog</c:v>
                  </c:pt>
                  <c:pt idx="1">
                    <c:v>DeepLog + EOS</c:v>
                  </c:pt>
                  <c:pt idx="2">
                    <c:v>Isolation Forest</c:v>
                  </c:pt>
                </c:lvl>
              </c:multiLvlStrCache>
            </c:multiLvlStrRef>
          </c:cat>
          <c:val>
            <c:numRef>
              <c:f>Sheet1!$C$2:$C$4</c:f>
              <c:numCache>
                <c:formatCode>General</c:formatCode>
                <c:ptCount val="3"/>
                <c:pt idx="0">
                  <c:v>0.839</c:v>
                </c:pt>
                <c:pt idx="1">
                  <c:v>0.961</c:v>
                </c:pt>
                <c:pt idx="2">
                  <c:v>0.958</c:v>
                </c:pt>
              </c:numCache>
            </c:numRef>
          </c:val>
        </c:ser>
        <c:dLbls>
          <c:numFmt formatCode="0.000" sourceLinked="0"/>
          <c:txPr>
            <a:bodyPr/>
            <a:lstStyle/>
            <a:p>
              <a:pPr>
                <a:defRPr b="0" i="0" strike="noStrike" sz="1000" u="none">
                  <a:solidFill>
                    <a:srgbClr val="1B2A35"/>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770"/>
                </a:solidFill>
                <a:latin typeface="+mn-lt"/>
              </a:defRPr>
            </a:pPr>
            <a:endParaRPr lang="en-US"/>
          </a:p>
        </c:txPr>
        <c:crossAx val="2094734552"/>
        <c:crosses val="autoZero"/>
        <c:auto val="1"/>
        <c:lblAlgn val="ctr"/>
        <c:noMultiLvlLbl val="1"/>
      </c:catAx>
      <c:valAx>
        <c:axId val="2094734552"/>
        <c:scaling>
          <c:orientation val="minMax"/>
          <c:max val="1.2"/>
          <c:min val="0"/>
        </c:scaling>
        <c:delete val="0"/>
        <c:axPos val="l"/>
        <c:majorGridlines>
          <c:spPr>
            <a:ln w="6350" cap="flat">
              <a:solidFill>
                <a:srgbClr val="DDE3E7"/>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770"/>
                </a:solidFill>
                <a:latin typeface="+mn-lt"/>
              </a:defRPr>
            </a:pPr>
            <a:endParaRPr lang="en-US"/>
          </a:p>
        </c:txPr>
        <c:crossAx val="2094734554"/>
        <c:crosses val="autoZero"/>
        <c:crossBetween val="between"/>
        <c:majorUnit val="0.2"/>
      </c:valAx>
      <c:spPr>
        <a:noFill/>
        <a:ln>
          <a:noFill/>
        </a:ln>
        <a:effectLst/>
      </c:spPr>
    </c:plotArea>
    <c:legend>
      <c:legendPos val="t"/>
      <c:overlay val="0"/>
      <c:txPr>
        <a:bodyPr/>
        <a:lstStyle/>
        <a:p>
          <a:pPr>
            <a:defRPr sz="1000">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B2A35"/>
                </a:solidFill>
                <a:latin typeface="+mn-lt"/>
              </a:defRPr>
            </a:pPr>
            <a:r>
              <a:rPr sz="1100" b="0" i="0" u="none" strike="noStrike">
                <a:solidFill>
                  <a:srgbClr val="1B2A35"/>
                </a:solidFill>
                <a:latin typeface="+mn-lt"/>
              </a:rPr>
              <a:t>Mean |SHAP|, RF on HDFS (seed 0, 2,000 test blocks)</a:t>
            </a:r>
          </a:p>
        </c:rich>
      </c:tx>
      <c:layout/>
      <c:overlay val="0"/>
    </c:title>
    <c:autoTitleDeleted val="0"/>
    <c:plotArea>
      <c:layout/>
      <c:barChart>
        <c:barDir val="bar"/>
        <c:grouping val="clustered"/>
        <c:varyColors val="0"/>
        <c:ser>
          <c:idx val="0"/>
          <c:order val="0"/>
          <c:tx>
            <c:strRef>
              <c:f>Sheet1!$B$1</c:f>
              <c:strCache>
                <c:ptCount val="1"/>
                <c:pt idx="0">
                  <c:v>mean |SHAP|</c:v>
                </c:pt>
              </c:strCache>
            </c:strRef>
          </c:tx>
          <c:spPr>
            <a:solidFill>
              <a:srgbClr val="B5179E"/>
            </a:solidFill>
            <a:effectLst/>
          </c:spPr>
          <c:invertIfNegative val="0"/>
          <c:dLbls>
            <c:numFmt formatCode="0.000" sourceLinked="0"/>
            <c:txPr>
              <a:bodyPr/>
              <a:lstStyle/>
              <a:p>
                <a:pPr>
                  <a:defRPr b="0" i="0" strike="noStrike" sz="1000" u="none">
                    <a:solidFill>
                      <a:srgbClr val="1B2A35"/>
                    </a:solidFill>
                    <a:latin typeface="+mn-lt"/>
                  </a:defRPr>
                </a:pPr>
              </a:p>
            </c:txPr>
            <c:showLegendKey val="0"/>
            <c:showVal val="1"/>
            <c:showCatName val="0"/>
            <c:showSerName val="0"/>
            <c:showPercent val="0"/>
            <c:showBubbleSize val="0"/>
            <c:showLeaderLines val="0"/>
          </c:dLbls>
          <c:cat>
            <c:multiLvlStrRef>
              <c:f>Sheet1!$A$2:$A$7</c:f>
              <c:multiLvlStrCache>
                <c:ptCount val="6"/>
                <c:lvl>
                  <c:pt idx="0">
                    <c:v>Redundant addStoredBlock</c:v>
                  </c:pt>
                  <c:pt idx="1">
                    <c:v>NameSystem.delete → invalidSet</c:v>
                  </c:pt>
                  <c:pt idx="2">
                    <c:v>addStoredBlock: not in any file</c:v>
                  </c:pt>
                  <c:pt idx="3">
                    <c:v>Starting thread to transfer block</c:v>
                  </c:pt>
                  <c:pt idx="4">
                    <c:v>Unexpected error deleting block</c:v>
                  </c:pt>
                  <c:pt idx="5">
                    <c:v>P: PacketResponder … terminating</c:v>
                  </c:pt>
                </c:lvl>
              </c:multiLvlStrCache>
            </c:multiLvlStrRef>
          </c:cat>
          <c:val>
            <c:numRef>
              <c:f>Sheet1!$B$2:$B$7</c:f>
              <c:numCache>
                <c:formatCode>General</c:formatCode>
                <c:ptCount val="6"/>
                <c:pt idx="0">
                  <c:v>0.0285</c:v>
                </c:pt>
                <c:pt idx="1">
                  <c:v>0.0288</c:v>
                </c:pt>
                <c:pt idx="2">
                  <c:v>0.0369</c:v>
                </c:pt>
                <c:pt idx="3">
                  <c:v>0.0798</c:v>
                </c:pt>
                <c:pt idx="4">
                  <c:v>0.1441</c:v>
                </c:pt>
                <c:pt idx="5">
                  <c:v>0.1446</c:v>
                </c:pt>
              </c:numCache>
            </c:numRef>
          </c:val>
        </c:ser>
        <c:dLbls>
          <c:numFmt formatCode="0.000" sourceLinked="0"/>
          <c:txPr>
            <a:bodyPr/>
            <a:lstStyle/>
            <a:p>
              <a:pPr>
                <a:defRPr b="0" i="0" strike="noStrike" sz="1000" u="none">
                  <a:solidFill>
                    <a:srgbClr val="1B2A35"/>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B6770"/>
                </a:solidFill>
                <a:latin typeface="+mn-lt"/>
              </a:defRPr>
            </a:pPr>
            <a:endParaRPr lang="en-US"/>
          </a:p>
        </c:txPr>
        <c:crossAx val="2094734552"/>
        <c:crosses val="autoZero"/>
        <c:auto val="1"/>
        <c:lblAlgn val="ctr"/>
        <c:noMultiLvlLbl val="1"/>
      </c:catAx>
      <c:valAx>
        <c:axId val="2094734552"/>
        <c:scaling>
          <c:orientation val="minMax"/>
          <c:max val="0.18"/>
          <c:min val="0"/>
        </c:scaling>
        <c:delete val="0"/>
        <c:axPos val="b"/>
        <c:majorGridlines>
          <c:spPr>
            <a:ln w="6350" cap="flat">
              <a:solidFill>
                <a:srgbClr val="DDE3E7"/>
              </a:solidFill>
              <a:prstDash val="solid"/>
              <a:round/>
            </a:ln>
          </c:spPr>
        </c:majorGridlines>
        <c:numFmt formatCode="0.00" sourceLinked="0"/>
        <c:majorTickMark val="out"/>
        <c:minorTickMark val="none"/>
        <c:tickLblPos val="low"/>
        <c:spPr>
          <a:ln w="12700" cap="flat">
            <a:solidFill>
              <a:srgbClr val="888888"/>
            </a:solidFill>
            <a:prstDash val="solid"/>
            <a:round/>
          </a:ln>
        </c:spPr>
        <c:txPr>
          <a:bodyPr/>
          <a:lstStyle/>
          <a:p>
            <a:pPr>
              <a:defRPr sz="900" b="0" i="0" u="none" strike="noStrike">
                <a:solidFill>
                  <a:srgbClr val="5B6770"/>
                </a:solidFill>
                <a:latin typeface="+mn-lt"/>
              </a:defRPr>
            </a:pPr>
            <a:endParaRPr lang="en-US"/>
          </a:p>
        </c:txPr>
        <c:crossAx val="2094734554"/>
        <c:crosses val="autoZero"/>
        <c:crossBetween val="between"/>
        <c:majorUnit val="0.0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Our talk is about a block that never finished. [pause]
We replicated part of a 2023 EMSE paper by Wu, Li and Khomh. The paper asks a simple question: when we turn log lines into numbers, which way of doing it helps a model detect anomalies best?
We redid their first research question on two datasets, then we went further on HDFS: models that need no labels, a statistical ranking, and an explanation of the best model.
We will use one small invented system the whole way through, plus real log lines. Let's start with a puzzle.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two real blocks from the HDFS dataset. A block is a chunk of a file that Hadoop copies to three machines.
Block A has thirteen lines. Block B has two. [pause]
Which one is broken? Take five seconds. [pause]
(click: answer) It's B. It was allocated, it started receiving, and then nothing. In the whole dataset, every single normal block, 558 thousand of them, ends with exactly three "PacketResponder terminating" lines, one per copy. B has zero. And B is not alone: 2,950 anomalous blocks look exactly like this.
So the question of our project is: can a model learn this kind of rule on its own, from 11 million lines? With labels, and without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keep things concrete, we invented a tiny system: MiniHDFS. It's not real, but it behaves like HDFS.
A block is copied to three machines, and each step writes one log line. To save space we write each line as one letter: R when a copy starts, A when the name server books the block, P when a copy's responder terminates, D when a copy is done, S when it is registered, and E for an exception.
A healthy block looks like this: three R, one A, three P, three D, three S. (click: strip) The detector takes the lines of one block and outputs a label and a score.
The big idea: one data point is one block, not one line. Keep that in mind for the whole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words and we are ready. Think of a log as parcel tracking.
A template is the stamp type: the fixed text of a line with the variable parts blanked out. A session is one parcel's whole history, for us one block.
Then we need numbers. The Message Count Vector, MCV, just counts how many stamps of each type a block has: three R, one A, three P, and so on. TF-IDF Text instead looks at the words written on each stamp.
Finally, models. Supervised models learn from blocks that someone labelled as broken. Label-free models never see that tag: Isolation Forest and DeepLog.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self-check. Two questions. [pause]
First: which template does this real line become? The block id, the size and the IP address are variables, so they become blanks. (click: answer) "Received block &lt;*&gt; of size &lt;*&gt; from &lt;*&gt;".
Second: MiniHDFS block number 4 is R, R, A. What is its count vector, and is it normal? [pause]
(click: answer) Two R, one A, zeros everywhere else. And it is broken, for the same reason as block B: no P at all.
If you got both, you already understand how our data looks.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MiniHDFS's diary: three blocks. Each block becomes exactly one row of the dataset.
Block 1 is healthy: thirteen events and the counts three, one, three, three, three.
Block 2 stops after A: that's our real block B. Block 3 hits an exception and never finishes.
The model gets the left part, either the sequence of events or the counts, and has to predict the label on the right. Notice that for blocks 2 and 3, the counts alone already scream "broken": the P, D and S columns are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scale up. MiniHDFS gave us three blocks. Real HDFS has 11 million lines, which collapse into 46 templates and 575 thousand blocks. Only 2.9 percent of blocks are anomalous, so it is a needle-in-a-haystack problem.
The second dataset, BGL, comes from a supercomputer. It has no block id, so like the paper we cut it into six-hour windows: only 826 sessions. And here almost half of the windows are anomalous, because a six-hour window almost always contains some alert.
Keep these two shapes in mind: HDFS has lots of sessions and few anomalies; BGL has few sessions and many anomalies.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talk follows four questions, each with its own color and icon, which you'll see in the top-right corner of every slide.
Teal: can we turn raw lines into letters and counts faithfully? Steel blue: if someone labelled the broken blocks, which detector learns best? That's the replication of the paper.
Violet: can we catch block 2 without any labels? That's our extension.
And magenta: can we trust these numbers, and why does the best model flag block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one: parsing. On MiniHDFS it's easy: "PacketResponder 1 for block blk_42 terminating" becomes the letter P. On real data we use Drain, plus regular expressions that blank out block ids, IP addresses and numbers before Drain sees them.
Your turn: what does "Received block blk_42 of size 67108864" become? [pause] D.
(click: chart) We checked against hand-labelled ground truth. Guess first: how many lines end in the right template? [pause] HDFS: all of them, 1.000. BGL: 0.970.
One lesson: our first version scored only 0.918 on BGL, worse than no preprocessing. We had added a space between a wildcard and a colon, which changes the number of tokens, and Drain groups lines by token count. We found it by removing one regex at a time.
And a good sign: HDFS gives 46 templates, exactly the 46 dimensions the paper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two: sessions. BGL has no block id, so we cut by time. In this toy, two lines between 1 and 5 am form window one; it contains a FATAL alert, so the whole window is anomalous.
(click: table) Does our data match the paper? HDFS: exactly, down to the train-test split. BGL: no. We get 826 windows, the paper reports 718.
We did some detective work. The paper says 6,565 lines per session on average. If you remove the 34 thousand lines that have an empty message, and divide by 718, you get 6,564.8. So they most likely dropped those lines, the same bug we had in our first parse. The window boundaries still differ and the paper doesn't describe them, so we keep ours and report it.
Also notice: half the BGL windows are anomalous, so even "always say anomaly" gets an F1 of 0.66. Keep that in mind when you read BGL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replication. If someone labelled the broken blocks, which detector learns best?
On the toy: the Random Forest gets block 3's counts and says anomaly. The LSTM reads the same block as a sequence of word vectors, R, R, A, E, and also says anomaly.
Guess first: does the deep model beat the forest? [pause]
(click: chart) No. On HDFS the forest gets 0.998 F1, the LSTM 0.968. On BGL, 0.921 versus 0.851. All four numbers are within about 0.03 of the paper, and the ordering is the same as theirs.
One caveat: BGL has only 166 test windows, so results move by 3 to 5 points between splits. That's why every number here is an average over ten splits.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assignment asked us to remove correlated and redundant features, and compare with and without.
On the toy: the counts of P, D and S always move together, three-three-three or zero-zero-zero. So the filter keeps just one of them, and the forest loses nothing.
(click: table) That's what we see: the forest drops up to two thirds of its features, and F1 barely moves.
The LSTM is a different story: minus 0.045 F1 on HDFS, significant even after correcting for multiple tests. Why? The LSTM's features are words, and those words come from only 45 templates, so most of them are perfectly redundant. The filter throws them away without asking whether they help tell templates apart. After filtering, 17 templates have a vector of all zeros, exactly the padding vector. On the toy: the LSTM can no longer tell P from nothing.
Our take-away: this filter is great for count tables, not for embeddings.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hard part: no labels. Can we still catch block 2?
Isolation Forest looks at the counts. One-one-zero-zero is a rare pattern, so it gets isolated quickly: anomaly.
DeepLog learns from normal blocks only, and predicts the next event. After R, is A a likely next event? Yes. And then... the block ends. There is nothing left to predict, so nothing looks wrong. DeepLog says normal. [pause]
The fix is tiny: add an end-of-session token, EOS. Now, after A, the model expects another R or a P, and sees EOS instead: anomaly.
(click: chart) This matters a lot on real data: 2,950 broken blocks are exactly "R, A, silence". With EOS, AUC goes from 0.84 to 0.96.
Honesty corner: we're still below the 0.9 F1 reported in the literature; we trained on a sample on a CPU. And we added EOS after looking at the first split, so we report the original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rank all four models. Guess first: how much F1 do we lose without labels? 5 points? 15? 35? [pause]
(click: answer) About 34 points: 0.998 for the forest, 0.654 for the best label-free model.
(click: figure) We used the Scott-Knott ESD test, the same family of test the paper uses, over ten resampled splits. Supervised models are ranks one and two on both F1 and AUC.
The two label-free models are close and swap places depending on the metric: Isolation Forest wins on F1, DeepLog with EOS wins on AUC. So we say: no clear winner. Isolation Forest is much more stable across splits, though.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celebrating 0.998, let's be skeptical. HDFS has only 18 thousand distinct event sequences for 575 thousand blocks. And 97.8 percent of the test blocks repeat a sequence that's already in the training set. It's like an exam that reuses the homework questions. [pause]
So we re-scored the forest only on test blocks with a brand-new sequence: still 0.989. Counts generalise: a new order of the same events has the same counts. Duplicates inflate the score a little, but they don't explain the big gap.
Second check: Isolation Forest needs a threshold. We used the library default of 3 percent, which happens to be close to the real anomaly rate. With a truly label-free threshold, its F1 drops to 0.41. AUC doesn't depend on the threshold and stays at 0.96. So: trust AUC more for label-free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question: why does the forest flag block 2? We used SHAP, which tells us how much each feature pushed the score up or down.
Here is one real test block that looks like our block 2: the model starts at the base rate, 3 percent. The P count is zero: plus 0.9. A small push from the delete lines, and we end at 1.0, anomaly.
(click: chart) Across 2,000 test blocks, two signals are tied at the top: the P count, and the error line "Unexpected error trying to delete block". Then re-replication: "Starting thread to transfer block".
And this matches the data: every one of the 558 thousand normal blocks has exactly three P lines, and more than a third of the anomalous blocks have zero. The forest rediscovered HDFS's three-copy write protocol from counts alone.
We explained the filtered model so that correlated features like P, D and S don't split the credit.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recap with MiniHDFS. Turning lines into letters and counts works: near-perfect parsing, and HDFS matches the paper exactly.
With labels, the forest on counts beats the LSTM, and the correlation filter is fine for the forest but hurts the LSTM.
Without labels, block 2 needs an EOS (end-of-session) token, and the two label-free models end up close, around 0.65 F1.
And the reason it all works: no P lines means a broken block, which is exactly what SHAP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confident should you be in all this? Five caveats, each tagged with the part it affects.
Parsing ran on all the data before splitting, as in the paper, and our BGL windows don't match theirs.
The biggest one, which the original paper does not discuss: HDFS is split randomly, and almost every test block repeats a training sequence. That makes HDFS look easier than a real deployment would be.
We fixed some LSTM settings ourselves. Isolation Forest's threshold borrows from the true anomaly rate, and DeepLog was trained on a sample. Finally, every seed changes both the split and the model, and the extension uses HDFS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remember one sentence: on HDFS, the loudest anomaly is a line that never shows up.
Count before you read. A simple forest on template counts beats the sequence models, and it does so by noticing the lines that are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finish, a question for you. MiniHDFS always writes three copies. What if each file could choose between one and five copies? Would counting still win? [pause]
Hint one: "exactly three P lines" would no longer be a fixed rule. Hint two: DeepLog doesn't care how many copies there are; it only looks at what comes next. Hint three: maybe we could divide each count by the number of copies.
We'd love to hear what you think. Thank you, and we're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11480" y="256032"/>
            <a:ext cx="6903720" cy="502920"/>
          </a:xfrm>
          <a:prstGeom prst="rect">
            <a:avLst/>
          </a:prstGeom>
          <a:noFill/>
          <a:ln/>
        </p:spPr>
        <p:txBody>
          <a:bodyPr wrap="square" rtlCol="0"/>
          <a:lstStyle>
            <a:lvl1pPr algn="l" indent="0" marL="0">
              <a:buNone/>
              <a:defRPr lang="en-US" sz="2400" dirty="0">
                <a:solidFill>
                  <a:schemeClr val="tx1"/>
                </a:solidFill>
                <a:latin typeface="Bookman Old Style" pitchFamily="34" charset="0"/>
                <a:ea typeface="Bookman Old Style" pitchFamily="34" charset="-122"/>
                <a:cs typeface="Bookman Old Style" pitchFamily="34" charset="-120"/>
              </a:defRPr>
            </a:lvl1pPr>
          </a:lstStyle>
          <a:p>
            <a:pPr algn="l" indent="0" marL="0">
              <a:buNone/>
            </a:pPr>
            <a:endParaRPr lang="en-US" sz="2400" dirty="0"/>
          </a:p>
        </p:txBody>
      </p:sp>
      <p:sp>
        <p:nvSpPr>
          <p:cNvPr id="25" name="Slide Number Placeholder 0"/>
          <p:cNvSpPr>
            <a:spLocks noGrp="1"/>
          </p:cNvSpPr>
          <p:nvPr>
            <p:ph type="sldNum" sz="quarter" idx="4294967295"/>
          </p:nvPr>
        </p:nvSpPr>
        <p:spPr>
          <a:xfrm>
            <a:off x="8412480" y="4800600"/>
            <a:ext cx="41148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41148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41148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3.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6" Type="http://schemas.openxmlformats.org/officeDocument/2006/relationships/chart" Target="/ppt/charts/chart1.xml"/><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7" Type="http://schemas.openxmlformats.org/officeDocument/2006/relationships/slideLayout" Target="../slideLayouts/slideLayout2.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6" Type="http://schemas.openxmlformats.org/officeDocument/2006/relationships/chart" Target="/ppt/charts/chart2.xml"/><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7" Type="http://schemas.openxmlformats.org/officeDocument/2006/relationships/slideLayout" Target="../slideLayouts/slideLayout2.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2.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6" Type="http://schemas.openxmlformats.org/officeDocument/2006/relationships/chart" Target="/ppt/charts/chart3.xml"/><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7" Type="http://schemas.openxmlformats.org/officeDocument/2006/relationships/slideLayout" Target="../slideLayouts/slideLayout2.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2.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2.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6" Type="http://schemas.openxmlformats.org/officeDocument/2006/relationships/chart" Target="/ppt/charts/chart4.xml"/><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7" Type="http://schemas.openxmlformats.org/officeDocument/2006/relationships/slideLayout" Target="../slideLayouts/slideLayout2.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2.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2.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eck-title-1"/>
          <p:cNvSpPr txBox="1"/>
          <p:nvPr/>
        </p:nvSpPr>
        <p:spPr>
          <a:xfrm>
            <a:off x="548640" y="1143000"/>
            <a:ext cx="8046720" cy="822960"/>
          </a:xfrm>
          <a:prstGeom prst="rect">
            <a:avLst/>
          </a:prstGeom>
          <a:noFill/>
          <a:ln/>
        </p:spPr>
        <p:txBody>
          <a:bodyPr wrap="square" lIns="635" tIns="635" rIns="635" bIns="635" rtlCol="0" anchor="t"/>
          <a:lstStyle/>
          <a:p>
            <a:pPr indent="0" marL="0">
              <a:buNone/>
            </a:pPr>
            <a:r>
              <a:rPr lang="en-US" sz="3800" b="1" dirty="0">
                <a:solidFill>
                  <a:schemeClr val="bg1"/>
                </a:solidFill>
                <a:latin typeface="Bookman Old Style" pitchFamily="34" charset="0"/>
                <a:ea typeface="Bookman Old Style" pitchFamily="34" charset="-122"/>
                <a:cs typeface="Bookman Old Style" pitchFamily="34" charset="-120"/>
              </a:rPr>
              <a:t>The Block That Never Finished</a:t>
            </a:r>
            <a:endParaRPr lang="en-US" sz="3800" dirty="0"/>
          </a:p>
        </p:txBody>
      </p:sp>
      <p:sp>
        <p:nvSpPr>
          <p:cNvPr id="3" name="text-2"/>
          <p:cNvSpPr txBox="1"/>
          <p:nvPr/>
        </p:nvSpPr>
        <p:spPr>
          <a:xfrm>
            <a:off x="548640" y="1965960"/>
            <a:ext cx="8046720" cy="411480"/>
          </a:xfrm>
          <a:prstGeom prst="rect">
            <a:avLst/>
          </a:prstGeom>
          <a:noFill/>
          <a:ln/>
        </p:spPr>
        <p:txBody>
          <a:bodyPr wrap="square" lIns="635" tIns="635" rIns="635" bIns="635" rtlCol="0" anchor="t"/>
          <a:lstStyle/>
          <a:p>
            <a:pPr indent="0" marL="0">
              <a:buNone/>
            </a:pPr>
            <a:r>
              <a:rPr lang="en-US" sz="1800" dirty="0">
                <a:solidFill>
                  <a:schemeClr val="bg2"/>
                </a:solidFill>
              </a:rPr>
              <a:t>Replicating and extending a study of log representations for anomaly detection</a:t>
            </a:r>
            <a:endParaRPr lang="en-US" sz="1800" dirty="0"/>
          </a:p>
        </p:txBody>
      </p:sp>
      <p:sp>
        <p:nvSpPr>
          <p:cNvPr id="4" name="text-3"/>
          <p:cNvSpPr txBox="1"/>
          <p:nvPr/>
        </p:nvSpPr>
        <p:spPr>
          <a:xfrm>
            <a:off x="548640" y="2514600"/>
            <a:ext cx="8046720" cy="274320"/>
          </a:xfrm>
          <a:prstGeom prst="rect">
            <a:avLst/>
          </a:prstGeom>
          <a:noFill/>
          <a:ln/>
        </p:spPr>
        <p:txBody>
          <a:bodyPr wrap="square" lIns="635" tIns="635" rIns="635" bIns="635" rtlCol="0" anchor="t"/>
          <a:lstStyle/>
          <a:p>
            <a:pPr indent="0" marL="0">
              <a:buNone/>
            </a:pPr>
            <a:r>
              <a:rPr lang="en-US" sz="1200" i="1" dirty="0">
                <a:solidFill>
                  <a:schemeClr val="bg2"/>
                </a:solidFill>
              </a:rPr>
              <a:t>Wu, Li &amp; Khomh, “On the Effectiveness of Log Representation for Log-based Anomaly Detection”, EMSE 2023</a:t>
            </a:r>
            <a:endParaRPr lang="en-US" sz="1200" dirty="0"/>
          </a:p>
        </p:txBody>
      </p:sp>
      <p:sp>
        <p:nvSpPr>
          <p:cNvPr id="5" name="text-4"/>
          <p:cNvSpPr txBox="1"/>
          <p:nvPr/>
        </p:nvSpPr>
        <p:spPr>
          <a:xfrm>
            <a:off x="548640" y="4160520"/>
            <a:ext cx="5943600" cy="274320"/>
          </a:xfrm>
          <a:prstGeom prst="rect">
            <a:avLst/>
          </a:prstGeom>
          <a:noFill/>
          <a:ln/>
        </p:spPr>
        <p:txBody>
          <a:bodyPr wrap="square" lIns="635" tIns="635" rIns="635" bIns="635" rtlCol="0" anchor="t"/>
          <a:lstStyle/>
          <a:p>
            <a:pPr indent="0" marL="0">
              <a:buNone/>
            </a:pPr>
            <a:r>
              <a:rPr lang="en-US" sz="1300" b="1" dirty="0">
                <a:solidFill>
                  <a:schemeClr val="accent5"/>
                </a:solidFill>
              </a:rPr>
              <a:t>[TEAM NAMES]  ·  LOG6309E Intelligent DevOps  ·  Group assignment</a:t>
            </a:r>
            <a:endParaRPr lang="en-US" sz="1300" dirty="0"/>
          </a:p>
        </p:txBody>
      </p:sp>
      <p:pic>
        <p:nvPicPr>
          <p:cNvPr id="6" name="doodle-5" descr="preencoded.png">    </p:cNvPr>
          <p:cNvPicPr>
            <a:picLocks noChangeAspect="1"/>
          </p:cNvPicPr>
          <p:nvPr/>
        </p:nvPicPr>
        <p:blipFill>
          <a:blip r:embed="rId1"/>
          <a:stretch>
            <a:fillRect/>
          </a:stretch>
        </p:blipFill>
        <p:spPr>
          <a:xfrm>
            <a:off x="6812280" y="3246120"/>
            <a:ext cx="411480" cy="411480"/>
          </a:xfrm>
          <a:prstGeom prst="rect">
            <a:avLst/>
          </a:prstGeom>
        </p:spPr>
      </p:pic>
      <p:pic>
        <p:nvPicPr>
          <p:cNvPr id="7" name="doodle-6" descr="preencoded.png">    </p:cNvPr>
          <p:cNvPicPr>
            <a:picLocks noChangeAspect="1"/>
          </p:cNvPicPr>
          <p:nvPr/>
        </p:nvPicPr>
        <p:blipFill>
          <a:blip r:embed="rId2"/>
          <a:stretch>
            <a:fillRect/>
          </a:stretch>
        </p:blipFill>
        <p:spPr>
          <a:xfrm>
            <a:off x="7379208" y="3246120"/>
            <a:ext cx="411480" cy="411480"/>
          </a:xfrm>
          <a:prstGeom prst="rect">
            <a:avLst/>
          </a:prstGeom>
        </p:spPr>
      </p:pic>
      <p:pic>
        <p:nvPicPr>
          <p:cNvPr id="8" name="doodle-7" descr="preencoded.png">    </p:cNvPr>
          <p:cNvPicPr>
            <a:picLocks noChangeAspect="1"/>
          </p:cNvPicPr>
          <p:nvPr/>
        </p:nvPicPr>
        <p:blipFill>
          <a:blip r:embed="rId3"/>
          <a:stretch>
            <a:fillRect/>
          </a:stretch>
        </p:blipFill>
        <p:spPr>
          <a:xfrm>
            <a:off x="7946136" y="3246120"/>
            <a:ext cx="411480" cy="411480"/>
          </a:xfrm>
          <a:prstGeom prst="rect">
            <a:avLst/>
          </a:prstGeom>
        </p:spPr>
      </p:pic>
      <p:sp>
        <p:nvSpPr>
          <p:cNvPr id="9" name="text-8"/>
          <p:cNvSpPr txBox="1"/>
          <p:nvPr/>
        </p:nvSpPr>
        <p:spPr>
          <a:xfrm>
            <a:off x="6675120" y="3703320"/>
            <a:ext cx="2011680" cy="228600"/>
          </a:xfrm>
          <a:prstGeom prst="rect">
            <a:avLst/>
          </a:prstGeom>
          <a:noFill/>
          <a:ln/>
        </p:spPr>
        <p:txBody>
          <a:bodyPr wrap="square" lIns="635" tIns="635" rIns="635" bIns="635" rtlCol="0" anchor="t"/>
          <a:lstStyle/>
          <a:p>
            <a:pPr algn="ctr" indent="0" marL="0">
              <a:buNone/>
            </a:pPr>
            <a:r>
              <a:rPr lang="en-US" sz="1000" i="1" dirty="0">
                <a:solidFill>
                  <a:schemeClr val="bg2"/>
                </a:solidFill>
              </a:rPr>
              <a:t>the write never finished</a:t>
            </a:r>
            <a:endParaRPr lang="en-US" sz="1000" dirty="0"/>
          </a:p>
        </p:txBody>
      </p:sp>
      <p:sp>
        <p:nvSpPr>
          <p:cNvPr id="25" name="Slide Number Placeholder 0"/>
          <p:cNvSpPr>
            <a:spLocks noGrp="1"/>
          </p:cNvSpPr>
          <p:nvPr>
            <p:ph type="sldNum" sz="quarter" idx="4294967295"/>
          </p:nvPr>
        </p:nvSpPr>
        <p:spPr>
          <a:xfrm>
            <a:off x="8412480" y="4800600"/>
            <a:ext cx="41148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11480" y="256032"/>
            <a:ext cx="6903720" cy="502920"/>
          </a:xfrm>
          <a:prstGeom prst="rect">
            <a:avLst/>
          </a:prstGeom>
          <a:noFill/>
          <a:ln/>
        </p:spPr>
        <p:txBody>
          <a:bodyPr wrap="square" lIns="0" tIns="0" rIns="0" bIns="0" rtlCol="0" anchor="ctr"/>
          <a:lstStyle/>
          <a:p>
            <a:pPr algn="l" indent="0" marL="0">
              <a:buNone/>
            </a:pPr>
            <a:r>
              <a:rPr lang="en-US" sz="2400" dirty="0">
                <a:solidFill>
                  <a:schemeClr val="tx1"/>
                </a:solidFill>
                <a:latin typeface="Bookman Old Style" pitchFamily="34" charset="0"/>
                <a:ea typeface="Bookman Old Style" pitchFamily="34" charset="-122"/>
                <a:cs typeface="Bookman Old Style" pitchFamily="34" charset="-120"/>
              </a:rPr>
              <a:t>Puzzle: one of these blocks is broken</a:t>
            </a:r>
            <a:endParaRPr lang="en-US" sz="2400" dirty="0"/>
          </a:p>
        </p:txBody>
      </p:sp>
      <p:sp>
        <p:nvSpPr>
          <p:cNvPr id="3" name="text-9"/>
          <p:cNvSpPr txBox="1"/>
          <p:nvPr/>
        </p:nvSpPr>
        <p:spPr>
          <a:xfrm>
            <a:off x="411480" y="914400"/>
            <a:ext cx="4754880" cy="256032"/>
          </a:xfrm>
          <a:prstGeom prst="rect">
            <a:avLst/>
          </a:prstGeom>
          <a:noFill/>
          <a:ln/>
        </p:spPr>
        <p:txBody>
          <a:bodyPr wrap="square" lIns="0" tIns="0" rIns="0" bIns="0" rtlCol="0" anchor="t"/>
          <a:lstStyle/>
          <a:p>
            <a:pPr indent="0" marL="0">
              <a:buNone/>
            </a:pPr>
            <a:r>
              <a:rPr lang="en-US" sz="1200" b="1" dirty="0">
                <a:solidFill>
                  <a:schemeClr val="tx1"/>
                </a:solidFill>
              </a:rPr>
              <a:t>Block A  ·  blk_3796613345934950050  (13 lines, real)</a:t>
            </a:r>
            <a:endParaRPr lang="en-US" sz="1200" dirty="0"/>
          </a:p>
        </p:txBody>
      </p:sp>
      <p:sp>
        <p:nvSpPr>
          <p:cNvPr id="4" name="code-10"/>
          <p:cNvSpPr txBox="1"/>
          <p:nvPr/>
        </p:nvSpPr>
        <p:spPr>
          <a:xfrm>
            <a:off x="411480" y="1188720"/>
            <a:ext cx="4754880" cy="2606040"/>
          </a:xfrm>
          <a:prstGeom prst="roundRect">
            <a:avLst>
              <a:gd name="adj" fmla="val 1754"/>
            </a:avLst>
          </a:prstGeom>
          <a:solidFill>
            <a:schemeClr val="bg2"/>
          </a:solidFill>
          <a:ln>
            <a:solidFill>
              <a:schemeClr val="bg2"/>
            </a:solidFill>
          </a:ln>
        </p:spPr>
        <p:txBody>
          <a:bodyPr wrap="square" lIns="1016" tIns="1016" rIns="1016" bIns="1016" rtlCol="0" anchor="ctr"/>
          <a:lstStyle/>
          <a:p>
            <a:pPr indent="0" marL="0">
              <a:buNone/>
            </a:pPr>
            <a:r>
              <a:rPr lang="en-US" sz="1100" dirty="0">
                <a:solidFill>
                  <a:schemeClr val="tx1"/>
                </a:solidFill>
                <a:latin typeface="Courier New" pitchFamily="34" charset="0"/>
                <a:ea typeface="Courier New" pitchFamily="34" charset="-122"/>
                <a:cs typeface="Courier New" pitchFamily="34" charset="-120"/>
              </a:rPr>
              <a:t>Receiving block blk_3796… src:/10.251.74.79</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Receiving block blk_3796… src:/10.251.110.68</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Receiving block blk_3796… src:/10.251.110.68</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NameSystem.allocateBlock: …/part-00002</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PacketResponder 0 for block blk_3796… terminating</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Received block blk_3796… of size 67108864</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Received block blk_3796… of size 67108864</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PacketResponder 1 for block blk_3796… terminating</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Received block blk_3796… of size 67108864</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addStoredBlock: blockMap updated … (x3 lines)</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PacketResponder 2 for block blk_3796… terminating</a:t>
            </a:r>
            <a:endParaRPr lang="en-US" sz="1100" dirty="0"/>
          </a:p>
        </p:txBody>
      </p:sp>
      <p:sp>
        <p:nvSpPr>
          <p:cNvPr id="5" name="text-11"/>
          <p:cNvSpPr txBox="1"/>
          <p:nvPr/>
        </p:nvSpPr>
        <p:spPr>
          <a:xfrm>
            <a:off x="5440680" y="914400"/>
            <a:ext cx="3291840" cy="256032"/>
          </a:xfrm>
          <a:prstGeom prst="rect">
            <a:avLst/>
          </a:prstGeom>
          <a:noFill/>
          <a:ln/>
        </p:spPr>
        <p:txBody>
          <a:bodyPr wrap="square" lIns="0" tIns="0" rIns="0" bIns="0" rtlCol="0" anchor="t"/>
          <a:lstStyle/>
          <a:p>
            <a:pPr indent="0" marL="0">
              <a:buNone/>
            </a:pPr>
            <a:r>
              <a:rPr lang="en-US" sz="1200" b="1" dirty="0">
                <a:solidFill>
                  <a:schemeClr val="tx1"/>
                </a:solidFill>
              </a:rPr>
              <a:t>Block B  ·  blk_-5087…  (2 lines, real)</a:t>
            </a:r>
            <a:endParaRPr lang="en-US" sz="1200" dirty="0"/>
          </a:p>
        </p:txBody>
      </p:sp>
      <p:sp>
        <p:nvSpPr>
          <p:cNvPr id="6" name="code-12"/>
          <p:cNvSpPr txBox="1"/>
          <p:nvPr/>
        </p:nvSpPr>
        <p:spPr>
          <a:xfrm>
            <a:off x="5440680" y="1188720"/>
            <a:ext cx="3291840" cy="1051560"/>
          </a:xfrm>
          <a:prstGeom prst="roundRect">
            <a:avLst>
              <a:gd name="adj" fmla="val 4348"/>
            </a:avLst>
          </a:prstGeom>
          <a:solidFill>
            <a:schemeClr val="bg2"/>
          </a:solidFill>
          <a:ln>
            <a:solidFill>
              <a:schemeClr val="bg2"/>
            </a:solidFill>
          </a:ln>
        </p:spPr>
        <p:txBody>
          <a:bodyPr wrap="square" lIns="1016" tIns="1016" rIns="1016" bIns="1016"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Receiving block blk_-5087…</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  src:/10.251.202.181</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NameSystem.allocateBlock:</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  …/part-00028</a:t>
            </a:r>
            <a:endParaRPr lang="en-US" sz="1000" dirty="0"/>
          </a:p>
        </p:txBody>
      </p:sp>
      <p:pic>
        <p:nvPicPr>
          <p:cNvPr id="7" name="q-13" descr="preencoded.png">    </p:cNvPr>
          <p:cNvPicPr>
            <a:picLocks noChangeAspect="1"/>
          </p:cNvPicPr>
          <p:nvPr/>
        </p:nvPicPr>
        <p:blipFill>
          <a:blip r:embed="rId1"/>
          <a:stretch>
            <a:fillRect/>
          </a:stretch>
        </p:blipFill>
        <p:spPr>
          <a:xfrm>
            <a:off x="5440680" y="2395728"/>
            <a:ext cx="384048" cy="384048"/>
          </a:xfrm>
          <a:prstGeom prst="rect">
            <a:avLst/>
          </a:prstGeom>
        </p:spPr>
      </p:pic>
      <p:sp>
        <p:nvSpPr>
          <p:cNvPr id="8" name="text-14"/>
          <p:cNvSpPr txBox="1"/>
          <p:nvPr/>
        </p:nvSpPr>
        <p:spPr>
          <a:xfrm>
            <a:off x="5897880" y="2331720"/>
            <a:ext cx="2834640" cy="548640"/>
          </a:xfrm>
          <a:prstGeom prst="rect">
            <a:avLst/>
          </a:prstGeom>
          <a:noFill/>
          <a:ln/>
        </p:spPr>
        <p:txBody>
          <a:bodyPr wrap="square" lIns="635" tIns="635" rIns="635" bIns="635" rtlCol="0" anchor="t"/>
          <a:lstStyle/>
          <a:p>
            <a:pPr indent="0" marL="0">
              <a:buNone/>
            </a:pPr>
            <a:r>
              <a:rPr lang="en-US" sz="1400" b="1" dirty="0">
                <a:solidFill>
                  <a:schemeClr val="accent5"/>
                </a:solidFill>
              </a:rPr>
              <a:t>Which block is broken, and how could a machine tell?</a:t>
            </a:r>
            <a:endParaRPr lang="en-US" sz="1400" dirty="0"/>
          </a:p>
        </p:txBody>
      </p:sp>
      <p:sp>
        <p:nvSpPr>
          <p:cNvPr id="9" name="answer-box-15"/>
          <p:cNvSpPr/>
          <p:nvPr/>
        </p:nvSpPr>
        <p:spPr>
          <a:xfrm>
            <a:off x="5440680" y="2926080"/>
            <a:ext cx="3291840" cy="868680"/>
          </a:xfrm>
          <a:prstGeom prst="roundRect">
            <a:avLst>
              <a:gd name="adj" fmla="val 8421"/>
            </a:avLst>
          </a:prstGeom>
          <a:solidFill>
            <a:schemeClr val="bg1"/>
          </a:solidFill>
          <a:ln w="12700">
            <a:solidFill>
              <a:schemeClr val="tx2"/>
            </a:solidFill>
            <a:prstDash val="dash"/>
          </a:ln>
        </p:spPr>
      </p:sp>
      <p:sp>
        <p:nvSpPr>
          <p:cNvPr id="10" name="answer-16"/>
          <p:cNvSpPr txBox="1"/>
          <p:nvPr/>
        </p:nvSpPr>
        <p:spPr>
          <a:xfrm rot="10800000">
            <a:off x="5513832" y="2971800"/>
            <a:ext cx="3145536" cy="777240"/>
          </a:xfrm>
          <a:prstGeom prst="rect">
            <a:avLst/>
          </a:prstGeom>
          <a:noFill/>
          <a:ln/>
        </p:spPr>
        <p:txBody>
          <a:bodyPr wrap="square" lIns="0" tIns="0" rIns="0" bIns="0" rtlCol="0" anchor="ctr"/>
          <a:lstStyle/>
          <a:p>
            <a:pPr algn="l" indent="0" marL="0">
              <a:buNone/>
            </a:pPr>
            <a:r>
              <a:rPr lang="en-US" sz="1100" i="1" dirty="0">
                <a:solidFill>
                  <a:schemeClr val="tx2"/>
                </a:solidFill>
              </a:rPr>
              <a:t>B. It was allocated and started receiving, then silence. Every one of the 558,223 normal HDFS blocks ends with exactly 3 “PacketResponder … terminating” lines; B has 0.</a:t>
            </a:r>
            <a:endParaRPr lang="en-US" sz="1100" dirty="0"/>
          </a:p>
        </p:txBody>
      </p:sp>
      <p:sp>
        <p:nvSpPr>
          <p:cNvPr id="11" name="text-17"/>
          <p:cNvSpPr txBox="1"/>
          <p:nvPr/>
        </p:nvSpPr>
        <p:spPr>
          <a:xfrm>
            <a:off x="411480" y="3977640"/>
            <a:ext cx="8321040" cy="365760"/>
          </a:xfrm>
          <a:prstGeom prst="rect">
            <a:avLst/>
          </a:prstGeom>
          <a:noFill/>
          <a:ln/>
        </p:spPr>
        <p:txBody>
          <a:bodyPr wrap="square" lIns="635" tIns="635" rIns="635" bIns="635" rtlCol="0" anchor="t"/>
          <a:lstStyle/>
          <a:p>
            <a:pPr indent="0" marL="0">
              <a:buNone/>
            </a:pPr>
            <a:r>
              <a:rPr lang="en-US" sz="1500" b="1" dirty="0">
                <a:solidFill>
                  <a:schemeClr val="tx1"/>
                </a:solidFill>
              </a:rPr>
              <a:t>Our question: can a model learn this from 11 million lines, with labels and without them?</a:t>
            </a:r>
            <a:endParaRPr lang="en-US" sz="1500" dirty="0"/>
          </a:p>
        </p:txBody>
      </p:sp>
      <p:sp>
        <p:nvSpPr>
          <p:cNvPr id="12" name="text-18"/>
          <p:cNvSpPr txBox="1"/>
          <p:nvPr/>
        </p:nvSpPr>
        <p:spPr>
          <a:xfrm>
            <a:off x="411480" y="4389120"/>
            <a:ext cx="8321040" cy="219456"/>
          </a:xfrm>
          <a:prstGeom prst="rect">
            <a:avLst/>
          </a:prstGeom>
          <a:noFill/>
          <a:ln/>
        </p:spPr>
        <p:txBody>
          <a:bodyPr wrap="square" lIns="0" tIns="0" rIns="0" bIns="0" rtlCol="0" anchor="t"/>
          <a:lstStyle/>
          <a:p>
            <a:pPr indent="0" marL="0">
              <a:buNone/>
            </a:pPr>
            <a:r>
              <a:rPr lang="en-US" sz="1000" i="1" dirty="0">
                <a:solidFill>
                  <a:schemeClr val="tx2"/>
                </a:solidFill>
              </a:rPr>
              <a:t>Raw lines from Loghub HDFS_v1 (ids shortened). 2,950 anomalous blocks look exactly like B.</a:t>
            </a:r>
            <a:endParaRPr lang="en-US" sz="1000" dirty="0"/>
          </a:p>
        </p:txBody>
      </p:sp>
      <p:sp>
        <p:nvSpPr>
          <p:cNvPr id="25" name="Slide Number Placeholder 0"/>
          <p:cNvSpPr>
            <a:spLocks noGrp="1"/>
          </p:cNvSpPr>
          <p:nvPr>
            <p:ph type="sldNum" sz="quarter" idx="4294967295"/>
          </p:nvPr>
        </p:nvSpPr>
        <p:spPr>
          <a:xfrm>
            <a:off x="8412480" y="4800600"/>
            <a:ext cx="41148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11480" y="256032"/>
            <a:ext cx="6903720" cy="502920"/>
          </a:xfrm>
          <a:prstGeom prst="rect">
            <a:avLst/>
          </a:prstGeom>
          <a:noFill/>
          <a:ln/>
        </p:spPr>
        <p:txBody>
          <a:bodyPr wrap="square" lIns="0" tIns="0" rIns="0" bIns="0" rtlCol="0" anchor="ctr"/>
          <a:lstStyle/>
          <a:p>
            <a:pPr algn="l" indent="0" marL="0">
              <a:buNone/>
            </a:pPr>
            <a:r>
              <a:rPr lang="en-US" sz="2400" dirty="0">
                <a:solidFill>
                  <a:schemeClr val="tx1"/>
                </a:solidFill>
                <a:latin typeface="Bookman Old Style" pitchFamily="34" charset="0"/>
                <a:ea typeface="Bookman Old Style" pitchFamily="34" charset="-122"/>
                <a:cs typeface="Bookman Old Style" pitchFamily="34" charset="-120"/>
              </a:rPr>
              <a:t>Meet MiniHDFS (invented for this talk)</a:t>
            </a:r>
            <a:endParaRPr lang="en-US" sz="2400" dirty="0"/>
          </a:p>
        </p:txBody>
      </p:sp>
      <p:sp>
        <p:nvSpPr>
          <p:cNvPr id="3" name="text-19"/>
          <p:cNvSpPr txBox="1"/>
          <p:nvPr/>
        </p:nvSpPr>
        <p:spPr>
          <a:xfrm>
            <a:off x="411480" y="914400"/>
            <a:ext cx="8321040" cy="320040"/>
          </a:xfrm>
          <a:prstGeom prst="rect">
            <a:avLst/>
          </a:prstGeom>
          <a:noFill/>
          <a:ln/>
        </p:spPr>
        <p:txBody>
          <a:bodyPr wrap="square" lIns="635" tIns="635" rIns="635" bIns="635" rtlCol="0" anchor="t"/>
          <a:lstStyle/>
          <a:p>
            <a:pPr indent="0" marL="0">
              <a:buNone/>
            </a:pPr>
            <a:r>
              <a:rPr lang="en-US" sz="1400" dirty="0">
                <a:solidFill>
                  <a:schemeClr val="tx1"/>
                </a:solidFill>
              </a:rPr>
              <a:t>A file block is copied to 3 machines. Every step writes one log line. We write each line as one letter:</a:t>
            </a:r>
            <a:endParaRPr lang="en-US" sz="1400" dirty="0"/>
          </a:p>
        </p:txBody>
      </p:sp>
      <p:sp>
        <p:nvSpPr>
          <p:cNvPr id="4" name="code-20"/>
          <p:cNvSpPr txBox="1"/>
          <p:nvPr/>
        </p:nvSpPr>
        <p:spPr>
          <a:xfrm>
            <a:off x="411480" y="1325880"/>
            <a:ext cx="384048" cy="347472"/>
          </a:xfrm>
          <a:prstGeom prst="roundRect">
            <a:avLst>
              <a:gd name="adj" fmla="val 13158"/>
            </a:avLst>
          </a:prstGeom>
          <a:solidFill>
            <a:schemeClr val="bg2"/>
          </a:solidFill>
          <a:ln>
            <a:solidFill>
              <a:schemeClr val="bg2"/>
            </a:solidFill>
          </a:ln>
        </p:spPr>
        <p:txBody>
          <a:bodyPr wrap="square" lIns="1016" tIns="1016" rIns="1016" bIns="1016" rtlCol="0" anchor="ctr"/>
          <a:lstStyle/>
          <a:p>
            <a:pPr indent="0" marL="0">
              <a:buNone/>
            </a:pPr>
            <a:r>
              <a:rPr lang="en-US" sz="1400" b="1" dirty="0">
                <a:solidFill>
                  <a:schemeClr val="accent5"/>
                </a:solidFill>
                <a:latin typeface="Courier New" pitchFamily="34" charset="0"/>
                <a:ea typeface="Courier New" pitchFamily="34" charset="-122"/>
                <a:cs typeface="Courier New" pitchFamily="34" charset="-120"/>
              </a:rPr>
              <a:t>R</a:t>
            </a:r>
            <a:endParaRPr lang="en-US" sz="1400" dirty="0"/>
          </a:p>
        </p:txBody>
      </p:sp>
      <p:sp>
        <p:nvSpPr>
          <p:cNvPr id="5" name="text-21"/>
          <p:cNvSpPr txBox="1"/>
          <p:nvPr/>
        </p:nvSpPr>
        <p:spPr>
          <a:xfrm>
            <a:off x="868680" y="1362456"/>
            <a:ext cx="2286000" cy="292608"/>
          </a:xfrm>
          <a:prstGeom prst="rect">
            <a:avLst/>
          </a:prstGeom>
          <a:noFill/>
          <a:ln/>
        </p:spPr>
        <p:txBody>
          <a:bodyPr wrap="square" lIns="0" tIns="0" rIns="0" bIns="0" rtlCol="0" anchor="t"/>
          <a:lstStyle/>
          <a:p>
            <a:pPr indent="0" marL="0">
              <a:buNone/>
            </a:pPr>
            <a:r>
              <a:rPr lang="en-US" sz="1200" dirty="0">
                <a:solidFill>
                  <a:schemeClr val="tx1"/>
                </a:solidFill>
              </a:rPr>
              <a:t>Receiving block (a copy starts)</a:t>
            </a:r>
            <a:endParaRPr lang="en-US" sz="1200" dirty="0"/>
          </a:p>
        </p:txBody>
      </p:sp>
      <p:sp>
        <p:nvSpPr>
          <p:cNvPr id="6" name="code-22"/>
          <p:cNvSpPr txBox="1"/>
          <p:nvPr/>
        </p:nvSpPr>
        <p:spPr>
          <a:xfrm>
            <a:off x="3200400" y="1325880"/>
            <a:ext cx="384048" cy="347472"/>
          </a:xfrm>
          <a:prstGeom prst="roundRect">
            <a:avLst>
              <a:gd name="adj" fmla="val 13158"/>
            </a:avLst>
          </a:prstGeom>
          <a:solidFill>
            <a:schemeClr val="bg2"/>
          </a:solidFill>
          <a:ln>
            <a:solidFill>
              <a:schemeClr val="bg2"/>
            </a:solidFill>
          </a:ln>
        </p:spPr>
        <p:txBody>
          <a:bodyPr wrap="square" lIns="1016" tIns="1016" rIns="1016" bIns="1016" rtlCol="0" anchor="ctr"/>
          <a:lstStyle/>
          <a:p>
            <a:pPr indent="0" marL="0">
              <a:buNone/>
            </a:pPr>
            <a:r>
              <a:rPr lang="en-US" sz="1400" b="1" dirty="0">
                <a:solidFill>
                  <a:schemeClr val="accent5"/>
                </a:solidFill>
                <a:latin typeface="Courier New" pitchFamily="34" charset="0"/>
                <a:ea typeface="Courier New" pitchFamily="34" charset="-122"/>
                <a:cs typeface="Courier New" pitchFamily="34" charset="-120"/>
              </a:rPr>
              <a:t>A</a:t>
            </a:r>
            <a:endParaRPr lang="en-US" sz="1400" dirty="0"/>
          </a:p>
        </p:txBody>
      </p:sp>
      <p:sp>
        <p:nvSpPr>
          <p:cNvPr id="7" name="text-23"/>
          <p:cNvSpPr txBox="1"/>
          <p:nvPr/>
        </p:nvSpPr>
        <p:spPr>
          <a:xfrm>
            <a:off x="3657600" y="1362456"/>
            <a:ext cx="2286000" cy="292608"/>
          </a:xfrm>
          <a:prstGeom prst="rect">
            <a:avLst/>
          </a:prstGeom>
          <a:noFill/>
          <a:ln/>
        </p:spPr>
        <p:txBody>
          <a:bodyPr wrap="square" lIns="0" tIns="0" rIns="0" bIns="0" rtlCol="0" anchor="t"/>
          <a:lstStyle/>
          <a:p>
            <a:pPr indent="0" marL="0">
              <a:buNone/>
            </a:pPr>
            <a:r>
              <a:rPr lang="en-US" sz="1200" dirty="0">
                <a:solidFill>
                  <a:schemeClr val="tx1"/>
                </a:solidFill>
              </a:rPr>
              <a:t>allocateBlock (name server books it)</a:t>
            </a:r>
            <a:endParaRPr lang="en-US" sz="1200" dirty="0"/>
          </a:p>
        </p:txBody>
      </p:sp>
      <p:sp>
        <p:nvSpPr>
          <p:cNvPr id="8" name="code-24"/>
          <p:cNvSpPr txBox="1"/>
          <p:nvPr/>
        </p:nvSpPr>
        <p:spPr>
          <a:xfrm>
            <a:off x="5989320" y="1325880"/>
            <a:ext cx="384048" cy="347472"/>
          </a:xfrm>
          <a:prstGeom prst="roundRect">
            <a:avLst>
              <a:gd name="adj" fmla="val 13158"/>
            </a:avLst>
          </a:prstGeom>
          <a:solidFill>
            <a:schemeClr val="bg2"/>
          </a:solidFill>
          <a:ln>
            <a:solidFill>
              <a:schemeClr val="bg2"/>
            </a:solidFill>
          </a:ln>
        </p:spPr>
        <p:txBody>
          <a:bodyPr wrap="square" lIns="1016" tIns="1016" rIns="1016" bIns="1016" rtlCol="0" anchor="ctr"/>
          <a:lstStyle/>
          <a:p>
            <a:pPr indent="0" marL="0">
              <a:buNone/>
            </a:pPr>
            <a:r>
              <a:rPr lang="en-US" sz="1400" b="1" dirty="0">
                <a:solidFill>
                  <a:schemeClr val="accent5"/>
                </a:solidFill>
                <a:latin typeface="Courier New" pitchFamily="34" charset="0"/>
                <a:ea typeface="Courier New" pitchFamily="34" charset="-122"/>
                <a:cs typeface="Courier New" pitchFamily="34" charset="-120"/>
              </a:rPr>
              <a:t>P</a:t>
            </a:r>
            <a:endParaRPr lang="en-US" sz="1400" dirty="0"/>
          </a:p>
        </p:txBody>
      </p:sp>
      <p:sp>
        <p:nvSpPr>
          <p:cNvPr id="9" name="text-25"/>
          <p:cNvSpPr txBox="1"/>
          <p:nvPr/>
        </p:nvSpPr>
        <p:spPr>
          <a:xfrm>
            <a:off x="6446520" y="1362456"/>
            <a:ext cx="2286000" cy="292608"/>
          </a:xfrm>
          <a:prstGeom prst="rect">
            <a:avLst/>
          </a:prstGeom>
          <a:noFill/>
          <a:ln/>
        </p:spPr>
        <p:txBody>
          <a:bodyPr wrap="square" lIns="0" tIns="0" rIns="0" bIns="0" rtlCol="0" anchor="t"/>
          <a:lstStyle/>
          <a:p>
            <a:pPr indent="0" marL="0">
              <a:buNone/>
            </a:pPr>
            <a:r>
              <a:rPr lang="en-US" sz="1200" dirty="0">
                <a:solidFill>
                  <a:schemeClr val="tx1"/>
                </a:solidFill>
              </a:rPr>
              <a:t>PacketResponder … terminating</a:t>
            </a:r>
            <a:endParaRPr lang="en-US" sz="1200" dirty="0"/>
          </a:p>
        </p:txBody>
      </p:sp>
      <p:sp>
        <p:nvSpPr>
          <p:cNvPr id="10" name="code-26"/>
          <p:cNvSpPr txBox="1"/>
          <p:nvPr/>
        </p:nvSpPr>
        <p:spPr>
          <a:xfrm>
            <a:off x="411480" y="1783080"/>
            <a:ext cx="384048" cy="347472"/>
          </a:xfrm>
          <a:prstGeom prst="roundRect">
            <a:avLst>
              <a:gd name="adj" fmla="val 13158"/>
            </a:avLst>
          </a:prstGeom>
          <a:solidFill>
            <a:schemeClr val="bg2"/>
          </a:solidFill>
          <a:ln>
            <a:solidFill>
              <a:schemeClr val="bg2"/>
            </a:solidFill>
          </a:ln>
        </p:spPr>
        <p:txBody>
          <a:bodyPr wrap="square" lIns="1016" tIns="1016" rIns="1016" bIns="1016" rtlCol="0" anchor="ctr"/>
          <a:lstStyle/>
          <a:p>
            <a:pPr indent="0" marL="0">
              <a:buNone/>
            </a:pPr>
            <a:r>
              <a:rPr lang="en-US" sz="1400" b="1" dirty="0">
                <a:solidFill>
                  <a:schemeClr val="accent5"/>
                </a:solidFill>
                <a:latin typeface="Courier New" pitchFamily="34" charset="0"/>
                <a:ea typeface="Courier New" pitchFamily="34" charset="-122"/>
                <a:cs typeface="Courier New" pitchFamily="34" charset="-120"/>
              </a:rPr>
              <a:t>D</a:t>
            </a:r>
            <a:endParaRPr lang="en-US" sz="1400" dirty="0"/>
          </a:p>
        </p:txBody>
      </p:sp>
      <p:sp>
        <p:nvSpPr>
          <p:cNvPr id="11" name="text-27"/>
          <p:cNvSpPr txBox="1"/>
          <p:nvPr/>
        </p:nvSpPr>
        <p:spPr>
          <a:xfrm>
            <a:off x="868680" y="1819656"/>
            <a:ext cx="2286000" cy="292608"/>
          </a:xfrm>
          <a:prstGeom prst="rect">
            <a:avLst/>
          </a:prstGeom>
          <a:noFill/>
          <a:ln/>
        </p:spPr>
        <p:txBody>
          <a:bodyPr wrap="square" lIns="0" tIns="0" rIns="0" bIns="0" rtlCol="0" anchor="t"/>
          <a:lstStyle/>
          <a:p>
            <a:pPr indent="0" marL="0">
              <a:buNone/>
            </a:pPr>
            <a:r>
              <a:rPr lang="en-US" sz="1200" dirty="0">
                <a:solidFill>
                  <a:schemeClr val="tx1"/>
                </a:solidFill>
              </a:rPr>
              <a:t>Received block … (copy done)</a:t>
            </a:r>
            <a:endParaRPr lang="en-US" sz="1200" dirty="0"/>
          </a:p>
        </p:txBody>
      </p:sp>
      <p:sp>
        <p:nvSpPr>
          <p:cNvPr id="12" name="code-28"/>
          <p:cNvSpPr txBox="1"/>
          <p:nvPr/>
        </p:nvSpPr>
        <p:spPr>
          <a:xfrm>
            <a:off x="3200400" y="1783080"/>
            <a:ext cx="384048" cy="347472"/>
          </a:xfrm>
          <a:prstGeom prst="roundRect">
            <a:avLst>
              <a:gd name="adj" fmla="val 13158"/>
            </a:avLst>
          </a:prstGeom>
          <a:solidFill>
            <a:schemeClr val="bg2"/>
          </a:solidFill>
          <a:ln>
            <a:solidFill>
              <a:schemeClr val="bg2"/>
            </a:solidFill>
          </a:ln>
        </p:spPr>
        <p:txBody>
          <a:bodyPr wrap="square" lIns="1016" tIns="1016" rIns="1016" bIns="1016" rtlCol="0" anchor="ctr"/>
          <a:lstStyle/>
          <a:p>
            <a:pPr indent="0" marL="0">
              <a:buNone/>
            </a:pPr>
            <a:r>
              <a:rPr lang="en-US" sz="1400" b="1" dirty="0">
                <a:solidFill>
                  <a:schemeClr val="accent5"/>
                </a:solidFill>
                <a:latin typeface="Courier New" pitchFamily="34" charset="0"/>
                <a:ea typeface="Courier New" pitchFamily="34" charset="-122"/>
                <a:cs typeface="Courier New" pitchFamily="34" charset="-120"/>
              </a:rPr>
              <a:t>S</a:t>
            </a:r>
            <a:endParaRPr lang="en-US" sz="1400" dirty="0"/>
          </a:p>
        </p:txBody>
      </p:sp>
      <p:sp>
        <p:nvSpPr>
          <p:cNvPr id="13" name="text-29"/>
          <p:cNvSpPr txBox="1"/>
          <p:nvPr/>
        </p:nvSpPr>
        <p:spPr>
          <a:xfrm>
            <a:off x="3657600" y="1819656"/>
            <a:ext cx="2286000" cy="292608"/>
          </a:xfrm>
          <a:prstGeom prst="rect">
            <a:avLst/>
          </a:prstGeom>
          <a:noFill/>
          <a:ln/>
        </p:spPr>
        <p:txBody>
          <a:bodyPr wrap="square" lIns="0" tIns="0" rIns="0" bIns="0" rtlCol="0" anchor="t"/>
          <a:lstStyle/>
          <a:p>
            <a:pPr indent="0" marL="0">
              <a:buNone/>
            </a:pPr>
            <a:r>
              <a:rPr lang="en-US" sz="1200" dirty="0">
                <a:solidFill>
                  <a:schemeClr val="tx1"/>
                </a:solidFill>
              </a:rPr>
              <a:t>addStoredBlock (copy registered)</a:t>
            </a:r>
            <a:endParaRPr lang="en-US" sz="1200" dirty="0"/>
          </a:p>
        </p:txBody>
      </p:sp>
      <p:sp>
        <p:nvSpPr>
          <p:cNvPr id="14" name="code-30"/>
          <p:cNvSpPr txBox="1"/>
          <p:nvPr/>
        </p:nvSpPr>
        <p:spPr>
          <a:xfrm>
            <a:off x="5989320" y="1783080"/>
            <a:ext cx="384048" cy="347472"/>
          </a:xfrm>
          <a:prstGeom prst="roundRect">
            <a:avLst>
              <a:gd name="adj" fmla="val 13158"/>
            </a:avLst>
          </a:prstGeom>
          <a:solidFill>
            <a:schemeClr val="bg2"/>
          </a:solidFill>
          <a:ln>
            <a:solidFill>
              <a:schemeClr val="bg2"/>
            </a:solidFill>
          </a:ln>
        </p:spPr>
        <p:txBody>
          <a:bodyPr wrap="square" lIns="1016" tIns="1016" rIns="1016" bIns="1016" rtlCol="0" anchor="ctr"/>
          <a:lstStyle/>
          <a:p>
            <a:pPr indent="0" marL="0">
              <a:buNone/>
            </a:pPr>
            <a:r>
              <a:rPr lang="en-US" sz="1400" b="1" dirty="0">
                <a:solidFill>
                  <a:schemeClr val="accent5"/>
                </a:solidFill>
                <a:latin typeface="Courier New" pitchFamily="34" charset="0"/>
                <a:ea typeface="Courier New" pitchFamily="34" charset="-122"/>
                <a:cs typeface="Courier New" pitchFamily="34" charset="-120"/>
              </a:rPr>
              <a:t>E</a:t>
            </a:r>
            <a:endParaRPr lang="en-US" sz="1400" dirty="0"/>
          </a:p>
        </p:txBody>
      </p:sp>
      <p:sp>
        <p:nvSpPr>
          <p:cNvPr id="15" name="text-31"/>
          <p:cNvSpPr txBox="1"/>
          <p:nvPr/>
        </p:nvSpPr>
        <p:spPr>
          <a:xfrm>
            <a:off x="6446520" y="1819656"/>
            <a:ext cx="2286000" cy="292608"/>
          </a:xfrm>
          <a:prstGeom prst="rect">
            <a:avLst/>
          </a:prstGeom>
          <a:noFill/>
          <a:ln/>
        </p:spPr>
        <p:txBody>
          <a:bodyPr wrap="square" lIns="0" tIns="0" rIns="0" bIns="0" rtlCol="0" anchor="t"/>
          <a:lstStyle/>
          <a:p>
            <a:pPr indent="0" marL="0">
              <a:buNone/>
            </a:pPr>
            <a:r>
              <a:rPr lang="en-US" sz="1200" dirty="0">
                <a:solidFill>
                  <a:schemeClr val="tx1"/>
                </a:solidFill>
              </a:rPr>
              <a:t>writeBlock … exception</a:t>
            </a:r>
            <a:endParaRPr lang="en-US" sz="1200" dirty="0"/>
          </a:p>
        </p:txBody>
      </p:sp>
      <p:sp>
        <p:nvSpPr>
          <p:cNvPr id="16" name="text-32"/>
          <p:cNvSpPr txBox="1"/>
          <p:nvPr/>
        </p:nvSpPr>
        <p:spPr>
          <a:xfrm>
            <a:off x="411480" y="2377440"/>
            <a:ext cx="2743200" cy="237744"/>
          </a:xfrm>
          <a:prstGeom prst="rect">
            <a:avLst/>
          </a:prstGeom>
          <a:noFill/>
          <a:ln/>
        </p:spPr>
        <p:txBody>
          <a:bodyPr wrap="square" lIns="0" tIns="0" rIns="0" bIns="0" rtlCol="0" anchor="t"/>
          <a:lstStyle/>
          <a:p>
            <a:pPr indent="0" marL="0">
              <a:buNone/>
            </a:pPr>
            <a:r>
              <a:rPr lang="en-US" sz="1100" b="1" dirty="0">
                <a:solidFill>
                  <a:schemeClr val="tx2"/>
                </a:solidFill>
              </a:rPr>
              <a:t>INPUT: one block's lines</a:t>
            </a:r>
            <a:endParaRPr lang="en-US" sz="1100" dirty="0"/>
          </a:p>
        </p:txBody>
      </p:sp>
      <p:sp>
        <p:nvSpPr>
          <p:cNvPr id="17" name="code-33"/>
          <p:cNvSpPr txBox="1"/>
          <p:nvPr/>
        </p:nvSpPr>
        <p:spPr>
          <a:xfrm>
            <a:off x="411480" y="2651760"/>
            <a:ext cx="2743200" cy="411480"/>
          </a:xfrm>
          <a:prstGeom prst="roundRect">
            <a:avLst>
              <a:gd name="adj" fmla="val 11111"/>
            </a:avLst>
          </a:prstGeom>
          <a:solidFill>
            <a:schemeClr val="bg2"/>
          </a:solidFill>
          <a:ln>
            <a:solidFill>
              <a:schemeClr val="bg2"/>
            </a:solidFill>
          </a:ln>
        </p:spPr>
        <p:txBody>
          <a:bodyPr wrap="square" lIns="1016" tIns="1016" rIns="1016" bIns="1016"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R R R A P D P D P D S S S</a:t>
            </a:r>
            <a:endParaRPr lang="en-US" sz="1300" dirty="0"/>
          </a:p>
        </p:txBody>
      </p:sp>
      <p:sp>
        <p:nvSpPr>
          <p:cNvPr id="18" name="arrow-34"/>
          <p:cNvSpPr/>
          <p:nvPr/>
        </p:nvSpPr>
        <p:spPr>
          <a:xfrm>
            <a:off x="3246120" y="2752344"/>
            <a:ext cx="292608" cy="201168"/>
          </a:xfrm>
          <a:prstGeom prst="rightArrow">
            <a:avLst/>
          </a:prstGeom>
          <a:solidFill>
            <a:schemeClr val="tx2"/>
          </a:solidFill>
          <a:ln w="12700">
            <a:solidFill>
              <a:schemeClr val="tx2"/>
            </a:solidFill>
            <a:prstDash val="solid"/>
          </a:ln>
        </p:spPr>
      </p:sp>
      <p:sp>
        <p:nvSpPr>
          <p:cNvPr id="19" name="detector-35"/>
          <p:cNvSpPr/>
          <p:nvPr/>
        </p:nvSpPr>
        <p:spPr>
          <a:xfrm>
            <a:off x="3611880" y="2651760"/>
            <a:ext cx="1554480" cy="411480"/>
          </a:xfrm>
          <a:prstGeom prst="roundRect">
            <a:avLst>
              <a:gd name="adj" fmla="val 17778"/>
            </a:avLst>
          </a:prstGeom>
          <a:solidFill>
            <a:schemeClr val="tx1"/>
          </a:solidFill>
          <a:ln w="12700">
            <a:solidFill>
              <a:schemeClr val="tx1"/>
            </a:solidFill>
            <a:prstDash val="solid"/>
          </a:ln>
        </p:spPr>
      </p:sp>
      <p:sp>
        <p:nvSpPr>
          <p:cNvPr id="20" name="text-36"/>
          <p:cNvSpPr txBox="1"/>
          <p:nvPr/>
        </p:nvSpPr>
        <p:spPr>
          <a:xfrm>
            <a:off x="3611880" y="2651760"/>
            <a:ext cx="1554480" cy="411480"/>
          </a:xfrm>
          <a:prstGeom prst="rect">
            <a:avLst/>
          </a:prstGeom>
          <a:noFill/>
          <a:ln/>
        </p:spPr>
        <p:txBody>
          <a:bodyPr wrap="square" lIns="635" tIns="635" rIns="635" bIns="635" rtlCol="0" anchor="ctr"/>
          <a:lstStyle/>
          <a:p>
            <a:pPr algn="ctr" indent="0" marL="0">
              <a:buNone/>
            </a:pPr>
            <a:r>
              <a:rPr lang="en-US" sz="1400" b="1" dirty="0">
                <a:solidFill>
                  <a:schemeClr val="bg1"/>
                </a:solidFill>
              </a:rPr>
              <a:t>detector</a:t>
            </a:r>
            <a:endParaRPr lang="en-US" sz="1400" dirty="0"/>
          </a:p>
        </p:txBody>
      </p:sp>
      <p:sp>
        <p:nvSpPr>
          <p:cNvPr id="21" name="arrow-37"/>
          <p:cNvSpPr/>
          <p:nvPr/>
        </p:nvSpPr>
        <p:spPr>
          <a:xfrm>
            <a:off x="5257800" y="2752344"/>
            <a:ext cx="292608" cy="201168"/>
          </a:xfrm>
          <a:prstGeom prst="rightArrow">
            <a:avLst/>
          </a:prstGeom>
          <a:solidFill>
            <a:schemeClr val="tx2"/>
          </a:solidFill>
          <a:ln w="12700">
            <a:solidFill>
              <a:schemeClr val="tx2"/>
            </a:solidFill>
            <a:prstDash val="solid"/>
          </a:ln>
        </p:spPr>
      </p:sp>
      <p:sp>
        <p:nvSpPr>
          <p:cNvPr id="22" name="text-38"/>
          <p:cNvSpPr txBox="1"/>
          <p:nvPr/>
        </p:nvSpPr>
        <p:spPr>
          <a:xfrm>
            <a:off x="5623560" y="2377440"/>
            <a:ext cx="3108960" cy="237744"/>
          </a:xfrm>
          <a:prstGeom prst="rect">
            <a:avLst/>
          </a:prstGeom>
          <a:noFill/>
          <a:ln/>
        </p:spPr>
        <p:txBody>
          <a:bodyPr wrap="square" lIns="0" tIns="0" rIns="0" bIns="0" rtlCol="0" anchor="t"/>
          <a:lstStyle/>
          <a:p>
            <a:pPr indent="0" marL="0">
              <a:buNone/>
            </a:pPr>
            <a:r>
              <a:rPr lang="en-US" sz="1100" b="1" dirty="0">
                <a:solidFill>
                  <a:schemeClr val="tx2"/>
                </a:solidFill>
              </a:rPr>
              <a:t>OUTPUT: label + score</a:t>
            </a:r>
            <a:endParaRPr lang="en-US" sz="1100" dirty="0"/>
          </a:p>
        </p:txBody>
      </p:sp>
      <p:sp>
        <p:nvSpPr>
          <p:cNvPr id="23" name="pill-39"/>
          <p:cNvSpPr txBox="1"/>
          <p:nvPr/>
        </p:nvSpPr>
        <p:spPr>
          <a:xfrm>
            <a:off x="5623560" y="2688336"/>
            <a:ext cx="1417320" cy="329184"/>
          </a:xfrm>
          <a:prstGeom prst="roundRect">
            <a:avLst>
              <a:gd name="adj" fmla="val 50000"/>
            </a:avLst>
          </a:prstGeom>
          <a:solidFill>
            <a:schemeClr val="tx2"/>
          </a:solidFill>
          <a:ln>
            <a:solidFill>
              <a:schemeClr val="tx2"/>
            </a:solidFill>
          </a:ln>
        </p:spPr>
        <p:txBody>
          <a:bodyPr wrap="square" lIns="254" tIns="254" rIns="254" bIns="254" rtlCol="0" anchor="ctr"/>
          <a:lstStyle/>
          <a:p>
            <a:pPr algn="ctr" indent="0" marL="0">
              <a:buNone/>
            </a:pPr>
            <a:r>
              <a:rPr lang="en-US" sz="1200" b="1" dirty="0">
                <a:solidFill>
                  <a:schemeClr val="bg1"/>
                </a:solidFill>
              </a:rPr>
              <a:t>normal · 0.01</a:t>
            </a:r>
            <a:endParaRPr lang="en-US" sz="1200" dirty="0"/>
          </a:p>
        </p:txBody>
      </p:sp>
      <p:sp>
        <p:nvSpPr>
          <p:cNvPr id="24" name="pill-40"/>
          <p:cNvSpPr txBox="1"/>
          <p:nvPr/>
        </p:nvSpPr>
        <p:spPr>
          <a:xfrm>
            <a:off x="7178040" y="2688336"/>
            <a:ext cx="1554480" cy="329184"/>
          </a:xfrm>
          <a:prstGeom prst="roundRect">
            <a:avLst>
              <a:gd name="adj" fmla="val 50000"/>
            </a:avLst>
          </a:prstGeom>
          <a:solidFill>
            <a:schemeClr val="accent6"/>
          </a:solidFill>
          <a:ln>
            <a:solidFill>
              <a:schemeClr val="accent6"/>
            </a:solidFill>
          </a:ln>
        </p:spPr>
        <p:txBody>
          <a:bodyPr wrap="square" lIns="254" tIns="254" rIns="254" bIns="254" rtlCol="0" anchor="ctr"/>
          <a:lstStyle/>
          <a:p>
            <a:pPr algn="ctr" indent="0" marL="0">
              <a:buNone/>
            </a:pPr>
            <a:r>
              <a:rPr lang="en-US" sz="1200" b="1" dirty="0">
                <a:solidFill>
                  <a:schemeClr val="bg1"/>
                </a:solidFill>
              </a:rPr>
              <a:t>anomaly · 0.99</a:t>
            </a:r>
            <a:endParaRPr lang="en-US" sz="1200" dirty="0"/>
          </a:p>
        </p:txBody>
      </p:sp>
      <p:sp>
        <p:nvSpPr>
          <p:cNvPr id="25" name="bigidea-41"/>
          <p:cNvSpPr/>
          <p:nvPr/>
        </p:nvSpPr>
        <p:spPr>
          <a:xfrm>
            <a:off x="411480" y="3429000"/>
            <a:ext cx="8321040" cy="914400"/>
          </a:xfrm>
          <a:prstGeom prst="roundRect">
            <a:avLst>
              <a:gd name="adj" fmla="val 8000"/>
            </a:avLst>
          </a:prstGeom>
          <a:solidFill>
            <a:schemeClr val="bg2"/>
          </a:solidFill>
          <a:ln w="12700">
            <a:solidFill>
              <a:schemeClr val="bg2"/>
            </a:solidFill>
            <a:prstDash val="solid"/>
          </a:ln>
        </p:spPr>
      </p:sp>
      <p:pic>
        <p:nvPicPr>
          <p:cNvPr id="26" name="bulb-42" descr="preencoded.png">    </p:cNvPr>
          <p:cNvPicPr>
            <a:picLocks noChangeAspect="1"/>
          </p:cNvPicPr>
          <p:nvPr/>
        </p:nvPicPr>
        <p:blipFill>
          <a:blip r:embed="rId1"/>
          <a:stretch>
            <a:fillRect/>
          </a:stretch>
        </p:blipFill>
        <p:spPr>
          <a:xfrm>
            <a:off x="594360" y="3639312"/>
            <a:ext cx="457200" cy="457200"/>
          </a:xfrm>
          <a:prstGeom prst="rect">
            <a:avLst/>
          </a:prstGeom>
        </p:spPr>
      </p:pic>
      <p:sp>
        <p:nvSpPr>
          <p:cNvPr id="27" name="text-43"/>
          <p:cNvSpPr txBox="1"/>
          <p:nvPr/>
        </p:nvSpPr>
        <p:spPr>
          <a:xfrm>
            <a:off x="1188720" y="3520440"/>
            <a:ext cx="7406640" cy="731520"/>
          </a:xfrm>
          <a:prstGeom prst="rect">
            <a:avLst/>
          </a:prstGeom>
          <a:noFill/>
          <a:ln/>
        </p:spPr>
        <p:txBody>
          <a:bodyPr wrap="square" lIns="635" tIns="635" rIns="635" bIns="635" rtlCol="0" anchor="ctr"/>
          <a:lstStyle/>
          <a:p>
            <a:pPr indent="0" marL="0">
              <a:buNone/>
            </a:pPr>
            <a:r>
              <a:rPr lang="en-US" sz="1500" b="1" dirty="0">
                <a:solidFill>
                  <a:schemeClr val="accent5"/>
                </a:solidFill>
              </a:rPr>
              <a:t>Big idea: </a:t>
            </a:r>
            <a:pPr indent="0" marL="0">
              <a:buNone/>
            </a:pPr>
            <a:r>
              <a:rPr lang="en-US" sz="1500" dirty="0">
                <a:solidFill>
                  <a:schemeClr val="tx1"/>
                </a:solidFill>
              </a:rPr>
              <a:t>one data point = all the log lines of ONE block (a “session”). The detector never sees a single line alone; it judges the whole block.</a:t>
            </a:r>
            <a:endParaRPr lang="en-US" sz="1500" dirty="0"/>
          </a:p>
        </p:txBody>
      </p:sp>
      <p:sp>
        <p:nvSpPr>
          <p:cNvPr id="25" name="Slide Number Placeholder 0"/>
          <p:cNvSpPr>
            <a:spLocks noGrp="1"/>
          </p:cNvSpPr>
          <p:nvPr>
            <p:ph type="sldNum" sz="quarter" idx="4294967295"/>
          </p:nvPr>
        </p:nvSpPr>
        <p:spPr>
          <a:xfrm>
            <a:off x="8412480" y="4800600"/>
            <a:ext cx="41148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11480" y="256032"/>
            <a:ext cx="6903720" cy="502920"/>
          </a:xfrm>
          <a:prstGeom prst="rect">
            <a:avLst/>
          </a:prstGeom>
          <a:noFill/>
          <a:ln/>
        </p:spPr>
        <p:txBody>
          <a:bodyPr wrap="square" lIns="0" tIns="0" rIns="0" bIns="0" rtlCol="0" anchor="ctr"/>
          <a:lstStyle/>
          <a:p>
            <a:pPr algn="l" indent="0" marL="0">
              <a:buNone/>
            </a:pPr>
            <a:r>
              <a:rPr lang="en-US" sz="2400" dirty="0">
                <a:solidFill>
                  <a:schemeClr val="tx1"/>
                </a:solidFill>
                <a:latin typeface="Bookman Old Style" pitchFamily="34" charset="0"/>
                <a:ea typeface="Bookman Old Style" pitchFamily="34" charset="-122"/>
                <a:cs typeface="Bookman Old Style" pitchFamily="34" charset="-120"/>
              </a:rPr>
              <a:t>Vocabulary: logs are parcel tracking</a:t>
            </a:r>
            <a:endParaRPr lang="en-US" sz="2400" dirty="0"/>
          </a:p>
        </p:txBody>
      </p:sp>
      <p:sp>
        <p:nvSpPr>
          <p:cNvPr id="3" name="pill-44"/>
          <p:cNvSpPr txBox="1"/>
          <p:nvPr/>
        </p:nvSpPr>
        <p:spPr>
          <a:xfrm>
            <a:off x="411480" y="987552"/>
            <a:ext cx="1874520" cy="365760"/>
          </a:xfrm>
          <a:prstGeom prst="roundRect">
            <a:avLst>
              <a:gd name="adj" fmla="val 45000"/>
            </a:avLst>
          </a:prstGeom>
          <a:solidFill>
            <a:schemeClr val="accent1"/>
          </a:solidFill>
          <a:ln>
            <a:solidFill>
              <a:schemeClr val="accent1"/>
            </a:solidFill>
          </a:ln>
        </p:spPr>
        <p:txBody>
          <a:bodyPr wrap="square" lIns="254" tIns="254" rIns="254" bIns="254" rtlCol="0" anchor="ctr"/>
          <a:lstStyle/>
          <a:p>
            <a:pPr algn="ctr" indent="0" marL="0">
              <a:buNone/>
            </a:pPr>
            <a:r>
              <a:rPr lang="en-US" sz="1200" b="1" dirty="0">
                <a:solidFill>
                  <a:schemeClr val="bg1"/>
                </a:solidFill>
              </a:rPr>
              <a:t>Template</a:t>
            </a:r>
            <a:endParaRPr lang="en-US" sz="1200" dirty="0"/>
          </a:p>
        </p:txBody>
      </p:sp>
      <p:sp>
        <p:nvSpPr>
          <p:cNvPr id="4" name="text-45"/>
          <p:cNvSpPr txBox="1"/>
          <p:nvPr/>
        </p:nvSpPr>
        <p:spPr>
          <a:xfrm>
            <a:off x="2423160" y="1005840"/>
            <a:ext cx="2743200" cy="347472"/>
          </a:xfrm>
          <a:prstGeom prst="rect">
            <a:avLst/>
          </a:prstGeom>
          <a:noFill/>
          <a:ln/>
        </p:spPr>
        <p:txBody>
          <a:bodyPr wrap="square" lIns="0" tIns="0" rIns="0" bIns="0" rtlCol="0" anchor="ctr"/>
          <a:lstStyle/>
          <a:p>
            <a:pPr indent="0" marL="0">
              <a:buNone/>
            </a:pPr>
            <a:r>
              <a:rPr lang="en-US" sz="1400" dirty="0">
                <a:solidFill>
                  <a:schemeClr val="tx1"/>
                </a:solidFill>
              </a:rPr>
              <a:t>the stamp type, blanks removed</a:t>
            </a:r>
            <a:endParaRPr lang="en-US" sz="1400" dirty="0"/>
          </a:p>
        </p:txBody>
      </p:sp>
      <p:sp>
        <p:nvSpPr>
          <p:cNvPr id="5" name="code-46"/>
          <p:cNvSpPr txBox="1"/>
          <p:nvPr/>
        </p:nvSpPr>
        <p:spPr>
          <a:xfrm>
            <a:off x="5257800" y="969264"/>
            <a:ext cx="3474720" cy="402336"/>
          </a:xfrm>
          <a:prstGeom prst="roundRect">
            <a:avLst>
              <a:gd name="adj" fmla="val 11364"/>
            </a:avLst>
          </a:prstGeom>
          <a:solidFill>
            <a:schemeClr val="bg2"/>
          </a:solidFill>
          <a:ln>
            <a:solidFill>
              <a:schemeClr val="bg2"/>
            </a:solidFill>
          </a:ln>
        </p:spPr>
        <p:txBody>
          <a:bodyPr wrap="square" lIns="1016" tIns="1016" rIns="1016" bIns="1016" rtlCol="0" anchor="ctr"/>
          <a:lstStyle/>
          <a:p>
            <a:pPr indent="0" marL="0">
              <a:buNone/>
            </a:pPr>
            <a:r>
              <a:rPr lang="en-US" sz="1100" dirty="0">
                <a:solidFill>
                  <a:schemeClr val="tx1"/>
                </a:solidFill>
                <a:latin typeface="Courier New" pitchFamily="34" charset="0"/>
                <a:ea typeface="Courier New" pitchFamily="34" charset="-122"/>
                <a:cs typeface="Courier New" pitchFamily="34" charset="-120"/>
              </a:rPr>
              <a:t>Received block &lt;*&gt; of size &lt;*&gt; from &lt;*&gt;</a:t>
            </a:r>
            <a:endParaRPr lang="en-US" sz="1100" dirty="0"/>
          </a:p>
        </p:txBody>
      </p:sp>
      <p:sp>
        <p:nvSpPr>
          <p:cNvPr id="6" name="pill-47"/>
          <p:cNvSpPr txBox="1"/>
          <p:nvPr/>
        </p:nvSpPr>
        <p:spPr>
          <a:xfrm>
            <a:off x="411480" y="1591056"/>
            <a:ext cx="1874520" cy="365760"/>
          </a:xfrm>
          <a:prstGeom prst="roundRect">
            <a:avLst>
              <a:gd name="adj" fmla="val 45000"/>
            </a:avLst>
          </a:prstGeom>
          <a:solidFill>
            <a:schemeClr val="accent1"/>
          </a:solidFill>
          <a:ln>
            <a:solidFill>
              <a:schemeClr val="accent1"/>
            </a:solidFill>
          </a:ln>
        </p:spPr>
        <p:txBody>
          <a:bodyPr wrap="square" lIns="254" tIns="254" rIns="254" bIns="254" rtlCol="0" anchor="ctr"/>
          <a:lstStyle/>
          <a:p>
            <a:pPr algn="ctr" indent="0" marL="0">
              <a:buNone/>
            </a:pPr>
            <a:r>
              <a:rPr lang="en-US" sz="1200" b="1" dirty="0">
                <a:solidFill>
                  <a:schemeClr val="bg1"/>
                </a:solidFill>
              </a:rPr>
              <a:t>Session</a:t>
            </a:r>
            <a:endParaRPr lang="en-US" sz="1200" dirty="0"/>
          </a:p>
        </p:txBody>
      </p:sp>
      <p:sp>
        <p:nvSpPr>
          <p:cNvPr id="7" name="text-48"/>
          <p:cNvSpPr txBox="1"/>
          <p:nvPr/>
        </p:nvSpPr>
        <p:spPr>
          <a:xfrm>
            <a:off x="2423160" y="1609344"/>
            <a:ext cx="2743200" cy="347472"/>
          </a:xfrm>
          <a:prstGeom prst="rect">
            <a:avLst/>
          </a:prstGeom>
          <a:noFill/>
          <a:ln/>
        </p:spPr>
        <p:txBody>
          <a:bodyPr wrap="square" lIns="0" tIns="0" rIns="0" bIns="0" rtlCol="0" anchor="ctr"/>
          <a:lstStyle/>
          <a:p>
            <a:pPr indent="0" marL="0">
              <a:buNone/>
            </a:pPr>
            <a:r>
              <a:rPr lang="en-US" sz="1400" dirty="0">
                <a:solidFill>
                  <a:schemeClr val="tx1"/>
                </a:solidFill>
              </a:rPr>
              <a:t>one parcel's full tracking history</a:t>
            </a:r>
            <a:endParaRPr lang="en-US" sz="1400" dirty="0"/>
          </a:p>
        </p:txBody>
      </p:sp>
      <p:sp>
        <p:nvSpPr>
          <p:cNvPr id="8" name="code-49"/>
          <p:cNvSpPr txBox="1"/>
          <p:nvPr/>
        </p:nvSpPr>
        <p:spPr>
          <a:xfrm>
            <a:off x="5257800" y="1572768"/>
            <a:ext cx="3474720" cy="402336"/>
          </a:xfrm>
          <a:prstGeom prst="roundRect">
            <a:avLst>
              <a:gd name="adj" fmla="val 11364"/>
            </a:avLst>
          </a:prstGeom>
          <a:solidFill>
            <a:schemeClr val="bg2"/>
          </a:solidFill>
          <a:ln>
            <a:solidFill>
              <a:schemeClr val="bg2"/>
            </a:solidFill>
          </a:ln>
        </p:spPr>
        <p:txBody>
          <a:bodyPr wrap="square" lIns="1016" tIns="1016" rIns="1016" bIns="1016" rtlCol="0" anchor="ctr"/>
          <a:lstStyle/>
          <a:p>
            <a:pPr indent="0" marL="0">
              <a:buNone/>
            </a:pPr>
            <a:r>
              <a:rPr lang="en-US" sz="1100" dirty="0">
                <a:solidFill>
                  <a:schemeClr val="tx1"/>
                </a:solidFill>
                <a:latin typeface="Courier New" pitchFamily="34" charset="0"/>
                <a:ea typeface="Courier New" pitchFamily="34" charset="-122"/>
                <a:cs typeface="Courier New" pitchFamily="34" charset="-120"/>
              </a:rPr>
              <a:t>block #1 = R R R A P D P D P D S S S</a:t>
            </a:r>
            <a:endParaRPr lang="en-US" sz="1100" dirty="0"/>
          </a:p>
        </p:txBody>
      </p:sp>
      <p:sp>
        <p:nvSpPr>
          <p:cNvPr id="9" name="pill-50"/>
          <p:cNvSpPr txBox="1"/>
          <p:nvPr/>
        </p:nvSpPr>
        <p:spPr>
          <a:xfrm>
            <a:off x="411480" y="2194560"/>
            <a:ext cx="1874520" cy="365760"/>
          </a:xfrm>
          <a:prstGeom prst="roundRect">
            <a:avLst>
              <a:gd name="adj" fmla="val 45000"/>
            </a:avLst>
          </a:prstGeom>
          <a:solidFill>
            <a:schemeClr val="accent1"/>
          </a:solidFill>
          <a:ln>
            <a:solidFill>
              <a:schemeClr val="accent1"/>
            </a:solidFill>
          </a:ln>
        </p:spPr>
        <p:txBody>
          <a:bodyPr wrap="square" lIns="254" tIns="254" rIns="254" bIns="254" rtlCol="0" anchor="ctr"/>
          <a:lstStyle/>
          <a:p>
            <a:pPr algn="ctr" indent="0" marL="0">
              <a:buNone/>
            </a:pPr>
            <a:r>
              <a:rPr lang="en-US" sz="1200" b="1" dirty="0">
                <a:solidFill>
                  <a:schemeClr val="bg1"/>
                </a:solidFill>
              </a:rPr>
              <a:t>MCV (count vector)</a:t>
            </a:r>
            <a:endParaRPr lang="en-US" sz="1200" dirty="0"/>
          </a:p>
        </p:txBody>
      </p:sp>
      <p:sp>
        <p:nvSpPr>
          <p:cNvPr id="10" name="text-51"/>
          <p:cNvSpPr txBox="1"/>
          <p:nvPr/>
        </p:nvSpPr>
        <p:spPr>
          <a:xfrm>
            <a:off x="2423160" y="2212848"/>
            <a:ext cx="2743200" cy="347472"/>
          </a:xfrm>
          <a:prstGeom prst="rect">
            <a:avLst/>
          </a:prstGeom>
          <a:noFill/>
          <a:ln/>
        </p:spPr>
        <p:txBody>
          <a:bodyPr wrap="square" lIns="0" tIns="0" rIns="0" bIns="0" rtlCol="0" anchor="ctr"/>
          <a:lstStyle/>
          <a:p>
            <a:pPr indent="0" marL="0">
              <a:buNone/>
            </a:pPr>
            <a:r>
              <a:rPr lang="en-US" sz="1400" dirty="0">
                <a:solidFill>
                  <a:schemeClr val="tx1"/>
                </a:solidFill>
              </a:rPr>
              <a:t>how many stamps of each type</a:t>
            </a:r>
            <a:endParaRPr lang="en-US" sz="1400" dirty="0"/>
          </a:p>
        </p:txBody>
      </p:sp>
      <p:sp>
        <p:nvSpPr>
          <p:cNvPr id="11" name="code-52"/>
          <p:cNvSpPr txBox="1"/>
          <p:nvPr/>
        </p:nvSpPr>
        <p:spPr>
          <a:xfrm>
            <a:off x="5257800" y="2176272"/>
            <a:ext cx="3474720" cy="402336"/>
          </a:xfrm>
          <a:prstGeom prst="roundRect">
            <a:avLst>
              <a:gd name="adj" fmla="val 11364"/>
            </a:avLst>
          </a:prstGeom>
          <a:solidFill>
            <a:schemeClr val="bg2"/>
          </a:solidFill>
          <a:ln>
            <a:solidFill>
              <a:schemeClr val="bg2"/>
            </a:solidFill>
          </a:ln>
        </p:spPr>
        <p:txBody>
          <a:bodyPr wrap="square" lIns="1016" tIns="1016" rIns="1016" bIns="1016" rtlCol="0" anchor="ctr"/>
          <a:lstStyle/>
          <a:p>
            <a:pPr indent="0" marL="0">
              <a:buNone/>
            </a:pPr>
            <a:r>
              <a:rPr lang="en-US" sz="1100" dirty="0">
                <a:solidFill>
                  <a:schemeClr val="tx1"/>
                </a:solidFill>
                <a:latin typeface="Courier New" pitchFamily="34" charset="0"/>
                <a:ea typeface="Courier New" pitchFamily="34" charset="-122"/>
                <a:cs typeface="Courier New" pitchFamily="34" charset="-120"/>
              </a:rPr>
              <a:t>[R A P D S E] = [3 1 3 3 3 0]</a:t>
            </a:r>
            <a:endParaRPr lang="en-US" sz="1100" dirty="0"/>
          </a:p>
        </p:txBody>
      </p:sp>
      <p:sp>
        <p:nvSpPr>
          <p:cNvPr id="12" name="pill-53"/>
          <p:cNvSpPr txBox="1"/>
          <p:nvPr/>
        </p:nvSpPr>
        <p:spPr>
          <a:xfrm>
            <a:off x="411480" y="2798064"/>
            <a:ext cx="1874520" cy="365760"/>
          </a:xfrm>
          <a:prstGeom prst="roundRect">
            <a:avLst>
              <a:gd name="adj" fmla="val 45000"/>
            </a:avLst>
          </a:prstGeom>
          <a:solidFill>
            <a:schemeClr val="accent1"/>
          </a:solidFill>
          <a:ln>
            <a:solidFill>
              <a:schemeClr val="accent1"/>
            </a:solidFill>
          </a:ln>
        </p:spPr>
        <p:txBody>
          <a:bodyPr wrap="square" lIns="254" tIns="254" rIns="254" bIns="254" rtlCol="0" anchor="ctr"/>
          <a:lstStyle/>
          <a:p>
            <a:pPr algn="ctr" indent="0" marL="0">
              <a:buNone/>
            </a:pPr>
            <a:r>
              <a:rPr lang="en-US" sz="1200" b="1" dirty="0">
                <a:solidFill>
                  <a:schemeClr val="bg1"/>
                </a:solidFill>
              </a:rPr>
              <a:t>TF-IDF (Text)</a:t>
            </a:r>
            <a:endParaRPr lang="en-US" sz="1200" dirty="0"/>
          </a:p>
        </p:txBody>
      </p:sp>
      <p:sp>
        <p:nvSpPr>
          <p:cNvPr id="13" name="text-54"/>
          <p:cNvSpPr txBox="1"/>
          <p:nvPr/>
        </p:nvSpPr>
        <p:spPr>
          <a:xfrm>
            <a:off x="2423160" y="2816352"/>
            <a:ext cx="2743200" cy="347472"/>
          </a:xfrm>
          <a:prstGeom prst="rect">
            <a:avLst/>
          </a:prstGeom>
          <a:noFill/>
          <a:ln/>
        </p:spPr>
        <p:txBody>
          <a:bodyPr wrap="square" lIns="0" tIns="0" rIns="0" bIns="0" rtlCol="0" anchor="ctr"/>
          <a:lstStyle/>
          <a:p>
            <a:pPr indent="0" marL="0">
              <a:buNone/>
            </a:pPr>
            <a:r>
              <a:rPr lang="en-US" sz="1400" dirty="0">
                <a:solidFill>
                  <a:schemeClr val="tx1"/>
                </a:solidFill>
              </a:rPr>
              <a:t>the words on each stamp, weighted</a:t>
            </a:r>
            <a:endParaRPr lang="en-US" sz="1400" dirty="0"/>
          </a:p>
        </p:txBody>
      </p:sp>
      <p:sp>
        <p:nvSpPr>
          <p:cNvPr id="14" name="code-55"/>
          <p:cNvSpPr txBox="1"/>
          <p:nvPr/>
        </p:nvSpPr>
        <p:spPr>
          <a:xfrm>
            <a:off x="5257800" y="2779776"/>
            <a:ext cx="3474720" cy="402336"/>
          </a:xfrm>
          <a:prstGeom prst="roundRect">
            <a:avLst>
              <a:gd name="adj" fmla="val 11364"/>
            </a:avLst>
          </a:prstGeom>
          <a:solidFill>
            <a:schemeClr val="bg2"/>
          </a:solidFill>
          <a:ln>
            <a:solidFill>
              <a:schemeClr val="bg2"/>
            </a:solidFill>
          </a:ln>
        </p:spPr>
        <p:txBody>
          <a:bodyPr wrap="square" lIns="1016" tIns="1016" rIns="1016" bIns="1016" rtlCol="0" anchor="ctr"/>
          <a:lstStyle/>
          <a:p>
            <a:pPr indent="0" marL="0">
              <a:buNone/>
            </a:pPr>
            <a:r>
              <a:rPr lang="en-US" sz="1100" dirty="0">
                <a:solidFill>
                  <a:schemeClr val="tx1"/>
                </a:solidFill>
                <a:latin typeface="Courier New" pitchFamily="34" charset="0"/>
                <a:ea typeface="Courier New" pitchFamily="34" charset="-122"/>
                <a:cs typeface="Courier New" pitchFamily="34" charset="-120"/>
              </a:rPr>
              <a:t>P → {packetresponder, terminating, …}</a:t>
            </a:r>
            <a:endParaRPr lang="en-US" sz="1100" dirty="0"/>
          </a:p>
        </p:txBody>
      </p:sp>
      <p:sp>
        <p:nvSpPr>
          <p:cNvPr id="15" name="pill-56"/>
          <p:cNvSpPr txBox="1"/>
          <p:nvPr/>
        </p:nvSpPr>
        <p:spPr>
          <a:xfrm>
            <a:off x="411480" y="3401568"/>
            <a:ext cx="1874520" cy="365760"/>
          </a:xfrm>
          <a:prstGeom prst="roundRect">
            <a:avLst>
              <a:gd name="adj" fmla="val 45000"/>
            </a:avLst>
          </a:prstGeom>
          <a:solidFill>
            <a:schemeClr val="accent2"/>
          </a:solidFill>
          <a:ln>
            <a:solidFill>
              <a:schemeClr val="accent2"/>
            </a:solidFill>
          </a:ln>
        </p:spPr>
        <p:txBody>
          <a:bodyPr wrap="square" lIns="254" tIns="254" rIns="254" bIns="254" rtlCol="0" anchor="ctr"/>
          <a:lstStyle/>
          <a:p>
            <a:pPr algn="ctr" indent="0" marL="0">
              <a:buNone/>
            </a:pPr>
            <a:r>
              <a:rPr lang="en-US" sz="1200" b="1" dirty="0">
                <a:solidFill>
                  <a:schemeClr val="bg1"/>
                </a:solidFill>
              </a:rPr>
              <a:t>Supervised</a:t>
            </a:r>
            <a:endParaRPr lang="en-US" sz="1200" dirty="0"/>
          </a:p>
        </p:txBody>
      </p:sp>
      <p:sp>
        <p:nvSpPr>
          <p:cNvPr id="16" name="text-57"/>
          <p:cNvSpPr txBox="1"/>
          <p:nvPr/>
        </p:nvSpPr>
        <p:spPr>
          <a:xfrm>
            <a:off x="2423160" y="3419856"/>
            <a:ext cx="2743200" cy="347472"/>
          </a:xfrm>
          <a:prstGeom prst="rect">
            <a:avLst/>
          </a:prstGeom>
          <a:noFill/>
          <a:ln/>
        </p:spPr>
        <p:txBody>
          <a:bodyPr wrap="square" lIns="0" tIns="0" rIns="0" bIns="0" rtlCol="0" anchor="ctr"/>
          <a:lstStyle/>
          <a:p>
            <a:pPr indent="0" marL="0">
              <a:buNone/>
            </a:pPr>
            <a:r>
              <a:rPr lang="en-US" sz="1400" dirty="0">
                <a:solidFill>
                  <a:schemeClr val="tx1"/>
                </a:solidFill>
              </a:rPr>
              <a:t>learns from parcels marked “lost”</a:t>
            </a:r>
            <a:endParaRPr lang="en-US" sz="1400" dirty="0"/>
          </a:p>
        </p:txBody>
      </p:sp>
      <p:sp>
        <p:nvSpPr>
          <p:cNvPr id="17" name="code-58"/>
          <p:cNvSpPr txBox="1"/>
          <p:nvPr/>
        </p:nvSpPr>
        <p:spPr>
          <a:xfrm>
            <a:off x="5257800" y="3383280"/>
            <a:ext cx="3474720" cy="402336"/>
          </a:xfrm>
          <a:prstGeom prst="roundRect">
            <a:avLst>
              <a:gd name="adj" fmla="val 11364"/>
            </a:avLst>
          </a:prstGeom>
          <a:solidFill>
            <a:schemeClr val="bg2"/>
          </a:solidFill>
          <a:ln>
            <a:solidFill>
              <a:schemeClr val="bg2"/>
            </a:solidFill>
          </a:ln>
        </p:spPr>
        <p:txBody>
          <a:bodyPr wrap="square" lIns="1016" tIns="1016" rIns="1016" bIns="1016" rtlCol="0" anchor="ctr"/>
          <a:lstStyle/>
          <a:p>
            <a:pPr indent="0" marL="0">
              <a:buNone/>
            </a:pPr>
            <a:r>
              <a:rPr lang="en-US" sz="1100" dirty="0">
                <a:solidFill>
                  <a:schemeClr val="tx1"/>
                </a:solidFill>
                <a:latin typeface="Courier New" pitchFamily="34" charset="0"/>
                <a:ea typeface="Courier New" pitchFamily="34" charset="-122"/>
                <a:cs typeface="Courier New" pitchFamily="34" charset="-120"/>
              </a:rPr>
              <a:t>Random Forest, LSTM</a:t>
            </a:r>
            <a:endParaRPr lang="en-US" sz="1100" dirty="0"/>
          </a:p>
        </p:txBody>
      </p:sp>
      <p:sp>
        <p:nvSpPr>
          <p:cNvPr id="18" name="pill-59"/>
          <p:cNvSpPr txBox="1"/>
          <p:nvPr/>
        </p:nvSpPr>
        <p:spPr>
          <a:xfrm>
            <a:off x="411480" y="4005072"/>
            <a:ext cx="1874520" cy="365760"/>
          </a:xfrm>
          <a:prstGeom prst="roundRect">
            <a:avLst>
              <a:gd name="adj" fmla="val 45000"/>
            </a:avLst>
          </a:prstGeom>
          <a:solidFill>
            <a:schemeClr val="accent3"/>
          </a:solidFill>
          <a:ln>
            <a:solidFill>
              <a:schemeClr val="accent3"/>
            </a:solidFill>
          </a:ln>
        </p:spPr>
        <p:txBody>
          <a:bodyPr wrap="square" lIns="254" tIns="254" rIns="254" bIns="254" rtlCol="0" anchor="ctr"/>
          <a:lstStyle/>
          <a:p>
            <a:pPr algn="ctr" indent="0" marL="0">
              <a:buNone/>
            </a:pPr>
            <a:r>
              <a:rPr lang="en-US" sz="1200" b="1" dirty="0">
                <a:solidFill>
                  <a:schemeClr val="bg1"/>
                </a:solidFill>
              </a:rPr>
              <a:t>Label-free</a:t>
            </a:r>
            <a:endParaRPr lang="en-US" sz="1200" dirty="0"/>
          </a:p>
        </p:txBody>
      </p:sp>
      <p:sp>
        <p:nvSpPr>
          <p:cNvPr id="19" name="text-60"/>
          <p:cNvSpPr txBox="1"/>
          <p:nvPr/>
        </p:nvSpPr>
        <p:spPr>
          <a:xfrm>
            <a:off x="2423160" y="4023360"/>
            <a:ext cx="2743200" cy="347472"/>
          </a:xfrm>
          <a:prstGeom prst="rect">
            <a:avLst/>
          </a:prstGeom>
          <a:noFill/>
          <a:ln/>
        </p:spPr>
        <p:txBody>
          <a:bodyPr wrap="square" lIns="0" tIns="0" rIns="0" bIns="0" rtlCol="0" anchor="ctr"/>
          <a:lstStyle/>
          <a:p>
            <a:pPr indent="0" marL="0">
              <a:buNone/>
            </a:pPr>
            <a:r>
              <a:rPr lang="en-US" sz="1400" dirty="0">
                <a:solidFill>
                  <a:schemeClr val="tx1"/>
                </a:solidFill>
              </a:rPr>
              <a:t>never sees a “lost” tag</a:t>
            </a:r>
            <a:endParaRPr lang="en-US" sz="1400" dirty="0"/>
          </a:p>
        </p:txBody>
      </p:sp>
      <p:sp>
        <p:nvSpPr>
          <p:cNvPr id="20" name="code-61"/>
          <p:cNvSpPr txBox="1"/>
          <p:nvPr/>
        </p:nvSpPr>
        <p:spPr>
          <a:xfrm>
            <a:off x="5257800" y="3986784"/>
            <a:ext cx="3474720" cy="402336"/>
          </a:xfrm>
          <a:prstGeom prst="roundRect">
            <a:avLst>
              <a:gd name="adj" fmla="val 11364"/>
            </a:avLst>
          </a:prstGeom>
          <a:solidFill>
            <a:schemeClr val="bg2"/>
          </a:solidFill>
          <a:ln>
            <a:solidFill>
              <a:schemeClr val="bg2"/>
            </a:solidFill>
          </a:ln>
        </p:spPr>
        <p:txBody>
          <a:bodyPr wrap="square" lIns="1016" tIns="1016" rIns="1016" bIns="1016" rtlCol="0" anchor="ctr"/>
          <a:lstStyle/>
          <a:p>
            <a:pPr indent="0" marL="0">
              <a:buNone/>
            </a:pPr>
            <a:r>
              <a:rPr lang="en-US" sz="1100" dirty="0">
                <a:solidFill>
                  <a:schemeClr val="tx1"/>
                </a:solidFill>
                <a:latin typeface="Courier New" pitchFamily="34" charset="0"/>
                <a:ea typeface="Courier New" pitchFamily="34" charset="-122"/>
                <a:cs typeface="Courier New" pitchFamily="34" charset="-120"/>
              </a:rPr>
              <a:t>Isolation Forest, DeepLog</a:t>
            </a:r>
            <a:endParaRPr lang="en-US" sz="1100" dirty="0"/>
          </a:p>
        </p:txBody>
      </p:sp>
      <p:sp>
        <p:nvSpPr>
          <p:cNvPr id="25" name="Slide Number Placeholder 0"/>
          <p:cNvSpPr>
            <a:spLocks noGrp="1"/>
          </p:cNvSpPr>
          <p:nvPr>
            <p:ph type="sldNum" sz="quarter" idx="4294967295"/>
          </p:nvPr>
        </p:nvSpPr>
        <p:spPr>
          <a:xfrm>
            <a:off x="8412480" y="4800600"/>
            <a:ext cx="41148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11480" y="256032"/>
            <a:ext cx="6903720" cy="502920"/>
          </a:xfrm>
          <a:prstGeom prst="rect">
            <a:avLst/>
          </a:prstGeom>
          <a:noFill/>
          <a:ln/>
        </p:spPr>
        <p:txBody>
          <a:bodyPr wrap="square" lIns="0" tIns="0" rIns="0" bIns="0" rtlCol="0" anchor="ctr"/>
          <a:lstStyle/>
          <a:p>
            <a:pPr algn="l" indent="0" marL="0">
              <a:buNone/>
            </a:pPr>
            <a:r>
              <a:rPr lang="en-US" sz="2400" dirty="0">
                <a:solidFill>
                  <a:schemeClr val="tx1"/>
                </a:solidFill>
                <a:latin typeface="Bookman Old Style" pitchFamily="34" charset="0"/>
                <a:ea typeface="Bookman Old Style" pitchFamily="34" charset="-122"/>
                <a:cs typeface="Bookman Old Style" pitchFamily="34" charset="-120"/>
              </a:rPr>
              <a:t>Your turn!</a:t>
            </a:r>
            <a:endParaRPr lang="en-US" sz="2400" dirty="0"/>
          </a:p>
        </p:txBody>
      </p:sp>
      <p:sp>
        <p:nvSpPr>
          <p:cNvPr id="3" name="text-62"/>
          <p:cNvSpPr txBox="1"/>
          <p:nvPr/>
        </p:nvSpPr>
        <p:spPr>
          <a:xfrm>
            <a:off x="411480" y="914400"/>
            <a:ext cx="8321040" cy="274320"/>
          </a:xfrm>
          <a:prstGeom prst="rect">
            <a:avLst/>
          </a:prstGeom>
          <a:noFill/>
          <a:ln/>
        </p:spPr>
        <p:txBody>
          <a:bodyPr wrap="square" lIns="635" tIns="635" rIns="635" bIns="635" rtlCol="0" anchor="t"/>
          <a:lstStyle/>
          <a:p>
            <a:pPr indent="0" marL="0">
              <a:buNone/>
            </a:pPr>
            <a:r>
              <a:rPr lang="en-US" sz="1500" b="1" dirty="0">
                <a:solidFill>
                  <a:schemeClr val="tx1"/>
                </a:solidFill>
              </a:rPr>
              <a:t>1. Which template does this real line become?</a:t>
            </a:r>
            <a:endParaRPr lang="en-US" sz="1500" dirty="0"/>
          </a:p>
        </p:txBody>
      </p:sp>
      <p:sp>
        <p:nvSpPr>
          <p:cNvPr id="4" name="code-63"/>
          <p:cNvSpPr txBox="1"/>
          <p:nvPr/>
        </p:nvSpPr>
        <p:spPr>
          <a:xfrm>
            <a:off x="411480" y="1261872"/>
            <a:ext cx="8321040" cy="411480"/>
          </a:xfrm>
          <a:prstGeom prst="roundRect">
            <a:avLst>
              <a:gd name="adj" fmla="val 11111"/>
            </a:avLst>
          </a:prstGeom>
          <a:solidFill>
            <a:schemeClr val="bg2"/>
          </a:solidFill>
          <a:ln>
            <a:solidFill>
              <a:schemeClr val="bg2"/>
            </a:solidFill>
          </a:ln>
        </p:spPr>
        <p:txBody>
          <a:bodyPr wrap="square" lIns="1016" tIns="1016" rIns="1016" bIns="1016"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Received block blk_3796613345934950050 of size 67108864 from /10.251.74.79</a:t>
            </a:r>
            <a:endParaRPr lang="en-US" sz="1200" dirty="0"/>
          </a:p>
        </p:txBody>
      </p:sp>
      <p:sp>
        <p:nvSpPr>
          <p:cNvPr id="5" name="answer-box-64"/>
          <p:cNvSpPr/>
          <p:nvPr/>
        </p:nvSpPr>
        <p:spPr>
          <a:xfrm>
            <a:off x="411480" y="1764792"/>
            <a:ext cx="4206240" cy="384048"/>
          </a:xfrm>
          <a:prstGeom prst="roundRect">
            <a:avLst>
              <a:gd name="adj" fmla="val 19048"/>
            </a:avLst>
          </a:prstGeom>
          <a:solidFill>
            <a:schemeClr val="bg1"/>
          </a:solidFill>
          <a:ln w="12700">
            <a:solidFill>
              <a:schemeClr val="tx2"/>
            </a:solidFill>
            <a:prstDash val="dash"/>
          </a:ln>
        </p:spPr>
      </p:sp>
      <p:sp>
        <p:nvSpPr>
          <p:cNvPr id="6" name="answer-65"/>
          <p:cNvSpPr txBox="1"/>
          <p:nvPr/>
        </p:nvSpPr>
        <p:spPr>
          <a:xfrm rot="10800000">
            <a:off x="484632" y="1810512"/>
            <a:ext cx="4059936" cy="292608"/>
          </a:xfrm>
          <a:prstGeom prst="rect">
            <a:avLst/>
          </a:prstGeom>
          <a:noFill/>
          <a:ln/>
        </p:spPr>
        <p:txBody>
          <a:bodyPr wrap="square" lIns="0" tIns="0" rIns="0" bIns="0" rtlCol="0" anchor="ctr"/>
          <a:lstStyle/>
          <a:p>
            <a:pPr algn="l" indent="0" marL="0">
              <a:buNone/>
            </a:pPr>
            <a:r>
              <a:rPr lang="en-US" sz="1200" i="1" dirty="0">
                <a:solidFill>
                  <a:schemeClr val="tx2"/>
                </a:solidFill>
              </a:rPr>
              <a:t>Received block &lt;*&gt; of size &lt;*&gt; from &lt;*&gt;</a:t>
            </a:r>
            <a:endParaRPr lang="en-US" sz="1200" dirty="0"/>
          </a:p>
        </p:txBody>
      </p:sp>
      <p:sp>
        <p:nvSpPr>
          <p:cNvPr id="7" name="text-66"/>
          <p:cNvSpPr txBox="1"/>
          <p:nvPr/>
        </p:nvSpPr>
        <p:spPr>
          <a:xfrm>
            <a:off x="411480" y="2514600"/>
            <a:ext cx="8321040" cy="274320"/>
          </a:xfrm>
          <a:prstGeom prst="rect">
            <a:avLst/>
          </a:prstGeom>
          <a:noFill/>
          <a:ln/>
        </p:spPr>
        <p:txBody>
          <a:bodyPr wrap="square" lIns="635" tIns="635" rIns="635" bIns="635" rtlCol="0" anchor="t"/>
          <a:lstStyle/>
          <a:p>
            <a:pPr indent="0" marL="0">
              <a:buNone/>
            </a:pPr>
            <a:r>
              <a:rPr lang="en-US" sz="1500" b="1" dirty="0">
                <a:solidFill>
                  <a:schemeClr val="tx1"/>
                </a:solidFill>
              </a:rPr>
              <a:t>2. MiniHDFS block #4 is  R R A .  What is its MCV [R A P D S E]?  Normal or not?</a:t>
            </a:r>
            <a:endParaRPr lang="en-US" sz="1500" dirty="0"/>
          </a:p>
        </p:txBody>
      </p:sp>
      <p:sp>
        <p:nvSpPr>
          <p:cNvPr id="8" name="code-67"/>
          <p:cNvSpPr txBox="1"/>
          <p:nvPr/>
        </p:nvSpPr>
        <p:spPr>
          <a:xfrm>
            <a:off x="411480" y="2862072"/>
            <a:ext cx="1645920" cy="411480"/>
          </a:xfrm>
          <a:prstGeom prst="roundRect">
            <a:avLst>
              <a:gd name="adj" fmla="val 11111"/>
            </a:avLst>
          </a:prstGeom>
          <a:solidFill>
            <a:schemeClr val="bg2"/>
          </a:solidFill>
          <a:ln>
            <a:solidFill>
              <a:schemeClr val="bg2"/>
            </a:solidFill>
          </a:ln>
        </p:spPr>
        <p:txBody>
          <a:bodyPr wrap="square" lIns="1016" tIns="1016" rIns="1016" bIns="1016" rtlCol="0" anchor="ctr"/>
          <a:lstStyle/>
          <a:p>
            <a:pPr indent="0" marL="0">
              <a:buNone/>
            </a:pPr>
            <a:r>
              <a:rPr lang="en-US" sz="1400" b="1" dirty="0">
                <a:solidFill>
                  <a:schemeClr val="accent5"/>
                </a:solidFill>
                <a:latin typeface="Courier New" pitchFamily="34" charset="0"/>
                <a:ea typeface="Courier New" pitchFamily="34" charset="-122"/>
                <a:cs typeface="Courier New" pitchFamily="34" charset="-120"/>
              </a:rPr>
              <a:t>R R A</a:t>
            </a:r>
            <a:endParaRPr lang="en-US" sz="1400" dirty="0"/>
          </a:p>
        </p:txBody>
      </p:sp>
      <p:sp>
        <p:nvSpPr>
          <p:cNvPr id="9" name="answer-box-68"/>
          <p:cNvSpPr/>
          <p:nvPr/>
        </p:nvSpPr>
        <p:spPr>
          <a:xfrm>
            <a:off x="411480" y="3364992"/>
            <a:ext cx="5486400" cy="384048"/>
          </a:xfrm>
          <a:prstGeom prst="roundRect">
            <a:avLst>
              <a:gd name="adj" fmla="val 19048"/>
            </a:avLst>
          </a:prstGeom>
          <a:solidFill>
            <a:schemeClr val="bg1"/>
          </a:solidFill>
          <a:ln w="12700">
            <a:solidFill>
              <a:schemeClr val="tx2"/>
            </a:solidFill>
            <a:prstDash val="dash"/>
          </a:ln>
        </p:spPr>
      </p:sp>
      <p:sp>
        <p:nvSpPr>
          <p:cNvPr id="10" name="answer-69"/>
          <p:cNvSpPr txBox="1"/>
          <p:nvPr/>
        </p:nvSpPr>
        <p:spPr>
          <a:xfrm rot="10800000">
            <a:off x="484632" y="3410712"/>
            <a:ext cx="5340096" cy="292608"/>
          </a:xfrm>
          <a:prstGeom prst="rect">
            <a:avLst/>
          </a:prstGeom>
          <a:noFill/>
          <a:ln/>
        </p:spPr>
        <p:txBody>
          <a:bodyPr wrap="square" lIns="0" tIns="0" rIns="0" bIns="0" rtlCol="0" anchor="ctr"/>
          <a:lstStyle/>
          <a:p>
            <a:pPr algn="l" indent="0" marL="0">
              <a:buNone/>
            </a:pPr>
            <a:r>
              <a:rPr lang="en-US" sz="1200" i="1" dirty="0">
                <a:solidFill>
                  <a:schemeClr val="tx2"/>
                </a:solidFill>
              </a:rPr>
              <a:t>[2 1 0 0 0 0]. Anomaly: no P at all, the write never finished (like block B).</a:t>
            </a:r>
            <a:endParaRPr lang="en-US" sz="1200" dirty="0"/>
          </a:p>
        </p:txBody>
      </p:sp>
      <p:pic>
        <p:nvPicPr>
          <p:cNvPr id="11" name="q-70" descr="preencoded.png">    </p:cNvPr>
          <p:cNvPicPr>
            <a:picLocks noChangeAspect="1"/>
          </p:cNvPicPr>
          <p:nvPr/>
        </p:nvPicPr>
        <p:blipFill>
          <a:blip r:embed="rId1"/>
          <a:stretch>
            <a:fillRect/>
          </a:stretch>
        </p:blipFill>
        <p:spPr>
          <a:xfrm>
            <a:off x="8001000" y="3566160"/>
            <a:ext cx="685800" cy="685800"/>
          </a:xfrm>
          <a:prstGeom prst="rect">
            <a:avLst/>
          </a:prstGeom>
        </p:spPr>
      </p:pic>
      <p:sp>
        <p:nvSpPr>
          <p:cNvPr id="25" name="Slide Number Placeholder 0"/>
          <p:cNvSpPr>
            <a:spLocks noGrp="1"/>
          </p:cNvSpPr>
          <p:nvPr>
            <p:ph type="sldNum" sz="quarter" idx="4294967295"/>
          </p:nvPr>
        </p:nvSpPr>
        <p:spPr>
          <a:xfrm>
            <a:off x="8412480" y="4800600"/>
            <a:ext cx="41148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11480" y="256032"/>
            <a:ext cx="6903720" cy="502920"/>
          </a:xfrm>
          <a:prstGeom prst="rect">
            <a:avLst/>
          </a:prstGeom>
          <a:noFill/>
          <a:ln/>
        </p:spPr>
        <p:txBody>
          <a:bodyPr wrap="square" lIns="0" tIns="0" rIns="0" bIns="0" rtlCol="0" anchor="ctr"/>
          <a:lstStyle/>
          <a:p>
            <a:pPr algn="l" indent="0" marL="0">
              <a:buNone/>
            </a:pPr>
            <a:r>
              <a:rPr lang="en-US" sz="2400" dirty="0">
                <a:solidFill>
                  <a:schemeClr val="tx1"/>
                </a:solidFill>
                <a:latin typeface="Bookman Old Style" pitchFamily="34" charset="0"/>
                <a:ea typeface="Bookman Old Style" pitchFamily="34" charset="-122"/>
                <a:cs typeface="Bookman Old Style" pitchFamily="34" charset="-120"/>
              </a:rPr>
              <a:t>MiniHDFS's diary: three blocks, three rows</a:t>
            </a:r>
            <a:endParaRPr lang="en-US" sz="2400" dirty="0"/>
          </a:p>
        </p:txBody>
      </p:sp>
      <p:sp>
        <p:nvSpPr>
          <p:cNvPr id="3" name="text-71"/>
          <p:cNvSpPr txBox="1"/>
          <p:nvPr/>
        </p:nvSpPr>
        <p:spPr>
          <a:xfrm>
            <a:off x="411480" y="914400"/>
            <a:ext cx="548640" cy="228600"/>
          </a:xfrm>
          <a:prstGeom prst="rect">
            <a:avLst/>
          </a:prstGeom>
          <a:noFill/>
          <a:ln/>
        </p:spPr>
        <p:txBody>
          <a:bodyPr wrap="square" lIns="0" tIns="0" rIns="0" bIns="0" rtlCol="0" anchor="t"/>
          <a:lstStyle/>
          <a:p>
            <a:pPr indent="0" marL="0">
              <a:buNone/>
            </a:pPr>
            <a:r>
              <a:rPr lang="en-US" sz="1100" b="1" dirty="0">
                <a:solidFill>
                  <a:schemeClr val="tx2"/>
                </a:solidFill>
              </a:rPr>
              <a:t>block</a:t>
            </a:r>
            <a:endParaRPr lang="en-US" sz="1100" dirty="0"/>
          </a:p>
        </p:txBody>
      </p:sp>
      <p:sp>
        <p:nvSpPr>
          <p:cNvPr id="4" name="text-72"/>
          <p:cNvSpPr txBox="1"/>
          <p:nvPr/>
        </p:nvSpPr>
        <p:spPr>
          <a:xfrm>
            <a:off x="1005840" y="914400"/>
            <a:ext cx="3291840" cy="228600"/>
          </a:xfrm>
          <a:prstGeom prst="rect">
            <a:avLst/>
          </a:prstGeom>
          <a:noFill/>
          <a:ln/>
        </p:spPr>
        <p:txBody>
          <a:bodyPr wrap="square" lIns="0" tIns="0" rIns="0" bIns="0" rtlCol="0" anchor="t"/>
          <a:lstStyle/>
          <a:p>
            <a:pPr indent="0" marL="0">
              <a:buNone/>
            </a:pPr>
            <a:r>
              <a:rPr lang="en-US" sz="1100" b="1" dirty="0">
                <a:solidFill>
                  <a:schemeClr val="tx2"/>
                </a:solidFill>
              </a:rPr>
              <a:t>event sequence (input)</a:t>
            </a:r>
            <a:endParaRPr lang="en-US" sz="1100" dirty="0"/>
          </a:p>
        </p:txBody>
      </p:sp>
      <p:sp>
        <p:nvSpPr>
          <p:cNvPr id="5" name="text-73"/>
          <p:cNvSpPr txBox="1"/>
          <p:nvPr/>
        </p:nvSpPr>
        <p:spPr>
          <a:xfrm>
            <a:off x="4434840" y="914400"/>
            <a:ext cx="1920240" cy="228600"/>
          </a:xfrm>
          <a:prstGeom prst="rect">
            <a:avLst/>
          </a:prstGeom>
          <a:noFill/>
          <a:ln/>
        </p:spPr>
        <p:txBody>
          <a:bodyPr wrap="square" lIns="0" tIns="0" rIns="0" bIns="0" rtlCol="0" anchor="t"/>
          <a:lstStyle/>
          <a:p>
            <a:pPr indent="0" marL="0">
              <a:buNone/>
            </a:pPr>
            <a:r>
              <a:rPr lang="en-US" sz="1100" b="1" dirty="0">
                <a:solidFill>
                  <a:schemeClr val="tx2"/>
                </a:solidFill>
              </a:rPr>
              <a:t>MCV [R A P D S E]</a:t>
            </a:r>
            <a:endParaRPr lang="en-US" sz="1100" dirty="0"/>
          </a:p>
        </p:txBody>
      </p:sp>
      <p:sp>
        <p:nvSpPr>
          <p:cNvPr id="6" name="text-74"/>
          <p:cNvSpPr txBox="1"/>
          <p:nvPr/>
        </p:nvSpPr>
        <p:spPr>
          <a:xfrm>
            <a:off x="6537960" y="914400"/>
            <a:ext cx="1097280" cy="228600"/>
          </a:xfrm>
          <a:prstGeom prst="rect">
            <a:avLst/>
          </a:prstGeom>
          <a:noFill/>
          <a:ln/>
        </p:spPr>
        <p:txBody>
          <a:bodyPr wrap="square" lIns="0" tIns="0" rIns="0" bIns="0" rtlCol="0" anchor="t"/>
          <a:lstStyle/>
          <a:p>
            <a:pPr indent="0" marL="0">
              <a:buNone/>
            </a:pPr>
            <a:r>
              <a:rPr lang="en-US" sz="1100" b="1" dirty="0">
                <a:solidFill>
                  <a:schemeClr val="tx2"/>
                </a:solidFill>
              </a:rPr>
              <a:t>label</a:t>
            </a:r>
            <a:endParaRPr lang="en-US" sz="1100" dirty="0"/>
          </a:p>
        </p:txBody>
      </p:sp>
      <p:sp>
        <p:nvSpPr>
          <p:cNvPr id="7" name="text-75"/>
          <p:cNvSpPr txBox="1"/>
          <p:nvPr/>
        </p:nvSpPr>
        <p:spPr>
          <a:xfrm>
            <a:off x="411480" y="1280160"/>
            <a:ext cx="548640" cy="365760"/>
          </a:xfrm>
          <a:prstGeom prst="rect">
            <a:avLst/>
          </a:prstGeom>
          <a:noFill/>
          <a:ln/>
        </p:spPr>
        <p:txBody>
          <a:bodyPr wrap="square" lIns="0" tIns="0" rIns="0" bIns="0" rtlCol="0" anchor="t"/>
          <a:lstStyle/>
          <a:p>
            <a:pPr indent="0" marL="0">
              <a:buNone/>
            </a:pPr>
            <a:r>
              <a:rPr lang="en-US" sz="1800" b="1" dirty="0">
                <a:solidFill>
                  <a:schemeClr val="accent5"/>
                </a:solidFill>
              </a:rPr>
              <a:t>#1</a:t>
            </a:r>
            <a:endParaRPr lang="en-US" sz="1800" dirty="0"/>
          </a:p>
        </p:txBody>
      </p:sp>
      <p:sp>
        <p:nvSpPr>
          <p:cNvPr id="8" name="code-76"/>
          <p:cNvSpPr txBox="1"/>
          <p:nvPr/>
        </p:nvSpPr>
        <p:spPr>
          <a:xfrm>
            <a:off x="1005840" y="1207008"/>
            <a:ext cx="3291840" cy="475488"/>
          </a:xfrm>
          <a:prstGeom prst="roundRect">
            <a:avLst>
              <a:gd name="adj" fmla="val 9615"/>
            </a:avLst>
          </a:prstGeom>
          <a:solidFill>
            <a:schemeClr val="bg2"/>
          </a:solidFill>
          <a:ln>
            <a:solidFill>
              <a:schemeClr val="bg2"/>
            </a:solidFill>
          </a:ln>
        </p:spPr>
        <p:txBody>
          <a:bodyPr wrap="square" lIns="1016" tIns="1016" rIns="1016" bIns="1016"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R R R A P D P D P D S S S</a:t>
            </a:r>
            <a:endParaRPr lang="en-US" sz="1300" dirty="0"/>
          </a:p>
        </p:txBody>
      </p:sp>
      <p:sp>
        <p:nvSpPr>
          <p:cNvPr id="9" name="code-77"/>
          <p:cNvSpPr txBox="1"/>
          <p:nvPr/>
        </p:nvSpPr>
        <p:spPr>
          <a:xfrm>
            <a:off x="4434840" y="1207008"/>
            <a:ext cx="1920240" cy="475488"/>
          </a:xfrm>
          <a:prstGeom prst="roundRect">
            <a:avLst>
              <a:gd name="adj" fmla="val 9615"/>
            </a:avLst>
          </a:prstGeom>
          <a:solidFill>
            <a:schemeClr val="bg2"/>
          </a:solidFill>
          <a:ln>
            <a:solidFill>
              <a:schemeClr val="bg2"/>
            </a:solidFill>
          </a:ln>
        </p:spPr>
        <p:txBody>
          <a:bodyPr wrap="square" lIns="1016" tIns="1016" rIns="1016" bIns="1016"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[3 1 3 3 3 0]</a:t>
            </a:r>
            <a:endParaRPr lang="en-US" sz="1300" dirty="0"/>
          </a:p>
        </p:txBody>
      </p:sp>
      <p:sp>
        <p:nvSpPr>
          <p:cNvPr id="10" name="pill-78"/>
          <p:cNvSpPr txBox="1"/>
          <p:nvPr/>
        </p:nvSpPr>
        <p:spPr>
          <a:xfrm>
            <a:off x="6537960" y="1280160"/>
            <a:ext cx="1051560" cy="329184"/>
          </a:xfrm>
          <a:prstGeom prst="roundRect">
            <a:avLst>
              <a:gd name="adj" fmla="val 50000"/>
            </a:avLst>
          </a:prstGeom>
          <a:solidFill>
            <a:schemeClr val="tx2"/>
          </a:solidFill>
          <a:ln>
            <a:solidFill>
              <a:schemeClr val="tx2"/>
            </a:solidFill>
          </a:ln>
        </p:spPr>
        <p:txBody>
          <a:bodyPr wrap="square" lIns="254" tIns="254" rIns="254" bIns="254" rtlCol="0" anchor="ctr"/>
          <a:lstStyle/>
          <a:p>
            <a:pPr algn="ctr" indent="0" marL="0">
              <a:buNone/>
            </a:pPr>
            <a:r>
              <a:rPr lang="en-US" sz="1200" b="1" dirty="0">
                <a:solidFill>
                  <a:schemeClr val="bg1"/>
                </a:solidFill>
              </a:rPr>
              <a:t>normal</a:t>
            </a:r>
            <a:endParaRPr lang="en-US" sz="1200" dirty="0"/>
          </a:p>
        </p:txBody>
      </p:sp>
      <p:sp>
        <p:nvSpPr>
          <p:cNvPr id="11" name="text-79"/>
          <p:cNvSpPr txBox="1"/>
          <p:nvPr/>
        </p:nvSpPr>
        <p:spPr>
          <a:xfrm>
            <a:off x="1005840" y="1709928"/>
            <a:ext cx="5486400" cy="219456"/>
          </a:xfrm>
          <a:prstGeom prst="rect">
            <a:avLst/>
          </a:prstGeom>
          <a:noFill/>
          <a:ln/>
        </p:spPr>
        <p:txBody>
          <a:bodyPr wrap="square" lIns="0" tIns="0" rIns="0" bIns="0" rtlCol="0" anchor="t"/>
          <a:lstStyle/>
          <a:p>
            <a:pPr indent="0" marL="0">
              <a:buNone/>
            </a:pPr>
            <a:r>
              <a:rPr lang="en-US" sz="1100" i="1" dirty="0">
                <a:solidFill>
                  <a:schemeClr val="tx2"/>
                </a:solidFill>
              </a:rPr>
              <a:t>all 3 copies finished</a:t>
            </a:r>
            <a:endParaRPr lang="en-US" sz="1100" dirty="0"/>
          </a:p>
        </p:txBody>
      </p:sp>
      <p:sp>
        <p:nvSpPr>
          <p:cNvPr id="12" name="text-80"/>
          <p:cNvSpPr txBox="1"/>
          <p:nvPr/>
        </p:nvSpPr>
        <p:spPr>
          <a:xfrm>
            <a:off x="411480" y="2057400"/>
            <a:ext cx="548640" cy="365760"/>
          </a:xfrm>
          <a:prstGeom prst="rect">
            <a:avLst/>
          </a:prstGeom>
          <a:noFill/>
          <a:ln/>
        </p:spPr>
        <p:txBody>
          <a:bodyPr wrap="square" lIns="0" tIns="0" rIns="0" bIns="0" rtlCol="0" anchor="t"/>
          <a:lstStyle/>
          <a:p>
            <a:pPr indent="0" marL="0">
              <a:buNone/>
            </a:pPr>
            <a:r>
              <a:rPr lang="en-US" sz="1800" b="1" dirty="0">
                <a:solidFill>
                  <a:schemeClr val="accent5"/>
                </a:solidFill>
              </a:rPr>
              <a:t>#2</a:t>
            </a:r>
            <a:endParaRPr lang="en-US" sz="1800" dirty="0"/>
          </a:p>
        </p:txBody>
      </p:sp>
      <p:sp>
        <p:nvSpPr>
          <p:cNvPr id="13" name="code-81"/>
          <p:cNvSpPr txBox="1"/>
          <p:nvPr/>
        </p:nvSpPr>
        <p:spPr>
          <a:xfrm>
            <a:off x="1005840" y="1984248"/>
            <a:ext cx="3291840" cy="475488"/>
          </a:xfrm>
          <a:prstGeom prst="roundRect">
            <a:avLst>
              <a:gd name="adj" fmla="val 9615"/>
            </a:avLst>
          </a:prstGeom>
          <a:solidFill>
            <a:schemeClr val="bg2"/>
          </a:solidFill>
          <a:ln>
            <a:solidFill>
              <a:schemeClr val="bg2"/>
            </a:solidFill>
          </a:ln>
        </p:spPr>
        <p:txBody>
          <a:bodyPr wrap="square" lIns="1016" tIns="1016" rIns="1016" bIns="1016"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R A</a:t>
            </a:r>
            <a:endParaRPr lang="en-US" sz="1300" dirty="0"/>
          </a:p>
        </p:txBody>
      </p:sp>
      <p:sp>
        <p:nvSpPr>
          <p:cNvPr id="14" name="code-82"/>
          <p:cNvSpPr txBox="1"/>
          <p:nvPr/>
        </p:nvSpPr>
        <p:spPr>
          <a:xfrm>
            <a:off x="4434840" y="1984248"/>
            <a:ext cx="1920240" cy="475488"/>
          </a:xfrm>
          <a:prstGeom prst="roundRect">
            <a:avLst>
              <a:gd name="adj" fmla="val 9615"/>
            </a:avLst>
          </a:prstGeom>
          <a:solidFill>
            <a:schemeClr val="bg2"/>
          </a:solidFill>
          <a:ln>
            <a:solidFill>
              <a:schemeClr val="bg2"/>
            </a:solidFill>
          </a:ln>
        </p:spPr>
        <p:txBody>
          <a:bodyPr wrap="square" lIns="1016" tIns="1016" rIns="1016" bIns="1016" rtlCol="0" anchor="ctr"/>
          <a:lstStyle/>
          <a:p>
            <a:pPr indent="0" marL="0">
              <a:buNone/>
            </a:pPr>
            <a:r>
              <a:rPr lang="en-US" sz="1300" b="1" dirty="0">
                <a:solidFill>
                  <a:schemeClr val="accent6"/>
                </a:solidFill>
                <a:latin typeface="Courier New" pitchFamily="34" charset="0"/>
                <a:ea typeface="Courier New" pitchFamily="34" charset="-122"/>
                <a:cs typeface="Courier New" pitchFamily="34" charset="-120"/>
              </a:rPr>
              <a:t>[1 1 0 0 0 0]</a:t>
            </a:r>
            <a:endParaRPr lang="en-US" sz="1300" dirty="0"/>
          </a:p>
        </p:txBody>
      </p:sp>
      <p:sp>
        <p:nvSpPr>
          <p:cNvPr id="15" name="pill-83"/>
          <p:cNvSpPr txBox="1"/>
          <p:nvPr/>
        </p:nvSpPr>
        <p:spPr>
          <a:xfrm>
            <a:off x="6537960" y="2057400"/>
            <a:ext cx="1051560" cy="329184"/>
          </a:xfrm>
          <a:prstGeom prst="roundRect">
            <a:avLst>
              <a:gd name="adj" fmla="val 50000"/>
            </a:avLst>
          </a:prstGeom>
          <a:solidFill>
            <a:schemeClr val="accent6"/>
          </a:solidFill>
          <a:ln>
            <a:solidFill>
              <a:schemeClr val="accent6"/>
            </a:solidFill>
          </a:ln>
        </p:spPr>
        <p:txBody>
          <a:bodyPr wrap="square" lIns="254" tIns="254" rIns="254" bIns="254" rtlCol="0" anchor="ctr"/>
          <a:lstStyle/>
          <a:p>
            <a:pPr algn="ctr" indent="0" marL="0">
              <a:buNone/>
            </a:pPr>
            <a:r>
              <a:rPr lang="en-US" sz="1200" b="1" dirty="0">
                <a:solidFill>
                  <a:schemeClr val="bg1"/>
                </a:solidFill>
              </a:rPr>
              <a:t>anomaly</a:t>
            </a:r>
            <a:endParaRPr lang="en-US" sz="1200" dirty="0"/>
          </a:p>
        </p:txBody>
      </p:sp>
      <p:sp>
        <p:nvSpPr>
          <p:cNvPr id="16" name="text-84"/>
          <p:cNvSpPr txBox="1"/>
          <p:nvPr/>
        </p:nvSpPr>
        <p:spPr>
          <a:xfrm>
            <a:off x="1005840" y="2487168"/>
            <a:ext cx="5486400" cy="219456"/>
          </a:xfrm>
          <a:prstGeom prst="rect">
            <a:avLst/>
          </a:prstGeom>
          <a:noFill/>
          <a:ln/>
        </p:spPr>
        <p:txBody>
          <a:bodyPr wrap="square" lIns="0" tIns="0" rIns="0" bIns="0" rtlCol="0" anchor="t"/>
          <a:lstStyle/>
          <a:p>
            <a:pPr indent="0" marL="0">
              <a:buNone/>
            </a:pPr>
            <a:r>
              <a:rPr lang="en-US" sz="1100" i="1" dirty="0">
                <a:solidFill>
                  <a:schemeClr val="tx2"/>
                </a:solidFill>
              </a:rPr>
              <a:t>stops early (like block B)</a:t>
            </a:r>
            <a:endParaRPr lang="en-US" sz="1100" dirty="0"/>
          </a:p>
        </p:txBody>
      </p:sp>
      <p:sp>
        <p:nvSpPr>
          <p:cNvPr id="17" name="text-85"/>
          <p:cNvSpPr txBox="1"/>
          <p:nvPr/>
        </p:nvSpPr>
        <p:spPr>
          <a:xfrm>
            <a:off x="411480" y="2834640"/>
            <a:ext cx="548640" cy="365760"/>
          </a:xfrm>
          <a:prstGeom prst="rect">
            <a:avLst/>
          </a:prstGeom>
          <a:noFill/>
          <a:ln/>
        </p:spPr>
        <p:txBody>
          <a:bodyPr wrap="square" lIns="0" tIns="0" rIns="0" bIns="0" rtlCol="0" anchor="t"/>
          <a:lstStyle/>
          <a:p>
            <a:pPr indent="0" marL="0">
              <a:buNone/>
            </a:pPr>
            <a:r>
              <a:rPr lang="en-US" sz="1800" b="1" dirty="0">
                <a:solidFill>
                  <a:schemeClr val="accent5"/>
                </a:solidFill>
              </a:rPr>
              <a:t>#3</a:t>
            </a:r>
            <a:endParaRPr lang="en-US" sz="1800" dirty="0"/>
          </a:p>
        </p:txBody>
      </p:sp>
      <p:sp>
        <p:nvSpPr>
          <p:cNvPr id="18" name="code-86"/>
          <p:cNvSpPr txBox="1"/>
          <p:nvPr/>
        </p:nvSpPr>
        <p:spPr>
          <a:xfrm>
            <a:off x="1005840" y="2761488"/>
            <a:ext cx="3291840" cy="475488"/>
          </a:xfrm>
          <a:prstGeom prst="roundRect">
            <a:avLst>
              <a:gd name="adj" fmla="val 9615"/>
            </a:avLst>
          </a:prstGeom>
          <a:solidFill>
            <a:schemeClr val="bg2"/>
          </a:solidFill>
          <a:ln>
            <a:solidFill>
              <a:schemeClr val="bg2"/>
            </a:solidFill>
          </a:ln>
        </p:spPr>
        <p:txBody>
          <a:bodyPr wrap="square" lIns="1016" tIns="1016" rIns="1016" bIns="1016"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R R A E</a:t>
            </a:r>
            <a:endParaRPr lang="en-US" sz="1300" dirty="0"/>
          </a:p>
        </p:txBody>
      </p:sp>
      <p:sp>
        <p:nvSpPr>
          <p:cNvPr id="19" name="code-87"/>
          <p:cNvSpPr txBox="1"/>
          <p:nvPr/>
        </p:nvSpPr>
        <p:spPr>
          <a:xfrm>
            <a:off x="4434840" y="2761488"/>
            <a:ext cx="1920240" cy="475488"/>
          </a:xfrm>
          <a:prstGeom prst="roundRect">
            <a:avLst>
              <a:gd name="adj" fmla="val 9615"/>
            </a:avLst>
          </a:prstGeom>
          <a:solidFill>
            <a:schemeClr val="bg2"/>
          </a:solidFill>
          <a:ln>
            <a:solidFill>
              <a:schemeClr val="bg2"/>
            </a:solidFill>
          </a:ln>
        </p:spPr>
        <p:txBody>
          <a:bodyPr wrap="square" lIns="1016" tIns="1016" rIns="1016" bIns="1016" rtlCol="0" anchor="ctr"/>
          <a:lstStyle/>
          <a:p>
            <a:pPr indent="0" marL="0">
              <a:buNone/>
            </a:pPr>
            <a:r>
              <a:rPr lang="en-US" sz="1300" b="1" dirty="0">
                <a:solidFill>
                  <a:schemeClr val="accent6"/>
                </a:solidFill>
                <a:latin typeface="Courier New" pitchFamily="34" charset="0"/>
                <a:ea typeface="Courier New" pitchFamily="34" charset="-122"/>
                <a:cs typeface="Courier New" pitchFamily="34" charset="-120"/>
              </a:rPr>
              <a:t>[2 1 0 0 0 1]</a:t>
            </a:r>
            <a:endParaRPr lang="en-US" sz="1300" dirty="0"/>
          </a:p>
        </p:txBody>
      </p:sp>
      <p:sp>
        <p:nvSpPr>
          <p:cNvPr id="20" name="pill-88"/>
          <p:cNvSpPr txBox="1"/>
          <p:nvPr/>
        </p:nvSpPr>
        <p:spPr>
          <a:xfrm>
            <a:off x="6537960" y="2834640"/>
            <a:ext cx="1051560" cy="329184"/>
          </a:xfrm>
          <a:prstGeom prst="roundRect">
            <a:avLst>
              <a:gd name="adj" fmla="val 50000"/>
            </a:avLst>
          </a:prstGeom>
          <a:solidFill>
            <a:schemeClr val="accent6"/>
          </a:solidFill>
          <a:ln>
            <a:solidFill>
              <a:schemeClr val="accent6"/>
            </a:solidFill>
          </a:ln>
        </p:spPr>
        <p:txBody>
          <a:bodyPr wrap="square" lIns="254" tIns="254" rIns="254" bIns="254" rtlCol="0" anchor="ctr"/>
          <a:lstStyle/>
          <a:p>
            <a:pPr algn="ctr" indent="0" marL="0">
              <a:buNone/>
            </a:pPr>
            <a:r>
              <a:rPr lang="en-US" sz="1200" b="1" dirty="0">
                <a:solidFill>
                  <a:schemeClr val="bg1"/>
                </a:solidFill>
              </a:rPr>
              <a:t>anomaly</a:t>
            </a:r>
            <a:endParaRPr lang="en-US" sz="1200" dirty="0"/>
          </a:p>
        </p:txBody>
      </p:sp>
      <p:sp>
        <p:nvSpPr>
          <p:cNvPr id="21" name="text-89"/>
          <p:cNvSpPr txBox="1"/>
          <p:nvPr/>
        </p:nvSpPr>
        <p:spPr>
          <a:xfrm>
            <a:off x="1005840" y="3264408"/>
            <a:ext cx="5486400" cy="219456"/>
          </a:xfrm>
          <a:prstGeom prst="rect">
            <a:avLst/>
          </a:prstGeom>
          <a:noFill/>
          <a:ln/>
        </p:spPr>
        <p:txBody>
          <a:bodyPr wrap="square" lIns="0" tIns="0" rIns="0" bIns="0" rtlCol="0" anchor="t"/>
          <a:lstStyle/>
          <a:p>
            <a:pPr indent="0" marL="0">
              <a:buNone/>
            </a:pPr>
            <a:r>
              <a:rPr lang="en-US" sz="1100" i="1" dirty="0">
                <a:solidFill>
                  <a:schemeClr val="tx2"/>
                </a:solidFill>
              </a:rPr>
              <a:t>exception, never finishes</a:t>
            </a:r>
            <a:endParaRPr lang="en-US" sz="1100" dirty="0"/>
          </a:p>
        </p:txBody>
      </p:sp>
      <p:sp>
        <p:nvSpPr>
          <p:cNvPr id="22" name="text-90"/>
          <p:cNvSpPr txBox="1"/>
          <p:nvPr/>
        </p:nvSpPr>
        <p:spPr>
          <a:xfrm>
            <a:off x="411480" y="3657600"/>
            <a:ext cx="8321040" cy="502920"/>
          </a:xfrm>
          <a:prstGeom prst="rect">
            <a:avLst/>
          </a:prstGeom>
          <a:noFill/>
          <a:ln/>
        </p:spPr>
        <p:txBody>
          <a:bodyPr wrap="square" lIns="635" tIns="635" rIns="635" bIns="635" rtlCol="0" anchor="t"/>
          <a:lstStyle/>
          <a:p>
            <a:pPr indent="0" marL="0">
              <a:buNone/>
            </a:pPr>
            <a:r>
              <a:rPr lang="en-US" sz="1500" b="1" dirty="0">
                <a:solidFill>
                  <a:schemeClr val="tx1"/>
                </a:solidFill>
              </a:rPr>
              <a:t>Each block = one row of the dataset. The model sees the left part (sequence or counts) and must predict the label.</a:t>
            </a:r>
            <a:endParaRPr lang="en-US" sz="1500" dirty="0"/>
          </a:p>
        </p:txBody>
      </p:sp>
      <p:sp>
        <p:nvSpPr>
          <p:cNvPr id="25" name="Slide Number Placeholder 0"/>
          <p:cNvSpPr>
            <a:spLocks noGrp="1"/>
          </p:cNvSpPr>
          <p:nvPr>
            <p:ph type="sldNum" sz="quarter" idx="4294967295"/>
          </p:nvPr>
        </p:nvSpPr>
        <p:spPr>
          <a:xfrm>
            <a:off x="8412480" y="4800600"/>
            <a:ext cx="41148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11480" y="256032"/>
            <a:ext cx="6903720" cy="502920"/>
          </a:xfrm>
          <a:prstGeom prst="rect">
            <a:avLst/>
          </a:prstGeom>
          <a:noFill/>
          <a:ln/>
        </p:spPr>
        <p:txBody>
          <a:bodyPr wrap="square" lIns="0" tIns="0" rIns="0" bIns="0" rtlCol="0" anchor="ctr"/>
          <a:lstStyle/>
          <a:p>
            <a:pPr algn="l" indent="0" marL="0">
              <a:buNone/>
            </a:pPr>
            <a:r>
              <a:rPr lang="en-US" sz="2400" dirty="0">
                <a:solidFill>
                  <a:schemeClr val="tx1"/>
                </a:solidFill>
                <a:latin typeface="Bookman Old Style" pitchFamily="34" charset="0"/>
                <a:ea typeface="Bookman Old Style" pitchFamily="34" charset="-122"/>
                <a:cs typeface="Bookman Old Style" pitchFamily="34" charset="-120"/>
              </a:rPr>
              <a:t>Scale up: 3 toy blocks → 575,061 real ones</a:t>
            </a:r>
            <a:endParaRPr lang="en-US" sz="2400" dirty="0"/>
          </a:p>
        </p:txBody>
      </p:sp>
      <p:sp>
        <p:nvSpPr>
          <p:cNvPr id="3" name="text-91"/>
          <p:cNvSpPr txBox="1"/>
          <p:nvPr/>
        </p:nvSpPr>
        <p:spPr>
          <a:xfrm>
            <a:off x="411480" y="896112"/>
            <a:ext cx="4023360" cy="274320"/>
          </a:xfrm>
          <a:prstGeom prst="rect">
            <a:avLst/>
          </a:prstGeom>
          <a:noFill/>
          <a:ln/>
        </p:spPr>
        <p:txBody>
          <a:bodyPr wrap="square" lIns="0" tIns="0" rIns="0" bIns="0" rtlCol="0" anchor="t"/>
          <a:lstStyle/>
          <a:p>
            <a:pPr indent="0" marL="0">
              <a:buNone/>
            </a:pPr>
            <a:r>
              <a:rPr lang="en-US" sz="1500" b="1" dirty="0">
                <a:solidFill>
                  <a:schemeClr val="accent1"/>
                </a:solidFill>
              </a:rPr>
              <a:t>HDFS (Hadoop file system)</a:t>
            </a:r>
            <a:endParaRPr lang="en-US" sz="1500" dirty="0"/>
          </a:p>
        </p:txBody>
      </p:sp>
      <p:sp>
        <p:nvSpPr>
          <p:cNvPr id="4" name="funnel-bar-92"/>
          <p:cNvSpPr/>
          <p:nvPr/>
        </p:nvSpPr>
        <p:spPr>
          <a:xfrm>
            <a:off x="411480" y="1261872"/>
            <a:ext cx="4023360" cy="274320"/>
          </a:xfrm>
          <a:prstGeom prst="rect">
            <a:avLst/>
          </a:prstGeom>
          <a:solidFill>
            <a:schemeClr val="accent1"/>
          </a:solidFill>
          <a:ln w="12700">
            <a:solidFill>
              <a:schemeClr val="accent1"/>
            </a:solidFill>
            <a:prstDash val="solid"/>
          </a:ln>
        </p:spPr>
      </p:sp>
      <p:sp>
        <p:nvSpPr>
          <p:cNvPr id="5" name="text-93"/>
          <p:cNvSpPr txBox="1"/>
          <p:nvPr/>
        </p:nvSpPr>
        <p:spPr>
          <a:xfrm>
            <a:off x="411480" y="1545336"/>
            <a:ext cx="4023360" cy="256032"/>
          </a:xfrm>
          <a:prstGeom prst="rect">
            <a:avLst/>
          </a:prstGeom>
          <a:noFill/>
          <a:ln/>
        </p:spPr>
        <p:txBody>
          <a:bodyPr wrap="square" lIns="0" tIns="0" rIns="0" bIns="0" rtlCol="0" anchor="t"/>
          <a:lstStyle/>
          <a:p>
            <a:pPr indent="0" marL="0">
              <a:buNone/>
            </a:pPr>
            <a:r>
              <a:rPr lang="en-US" sz="1200" b="1" dirty="0">
                <a:solidFill>
                  <a:schemeClr val="tx1"/>
                </a:solidFill>
              </a:rPr>
              <a:t>11,175,629  </a:t>
            </a:r>
            <a:pPr indent="0" marL="0">
              <a:buNone/>
            </a:pPr>
            <a:r>
              <a:rPr lang="en-US" sz="1200" dirty="0">
                <a:solidFill>
                  <a:schemeClr val="tx2"/>
                </a:solidFill>
              </a:rPr>
              <a:t>log lines</a:t>
            </a:r>
            <a:endParaRPr lang="en-US" sz="1200" dirty="0"/>
          </a:p>
        </p:txBody>
      </p:sp>
      <p:sp>
        <p:nvSpPr>
          <p:cNvPr id="6" name="funnel-bar-94"/>
          <p:cNvSpPr/>
          <p:nvPr/>
        </p:nvSpPr>
        <p:spPr>
          <a:xfrm>
            <a:off x="411480" y="1865376"/>
            <a:ext cx="2212848" cy="274320"/>
          </a:xfrm>
          <a:prstGeom prst="rect">
            <a:avLst/>
          </a:prstGeom>
          <a:solidFill>
            <a:schemeClr val="accent1">
              <a:alpha val="82000"/>
            </a:schemeClr>
          </a:solidFill>
          <a:ln w="12700">
            <a:solidFill>
              <a:schemeClr val="accent1">
                <a:alpha val="82000"/>
              </a:schemeClr>
            </a:solidFill>
            <a:prstDash val="solid"/>
          </a:ln>
        </p:spPr>
      </p:sp>
      <p:sp>
        <p:nvSpPr>
          <p:cNvPr id="7" name="text-95"/>
          <p:cNvSpPr txBox="1"/>
          <p:nvPr/>
        </p:nvSpPr>
        <p:spPr>
          <a:xfrm>
            <a:off x="411480" y="2148840"/>
            <a:ext cx="4023360" cy="256032"/>
          </a:xfrm>
          <a:prstGeom prst="rect">
            <a:avLst/>
          </a:prstGeom>
          <a:noFill/>
          <a:ln/>
        </p:spPr>
        <p:txBody>
          <a:bodyPr wrap="square" lIns="0" tIns="0" rIns="0" bIns="0" rtlCol="0" anchor="t"/>
          <a:lstStyle/>
          <a:p>
            <a:pPr indent="0" marL="0">
              <a:buNone/>
            </a:pPr>
            <a:r>
              <a:rPr lang="en-US" sz="1200" b="1" dirty="0">
                <a:solidFill>
                  <a:schemeClr val="tx1"/>
                </a:solidFill>
              </a:rPr>
              <a:t>46  </a:t>
            </a:r>
            <a:pPr indent="0" marL="0">
              <a:buNone/>
            </a:pPr>
            <a:r>
              <a:rPr lang="en-US" sz="1200" dirty="0">
                <a:solidFill>
                  <a:schemeClr val="tx2"/>
                </a:solidFill>
              </a:rPr>
              <a:t>templates (Drain)</a:t>
            </a:r>
            <a:endParaRPr lang="en-US" sz="1200" dirty="0"/>
          </a:p>
        </p:txBody>
      </p:sp>
      <p:sp>
        <p:nvSpPr>
          <p:cNvPr id="8" name="funnel-bar-96"/>
          <p:cNvSpPr/>
          <p:nvPr/>
        </p:nvSpPr>
        <p:spPr>
          <a:xfrm>
            <a:off x="411480" y="2468880"/>
            <a:ext cx="1609344" cy="274320"/>
          </a:xfrm>
          <a:prstGeom prst="rect">
            <a:avLst/>
          </a:prstGeom>
          <a:solidFill>
            <a:schemeClr val="accent1">
              <a:alpha val="64000"/>
            </a:schemeClr>
          </a:solidFill>
          <a:ln w="12700">
            <a:solidFill>
              <a:schemeClr val="accent1">
                <a:alpha val="64000"/>
              </a:schemeClr>
            </a:solidFill>
            <a:prstDash val="solid"/>
          </a:ln>
        </p:spPr>
      </p:sp>
      <p:sp>
        <p:nvSpPr>
          <p:cNvPr id="9" name="text-97"/>
          <p:cNvSpPr txBox="1"/>
          <p:nvPr/>
        </p:nvSpPr>
        <p:spPr>
          <a:xfrm>
            <a:off x="411480" y="2752344"/>
            <a:ext cx="4023360" cy="256032"/>
          </a:xfrm>
          <a:prstGeom prst="rect">
            <a:avLst/>
          </a:prstGeom>
          <a:noFill/>
          <a:ln/>
        </p:spPr>
        <p:txBody>
          <a:bodyPr wrap="square" lIns="0" tIns="0" rIns="0" bIns="0" rtlCol="0" anchor="t"/>
          <a:lstStyle/>
          <a:p>
            <a:pPr indent="0" marL="0">
              <a:buNone/>
            </a:pPr>
            <a:r>
              <a:rPr lang="en-US" sz="1200" b="1" dirty="0">
                <a:solidFill>
                  <a:schemeClr val="tx1"/>
                </a:solidFill>
              </a:rPr>
              <a:t>575,061  </a:t>
            </a:r>
            <a:pPr indent="0" marL="0">
              <a:buNone/>
            </a:pPr>
            <a:r>
              <a:rPr lang="en-US" sz="1200" dirty="0">
                <a:solidFill>
                  <a:schemeClr val="tx2"/>
                </a:solidFill>
              </a:rPr>
              <a:t>sessions = blocks</a:t>
            </a:r>
            <a:endParaRPr lang="en-US" sz="1200" dirty="0"/>
          </a:p>
        </p:txBody>
      </p:sp>
      <p:sp>
        <p:nvSpPr>
          <p:cNvPr id="10" name="funnel-bar-98"/>
          <p:cNvSpPr/>
          <p:nvPr/>
        </p:nvSpPr>
        <p:spPr>
          <a:xfrm>
            <a:off x="411480" y="3072384"/>
            <a:ext cx="482803" cy="274320"/>
          </a:xfrm>
          <a:prstGeom prst="rect">
            <a:avLst/>
          </a:prstGeom>
          <a:solidFill>
            <a:schemeClr val="accent1">
              <a:alpha val="46000"/>
            </a:schemeClr>
          </a:solidFill>
          <a:ln w="12700">
            <a:solidFill>
              <a:schemeClr val="accent1">
                <a:alpha val="46000"/>
              </a:schemeClr>
            </a:solidFill>
            <a:prstDash val="solid"/>
          </a:ln>
        </p:spPr>
      </p:sp>
      <p:sp>
        <p:nvSpPr>
          <p:cNvPr id="11" name="text-99"/>
          <p:cNvSpPr txBox="1"/>
          <p:nvPr/>
        </p:nvSpPr>
        <p:spPr>
          <a:xfrm>
            <a:off x="411480" y="3355848"/>
            <a:ext cx="4023360" cy="256032"/>
          </a:xfrm>
          <a:prstGeom prst="rect">
            <a:avLst/>
          </a:prstGeom>
          <a:noFill/>
          <a:ln/>
        </p:spPr>
        <p:txBody>
          <a:bodyPr wrap="square" lIns="0" tIns="0" rIns="0" bIns="0" rtlCol="0" anchor="t"/>
          <a:lstStyle/>
          <a:p>
            <a:pPr indent="0" marL="0">
              <a:buNone/>
            </a:pPr>
            <a:r>
              <a:rPr lang="en-US" sz="1200" b="1" dirty="0">
                <a:solidFill>
                  <a:schemeClr val="tx1"/>
                </a:solidFill>
              </a:rPr>
              <a:t>16,838  </a:t>
            </a:r>
            <a:pPr indent="0" marL="0">
              <a:buNone/>
            </a:pPr>
            <a:r>
              <a:rPr lang="en-US" sz="1200" dirty="0">
                <a:solidFill>
                  <a:schemeClr val="tx2"/>
                </a:solidFill>
              </a:rPr>
              <a:t>anomalous blocks (2.9%)</a:t>
            </a:r>
            <a:endParaRPr lang="en-US" sz="1200" dirty="0"/>
          </a:p>
        </p:txBody>
      </p:sp>
      <p:sp>
        <p:nvSpPr>
          <p:cNvPr id="12" name="funnel-bar-100"/>
          <p:cNvSpPr/>
          <p:nvPr/>
        </p:nvSpPr>
        <p:spPr>
          <a:xfrm>
            <a:off x="411480" y="3675888"/>
            <a:ext cx="1207008" cy="274320"/>
          </a:xfrm>
          <a:prstGeom prst="rect">
            <a:avLst/>
          </a:prstGeom>
          <a:solidFill>
            <a:schemeClr val="accent1">
              <a:alpha val="28000"/>
            </a:schemeClr>
          </a:solidFill>
          <a:ln w="12700">
            <a:solidFill>
              <a:schemeClr val="accent1">
                <a:alpha val="28000"/>
              </a:schemeClr>
            </a:solidFill>
            <a:prstDash val="solid"/>
          </a:ln>
        </p:spPr>
      </p:sp>
      <p:sp>
        <p:nvSpPr>
          <p:cNvPr id="13" name="text-101"/>
          <p:cNvSpPr txBox="1"/>
          <p:nvPr/>
        </p:nvSpPr>
        <p:spPr>
          <a:xfrm>
            <a:off x="411480" y="3959352"/>
            <a:ext cx="4023360" cy="256032"/>
          </a:xfrm>
          <a:prstGeom prst="rect">
            <a:avLst/>
          </a:prstGeom>
          <a:noFill/>
          <a:ln/>
        </p:spPr>
        <p:txBody>
          <a:bodyPr wrap="square" lIns="0" tIns="0" rIns="0" bIns="0" rtlCol="0" anchor="t"/>
          <a:lstStyle/>
          <a:p>
            <a:pPr indent="0" marL="0">
              <a:buNone/>
            </a:pPr>
            <a:r>
              <a:rPr lang="en-US" sz="1200" b="1" dirty="0">
                <a:solidFill>
                  <a:schemeClr val="tx1"/>
                </a:solidFill>
              </a:rPr>
              <a:t>402,542 / 172,519  </a:t>
            </a:r>
            <a:pPr indent="0" marL="0">
              <a:buNone/>
            </a:pPr>
            <a:r>
              <a:rPr lang="en-US" sz="1200" dirty="0">
                <a:solidFill>
                  <a:schemeClr val="tx2"/>
                </a:solidFill>
              </a:rPr>
              <a:t>train / test (70/30)</a:t>
            </a:r>
            <a:endParaRPr lang="en-US" sz="1200" dirty="0"/>
          </a:p>
        </p:txBody>
      </p:sp>
      <p:sp>
        <p:nvSpPr>
          <p:cNvPr id="14" name="text-102"/>
          <p:cNvSpPr txBox="1"/>
          <p:nvPr/>
        </p:nvSpPr>
        <p:spPr>
          <a:xfrm>
            <a:off x="4709160" y="896112"/>
            <a:ext cx="4023360" cy="274320"/>
          </a:xfrm>
          <a:prstGeom prst="rect">
            <a:avLst/>
          </a:prstGeom>
          <a:noFill/>
          <a:ln/>
        </p:spPr>
        <p:txBody>
          <a:bodyPr wrap="square" lIns="0" tIns="0" rIns="0" bIns="0" rtlCol="0" anchor="t"/>
          <a:lstStyle/>
          <a:p>
            <a:pPr indent="0" marL="0">
              <a:buNone/>
            </a:pPr>
            <a:r>
              <a:rPr lang="en-US" sz="1500" b="1" dirty="0">
                <a:solidFill>
                  <a:schemeClr val="accent2"/>
                </a:solidFill>
              </a:rPr>
              <a:t>BGL (BlueGene/L supercomputer)</a:t>
            </a:r>
            <a:endParaRPr lang="en-US" sz="1500" dirty="0"/>
          </a:p>
        </p:txBody>
      </p:sp>
      <p:sp>
        <p:nvSpPr>
          <p:cNvPr id="15" name="funnel-bar-103"/>
          <p:cNvSpPr/>
          <p:nvPr/>
        </p:nvSpPr>
        <p:spPr>
          <a:xfrm>
            <a:off x="4709160" y="1261872"/>
            <a:ext cx="4023360" cy="274320"/>
          </a:xfrm>
          <a:prstGeom prst="rect">
            <a:avLst/>
          </a:prstGeom>
          <a:solidFill>
            <a:schemeClr val="accent2"/>
          </a:solidFill>
          <a:ln w="12700">
            <a:solidFill>
              <a:schemeClr val="accent2"/>
            </a:solidFill>
            <a:prstDash val="solid"/>
          </a:ln>
        </p:spPr>
      </p:sp>
      <p:sp>
        <p:nvSpPr>
          <p:cNvPr id="16" name="text-104"/>
          <p:cNvSpPr txBox="1"/>
          <p:nvPr/>
        </p:nvSpPr>
        <p:spPr>
          <a:xfrm>
            <a:off x="4709160" y="1545336"/>
            <a:ext cx="4023360" cy="256032"/>
          </a:xfrm>
          <a:prstGeom prst="rect">
            <a:avLst/>
          </a:prstGeom>
          <a:noFill/>
          <a:ln/>
        </p:spPr>
        <p:txBody>
          <a:bodyPr wrap="square" lIns="0" tIns="0" rIns="0" bIns="0" rtlCol="0" anchor="t"/>
          <a:lstStyle/>
          <a:p>
            <a:pPr indent="0" marL="0">
              <a:buNone/>
            </a:pPr>
            <a:r>
              <a:rPr lang="en-US" sz="1200" b="1" dirty="0">
                <a:solidFill>
                  <a:schemeClr val="tx1"/>
                </a:solidFill>
              </a:rPr>
              <a:t>4,747,963  </a:t>
            </a:r>
            <a:pPr indent="0" marL="0">
              <a:buNone/>
            </a:pPr>
            <a:r>
              <a:rPr lang="en-US" sz="1200" dirty="0">
                <a:solidFill>
                  <a:schemeClr val="tx2"/>
                </a:solidFill>
              </a:rPr>
              <a:t>log lines</a:t>
            </a:r>
            <a:endParaRPr lang="en-US" sz="1200" dirty="0"/>
          </a:p>
        </p:txBody>
      </p:sp>
      <p:sp>
        <p:nvSpPr>
          <p:cNvPr id="17" name="funnel-bar-105"/>
          <p:cNvSpPr/>
          <p:nvPr/>
        </p:nvSpPr>
        <p:spPr>
          <a:xfrm>
            <a:off x="4709160" y="1865376"/>
            <a:ext cx="2212848" cy="274320"/>
          </a:xfrm>
          <a:prstGeom prst="rect">
            <a:avLst/>
          </a:prstGeom>
          <a:solidFill>
            <a:schemeClr val="accent2">
              <a:alpha val="82000"/>
            </a:schemeClr>
          </a:solidFill>
          <a:ln w="12700">
            <a:solidFill>
              <a:schemeClr val="accent2">
                <a:alpha val="82000"/>
              </a:schemeClr>
            </a:solidFill>
            <a:prstDash val="solid"/>
          </a:ln>
        </p:spPr>
      </p:sp>
      <p:sp>
        <p:nvSpPr>
          <p:cNvPr id="18" name="text-106"/>
          <p:cNvSpPr txBox="1"/>
          <p:nvPr/>
        </p:nvSpPr>
        <p:spPr>
          <a:xfrm>
            <a:off x="4709160" y="2148840"/>
            <a:ext cx="4023360" cy="256032"/>
          </a:xfrm>
          <a:prstGeom prst="rect">
            <a:avLst/>
          </a:prstGeom>
          <a:noFill/>
          <a:ln/>
        </p:spPr>
        <p:txBody>
          <a:bodyPr wrap="square" lIns="0" tIns="0" rIns="0" bIns="0" rtlCol="0" anchor="t"/>
          <a:lstStyle/>
          <a:p>
            <a:pPr indent="0" marL="0">
              <a:buNone/>
            </a:pPr>
            <a:r>
              <a:rPr lang="en-US" sz="1200" b="1" dirty="0">
                <a:solidFill>
                  <a:schemeClr val="tx1"/>
                </a:solidFill>
              </a:rPr>
              <a:t>382  </a:t>
            </a:r>
            <a:pPr indent="0" marL="0">
              <a:buNone/>
            </a:pPr>
            <a:r>
              <a:rPr lang="en-US" sz="1200" dirty="0">
                <a:solidFill>
                  <a:schemeClr val="tx2"/>
                </a:solidFill>
              </a:rPr>
              <a:t>templates (Drain)</a:t>
            </a:r>
            <a:endParaRPr lang="en-US" sz="1200" dirty="0"/>
          </a:p>
        </p:txBody>
      </p:sp>
      <p:sp>
        <p:nvSpPr>
          <p:cNvPr id="19" name="funnel-bar-107"/>
          <p:cNvSpPr/>
          <p:nvPr/>
        </p:nvSpPr>
        <p:spPr>
          <a:xfrm>
            <a:off x="4709160" y="2468880"/>
            <a:ext cx="1609344" cy="274320"/>
          </a:xfrm>
          <a:prstGeom prst="rect">
            <a:avLst/>
          </a:prstGeom>
          <a:solidFill>
            <a:schemeClr val="accent2">
              <a:alpha val="64000"/>
            </a:schemeClr>
          </a:solidFill>
          <a:ln w="12700">
            <a:solidFill>
              <a:schemeClr val="accent2">
                <a:alpha val="64000"/>
              </a:schemeClr>
            </a:solidFill>
            <a:prstDash val="solid"/>
          </a:ln>
        </p:spPr>
      </p:sp>
      <p:sp>
        <p:nvSpPr>
          <p:cNvPr id="20" name="text-108"/>
          <p:cNvSpPr txBox="1"/>
          <p:nvPr/>
        </p:nvSpPr>
        <p:spPr>
          <a:xfrm>
            <a:off x="4709160" y="2752344"/>
            <a:ext cx="4023360" cy="256032"/>
          </a:xfrm>
          <a:prstGeom prst="rect">
            <a:avLst/>
          </a:prstGeom>
          <a:noFill/>
          <a:ln/>
        </p:spPr>
        <p:txBody>
          <a:bodyPr wrap="square" lIns="0" tIns="0" rIns="0" bIns="0" rtlCol="0" anchor="t"/>
          <a:lstStyle/>
          <a:p>
            <a:pPr indent="0" marL="0">
              <a:buNone/>
            </a:pPr>
            <a:r>
              <a:rPr lang="en-US" sz="1200" b="1" dirty="0">
                <a:solidFill>
                  <a:schemeClr val="tx1"/>
                </a:solidFill>
              </a:rPr>
              <a:t>826  </a:t>
            </a:r>
            <a:pPr indent="0" marL="0">
              <a:buNone/>
            </a:pPr>
            <a:r>
              <a:rPr lang="en-US" sz="1200" dirty="0">
                <a:solidFill>
                  <a:schemeClr val="tx2"/>
                </a:solidFill>
              </a:rPr>
              <a:t>sessions = 6-hour windows</a:t>
            </a:r>
            <a:endParaRPr lang="en-US" sz="1200" dirty="0"/>
          </a:p>
        </p:txBody>
      </p:sp>
      <p:sp>
        <p:nvSpPr>
          <p:cNvPr id="21" name="funnel-bar-109"/>
          <p:cNvSpPr/>
          <p:nvPr/>
        </p:nvSpPr>
        <p:spPr>
          <a:xfrm>
            <a:off x="4709160" y="3072384"/>
            <a:ext cx="804672" cy="274320"/>
          </a:xfrm>
          <a:prstGeom prst="rect">
            <a:avLst/>
          </a:prstGeom>
          <a:solidFill>
            <a:schemeClr val="accent2">
              <a:alpha val="46000"/>
            </a:schemeClr>
          </a:solidFill>
          <a:ln w="12700">
            <a:solidFill>
              <a:schemeClr val="accent2">
                <a:alpha val="46000"/>
              </a:schemeClr>
            </a:solidFill>
            <a:prstDash val="solid"/>
          </a:ln>
        </p:spPr>
      </p:sp>
      <p:sp>
        <p:nvSpPr>
          <p:cNvPr id="22" name="text-110"/>
          <p:cNvSpPr txBox="1"/>
          <p:nvPr/>
        </p:nvSpPr>
        <p:spPr>
          <a:xfrm>
            <a:off x="4709160" y="3355848"/>
            <a:ext cx="4023360" cy="256032"/>
          </a:xfrm>
          <a:prstGeom prst="rect">
            <a:avLst/>
          </a:prstGeom>
          <a:noFill/>
          <a:ln/>
        </p:spPr>
        <p:txBody>
          <a:bodyPr wrap="square" lIns="0" tIns="0" rIns="0" bIns="0" rtlCol="0" anchor="t"/>
          <a:lstStyle/>
          <a:p>
            <a:pPr indent="0" marL="0">
              <a:buNone/>
            </a:pPr>
            <a:r>
              <a:rPr lang="en-US" sz="1200" b="1" dirty="0">
                <a:solidFill>
                  <a:schemeClr val="tx1"/>
                </a:solidFill>
              </a:rPr>
              <a:t>409  </a:t>
            </a:r>
            <a:pPr indent="0" marL="0">
              <a:buNone/>
            </a:pPr>
            <a:r>
              <a:rPr lang="en-US" sz="1200" dirty="0">
                <a:solidFill>
                  <a:schemeClr val="tx2"/>
                </a:solidFill>
              </a:rPr>
              <a:t>anomalous windows (49.5%)</a:t>
            </a:r>
            <a:endParaRPr lang="en-US" sz="1200" dirty="0"/>
          </a:p>
        </p:txBody>
      </p:sp>
      <p:sp>
        <p:nvSpPr>
          <p:cNvPr id="23" name="funnel-bar-111"/>
          <p:cNvSpPr/>
          <p:nvPr/>
        </p:nvSpPr>
        <p:spPr>
          <a:xfrm>
            <a:off x="4709160" y="3675888"/>
            <a:ext cx="1207008" cy="274320"/>
          </a:xfrm>
          <a:prstGeom prst="rect">
            <a:avLst/>
          </a:prstGeom>
          <a:solidFill>
            <a:schemeClr val="accent2">
              <a:alpha val="28000"/>
            </a:schemeClr>
          </a:solidFill>
          <a:ln w="12700">
            <a:solidFill>
              <a:schemeClr val="accent2">
                <a:alpha val="28000"/>
              </a:schemeClr>
            </a:solidFill>
            <a:prstDash val="solid"/>
          </a:ln>
        </p:spPr>
      </p:sp>
      <p:sp>
        <p:nvSpPr>
          <p:cNvPr id="24" name="text-112"/>
          <p:cNvSpPr txBox="1"/>
          <p:nvPr/>
        </p:nvSpPr>
        <p:spPr>
          <a:xfrm>
            <a:off x="4709160" y="3959352"/>
            <a:ext cx="4023360" cy="256032"/>
          </a:xfrm>
          <a:prstGeom prst="rect">
            <a:avLst/>
          </a:prstGeom>
          <a:noFill/>
          <a:ln/>
        </p:spPr>
        <p:txBody>
          <a:bodyPr wrap="square" lIns="0" tIns="0" rIns="0" bIns="0" rtlCol="0" anchor="t"/>
          <a:lstStyle/>
          <a:p>
            <a:pPr indent="0" marL="0">
              <a:buNone/>
            </a:pPr>
            <a:r>
              <a:rPr lang="en-US" sz="1200" b="1" dirty="0">
                <a:solidFill>
                  <a:schemeClr val="tx1"/>
                </a:solidFill>
              </a:rPr>
              <a:t>660 / 166  </a:t>
            </a:r>
            <a:pPr indent="0" marL="0">
              <a:buNone/>
            </a:pPr>
            <a:r>
              <a:rPr lang="en-US" sz="1200" dirty="0">
                <a:solidFill>
                  <a:schemeClr val="tx2"/>
                </a:solidFill>
              </a:rPr>
              <a:t>train / test (80/20)</a:t>
            </a:r>
            <a:endParaRPr lang="en-US" sz="1200" dirty="0"/>
          </a:p>
        </p:txBody>
      </p:sp>
      <p:sp>
        <p:nvSpPr>
          <p:cNvPr id="25" name="text-113"/>
          <p:cNvSpPr txBox="1"/>
          <p:nvPr/>
        </p:nvSpPr>
        <p:spPr>
          <a:xfrm>
            <a:off x="411480" y="4498848"/>
            <a:ext cx="8321040" cy="219456"/>
          </a:xfrm>
          <a:prstGeom prst="rect">
            <a:avLst/>
          </a:prstGeom>
          <a:noFill/>
          <a:ln/>
        </p:spPr>
        <p:txBody>
          <a:bodyPr wrap="square" lIns="0" tIns="0" rIns="0" bIns="0" rtlCol="0" anchor="t"/>
          <a:lstStyle/>
          <a:p>
            <a:pPr indent="0" marL="0">
              <a:buNone/>
            </a:pPr>
            <a:r>
              <a:rPr lang="en-US" sz="1000" i="1" dirty="0">
                <a:solidFill>
                  <a:schemeClr val="tx2"/>
                </a:solidFill>
              </a:rPr>
              <a:t>Bar lengths are illustrative, not to scale. Every model uses the same 10 stratified train/test splits (seeds 0-9).</a:t>
            </a:r>
            <a:endParaRPr lang="en-US" sz="1000" dirty="0"/>
          </a:p>
        </p:txBody>
      </p:sp>
      <p:sp>
        <p:nvSpPr>
          <p:cNvPr id="25" name="Slide Number Placeholder 0"/>
          <p:cNvSpPr>
            <a:spLocks noGrp="1"/>
          </p:cNvSpPr>
          <p:nvPr>
            <p:ph type="sldNum" sz="quarter" idx="4294967295"/>
          </p:nvPr>
        </p:nvSpPr>
        <p:spPr>
          <a:xfrm>
            <a:off x="8412480" y="4800600"/>
            <a:ext cx="41148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11480" y="256032"/>
            <a:ext cx="6903720" cy="502920"/>
          </a:xfrm>
          <a:prstGeom prst="rect">
            <a:avLst/>
          </a:prstGeom>
          <a:noFill/>
          <a:ln/>
        </p:spPr>
        <p:txBody>
          <a:bodyPr wrap="square" lIns="0" tIns="0" rIns="0" bIns="0" rtlCol="0" anchor="ctr"/>
          <a:lstStyle/>
          <a:p>
            <a:pPr algn="l" indent="0" marL="0">
              <a:buNone/>
            </a:pPr>
            <a:r>
              <a:rPr lang="en-US" sz="2400" dirty="0">
                <a:solidFill>
                  <a:schemeClr val="tx1"/>
                </a:solidFill>
                <a:latin typeface="Bookman Old Style" pitchFamily="34" charset="0"/>
                <a:ea typeface="Bookman Old Style" pitchFamily="34" charset="-122"/>
                <a:cs typeface="Bookman Old Style" pitchFamily="34" charset="-120"/>
              </a:rPr>
              <a:t>Roadmap: four questions about MiniHDFS</a:t>
            </a:r>
            <a:endParaRPr lang="en-US" sz="2400" dirty="0"/>
          </a:p>
        </p:txBody>
      </p:sp>
      <p:sp>
        <p:nvSpPr>
          <p:cNvPr id="3" name="road-circle-114"/>
          <p:cNvSpPr/>
          <p:nvPr/>
        </p:nvSpPr>
        <p:spPr>
          <a:xfrm>
            <a:off x="411480" y="960120"/>
            <a:ext cx="566928" cy="566928"/>
          </a:xfrm>
          <a:prstGeom prst="ellipse">
            <a:avLst/>
          </a:prstGeom>
          <a:solidFill>
            <a:schemeClr val="accent1"/>
          </a:solidFill>
          <a:ln w="12700">
            <a:solidFill>
              <a:schemeClr val="accent1"/>
            </a:solidFill>
            <a:prstDash val="solid"/>
          </a:ln>
        </p:spPr>
      </p:sp>
      <p:pic>
        <p:nvPicPr>
          <p:cNvPr id="4" name="road-icon-115" descr="preencoded.png">    </p:cNvPr>
          <p:cNvPicPr>
            <a:picLocks noChangeAspect="1"/>
          </p:cNvPicPr>
          <p:nvPr/>
        </p:nvPicPr>
        <p:blipFill>
          <a:blip r:embed="rId1"/>
          <a:stretch>
            <a:fillRect/>
          </a:stretch>
        </p:blipFill>
        <p:spPr>
          <a:xfrm>
            <a:off x="548640" y="1097280"/>
            <a:ext cx="292608" cy="292608"/>
          </a:xfrm>
          <a:prstGeom prst="rect">
            <a:avLst/>
          </a:prstGeom>
        </p:spPr>
      </p:pic>
      <p:sp>
        <p:nvSpPr>
          <p:cNvPr id="5" name="text-116"/>
          <p:cNvSpPr txBox="1"/>
          <p:nvPr/>
        </p:nvSpPr>
        <p:spPr>
          <a:xfrm>
            <a:off x="1143000" y="914400"/>
            <a:ext cx="2743200" cy="274320"/>
          </a:xfrm>
          <a:prstGeom prst="rect">
            <a:avLst/>
          </a:prstGeom>
          <a:noFill/>
          <a:ln/>
        </p:spPr>
        <p:txBody>
          <a:bodyPr wrap="square" lIns="0" tIns="0" rIns="0" bIns="0" rtlCol="0" anchor="t"/>
          <a:lstStyle/>
          <a:p>
            <a:pPr indent="0" marL="0">
              <a:buNone/>
            </a:pPr>
            <a:r>
              <a:rPr lang="en-US" sz="1300" b="1" dirty="0">
                <a:solidFill>
                  <a:schemeClr val="accent1"/>
                </a:solidFill>
              </a:rPr>
              <a:t>Prepare the data</a:t>
            </a:r>
            <a:endParaRPr lang="en-US" sz="1300" dirty="0"/>
          </a:p>
        </p:txBody>
      </p:sp>
      <p:sp>
        <p:nvSpPr>
          <p:cNvPr id="6" name="text-117"/>
          <p:cNvSpPr txBox="1"/>
          <p:nvPr/>
        </p:nvSpPr>
        <p:spPr>
          <a:xfrm>
            <a:off x="1143000" y="1188720"/>
            <a:ext cx="7589520" cy="274320"/>
          </a:xfrm>
          <a:prstGeom prst="rect">
            <a:avLst/>
          </a:prstGeom>
          <a:noFill/>
          <a:ln/>
        </p:spPr>
        <p:txBody>
          <a:bodyPr wrap="square" lIns="0" tIns="0" rIns="0" bIns="0" rtlCol="0" anchor="t"/>
          <a:lstStyle/>
          <a:p>
            <a:pPr indent="0" marL="0">
              <a:buNone/>
            </a:pPr>
            <a:r>
              <a:rPr lang="en-US" sz="1500" dirty="0">
                <a:solidFill>
                  <a:schemeClr val="tx1"/>
                </a:solidFill>
              </a:rPr>
              <a:t>Can we turn raw lines into R/A/P letters and counts faithfully?</a:t>
            </a:r>
            <a:endParaRPr lang="en-US" sz="1500" dirty="0"/>
          </a:p>
        </p:txBody>
      </p:sp>
      <p:sp>
        <p:nvSpPr>
          <p:cNvPr id="7" name="text-118"/>
          <p:cNvSpPr txBox="1"/>
          <p:nvPr/>
        </p:nvSpPr>
        <p:spPr>
          <a:xfrm>
            <a:off x="1143000" y="1463040"/>
            <a:ext cx="7589520" cy="237744"/>
          </a:xfrm>
          <a:prstGeom prst="rect">
            <a:avLst/>
          </a:prstGeom>
          <a:noFill/>
          <a:ln/>
        </p:spPr>
        <p:txBody>
          <a:bodyPr wrap="square" lIns="0" tIns="0" rIns="0" bIns="0" rtlCol="0" anchor="t"/>
          <a:lstStyle/>
          <a:p>
            <a:pPr indent="0" marL="0">
              <a:buNone/>
            </a:pPr>
            <a:r>
              <a:rPr lang="en-US" sz="1100" i="1" dirty="0">
                <a:solidFill>
                  <a:schemeClr val="tx2"/>
                </a:solidFill>
              </a:rPr>
              <a:t>Parsing, sessions, representation  (steps 1-2)</a:t>
            </a:r>
            <a:endParaRPr lang="en-US" sz="1100" dirty="0"/>
          </a:p>
        </p:txBody>
      </p:sp>
      <p:sp>
        <p:nvSpPr>
          <p:cNvPr id="8" name="road-circle-119"/>
          <p:cNvSpPr/>
          <p:nvPr/>
        </p:nvSpPr>
        <p:spPr>
          <a:xfrm>
            <a:off x="411480" y="1874520"/>
            <a:ext cx="566928" cy="566928"/>
          </a:xfrm>
          <a:prstGeom prst="ellipse">
            <a:avLst/>
          </a:prstGeom>
          <a:solidFill>
            <a:schemeClr val="accent2"/>
          </a:solidFill>
          <a:ln w="12700">
            <a:solidFill>
              <a:schemeClr val="accent2"/>
            </a:solidFill>
            <a:prstDash val="solid"/>
          </a:ln>
        </p:spPr>
      </p:sp>
      <p:pic>
        <p:nvPicPr>
          <p:cNvPr id="9" name="road-icon-120" descr="preencoded.png">    </p:cNvPr>
          <p:cNvPicPr>
            <a:picLocks noChangeAspect="1"/>
          </p:cNvPicPr>
          <p:nvPr/>
        </p:nvPicPr>
        <p:blipFill>
          <a:blip r:embed="rId2"/>
          <a:stretch>
            <a:fillRect/>
          </a:stretch>
        </p:blipFill>
        <p:spPr>
          <a:xfrm>
            <a:off x="548640" y="2011680"/>
            <a:ext cx="292608" cy="292608"/>
          </a:xfrm>
          <a:prstGeom prst="rect">
            <a:avLst/>
          </a:prstGeom>
        </p:spPr>
      </p:pic>
      <p:sp>
        <p:nvSpPr>
          <p:cNvPr id="10" name="text-121"/>
          <p:cNvSpPr txBox="1"/>
          <p:nvPr/>
        </p:nvSpPr>
        <p:spPr>
          <a:xfrm>
            <a:off x="1143000" y="1828800"/>
            <a:ext cx="2743200" cy="274320"/>
          </a:xfrm>
          <a:prstGeom prst="rect">
            <a:avLst/>
          </a:prstGeom>
          <a:noFill/>
          <a:ln/>
        </p:spPr>
        <p:txBody>
          <a:bodyPr wrap="square" lIns="0" tIns="0" rIns="0" bIns="0" rtlCol="0" anchor="t"/>
          <a:lstStyle/>
          <a:p>
            <a:pPr indent="0" marL="0">
              <a:buNone/>
            </a:pPr>
            <a:r>
              <a:rPr lang="en-US" sz="1300" b="1" dirty="0">
                <a:solidFill>
                  <a:schemeClr val="accent2"/>
                </a:solidFill>
              </a:rPr>
              <a:t>Detect with labels</a:t>
            </a:r>
            <a:endParaRPr lang="en-US" sz="1300" dirty="0"/>
          </a:p>
        </p:txBody>
      </p:sp>
      <p:sp>
        <p:nvSpPr>
          <p:cNvPr id="11" name="text-122"/>
          <p:cNvSpPr txBox="1"/>
          <p:nvPr/>
        </p:nvSpPr>
        <p:spPr>
          <a:xfrm>
            <a:off x="1143000" y="2103120"/>
            <a:ext cx="7589520" cy="274320"/>
          </a:xfrm>
          <a:prstGeom prst="rect">
            <a:avLst/>
          </a:prstGeom>
          <a:noFill/>
          <a:ln/>
        </p:spPr>
        <p:txBody>
          <a:bodyPr wrap="square" lIns="0" tIns="0" rIns="0" bIns="0" rtlCol="0" anchor="t"/>
          <a:lstStyle/>
          <a:p>
            <a:pPr indent="0" marL="0">
              <a:buNone/>
            </a:pPr>
            <a:r>
              <a:rPr lang="en-US" sz="1500" dirty="0">
                <a:solidFill>
                  <a:schemeClr val="tx1"/>
                </a:solidFill>
              </a:rPr>
              <a:t>If someone labelled the broken blocks, which detector learns best?</a:t>
            </a:r>
            <a:endParaRPr lang="en-US" sz="1500" dirty="0"/>
          </a:p>
        </p:txBody>
      </p:sp>
      <p:sp>
        <p:nvSpPr>
          <p:cNvPr id="12" name="text-123"/>
          <p:cNvSpPr txBox="1"/>
          <p:nvPr/>
        </p:nvSpPr>
        <p:spPr>
          <a:xfrm>
            <a:off x="1143000" y="2377440"/>
            <a:ext cx="7589520" cy="237744"/>
          </a:xfrm>
          <a:prstGeom prst="rect">
            <a:avLst/>
          </a:prstGeom>
          <a:noFill/>
          <a:ln/>
        </p:spPr>
        <p:txBody>
          <a:bodyPr wrap="square" lIns="0" tIns="0" rIns="0" bIns="0" rtlCol="0" anchor="t"/>
          <a:lstStyle/>
          <a:p>
            <a:pPr indent="0" marL="0">
              <a:buNone/>
            </a:pPr>
            <a:r>
              <a:rPr lang="en-US" sz="1100" i="1" dirty="0">
                <a:solidFill>
                  <a:schemeClr val="tx2"/>
                </a:solidFill>
              </a:rPr>
              <a:t>Replication of the paper's RQ1 + correlation/VIF</a:t>
            </a:r>
            <a:endParaRPr lang="en-US" sz="1100" dirty="0"/>
          </a:p>
        </p:txBody>
      </p:sp>
      <p:sp>
        <p:nvSpPr>
          <p:cNvPr id="13" name="road-circle-124"/>
          <p:cNvSpPr/>
          <p:nvPr/>
        </p:nvSpPr>
        <p:spPr>
          <a:xfrm>
            <a:off x="411480" y="2788920"/>
            <a:ext cx="566928" cy="566928"/>
          </a:xfrm>
          <a:prstGeom prst="ellipse">
            <a:avLst/>
          </a:prstGeom>
          <a:solidFill>
            <a:schemeClr val="accent3"/>
          </a:solidFill>
          <a:ln w="12700">
            <a:solidFill>
              <a:schemeClr val="accent3"/>
            </a:solidFill>
            <a:prstDash val="solid"/>
          </a:ln>
        </p:spPr>
      </p:sp>
      <p:pic>
        <p:nvPicPr>
          <p:cNvPr id="14" name="road-icon-125" descr="preencoded.png">    </p:cNvPr>
          <p:cNvPicPr>
            <a:picLocks noChangeAspect="1"/>
          </p:cNvPicPr>
          <p:nvPr/>
        </p:nvPicPr>
        <p:blipFill>
          <a:blip r:embed="rId3"/>
          <a:stretch>
            <a:fillRect/>
          </a:stretch>
        </p:blipFill>
        <p:spPr>
          <a:xfrm>
            <a:off x="548640" y="2926080"/>
            <a:ext cx="292608" cy="292608"/>
          </a:xfrm>
          <a:prstGeom prst="rect">
            <a:avLst/>
          </a:prstGeom>
        </p:spPr>
      </p:pic>
      <p:sp>
        <p:nvSpPr>
          <p:cNvPr id="15" name="text-126"/>
          <p:cNvSpPr txBox="1"/>
          <p:nvPr/>
        </p:nvSpPr>
        <p:spPr>
          <a:xfrm>
            <a:off x="1143000" y="2743200"/>
            <a:ext cx="2743200" cy="274320"/>
          </a:xfrm>
          <a:prstGeom prst="rect">
            <a:avLst/>
          </a:prstGeom>
          <a:noFill/>
          <a:ln/>
        </p:spPr>
        <p:txBody>
          <a:bodyPr wrap="square" lIns="0" tIns="0" rIns="0" bIns="0" rtlCol="0" anchor="t"/>
          <a:lstStyle/>
          <a:p>
            <a:pPr indent="0" marL="0">
              <a:buNone/>
            </a:pPr>
            <a:r>
              <a:rPr lang="en-US" sz="1300" b="1" dirty="0">
                <a:solidFill>
                  <a:schemeClr val="accent3"/>
                </a:solidFill>
              </a:rPr>
              <a:t>Detect without labels</a:t>
            </a:r>
            <a:endParaRPr lang="en-US" sz="1300" dirty="0"/>
          </a:p>
        </p:txBody>
      </p:sp>
      <p:sp>
        <p:nvSpPr>
          <p:cNvPr id="16" name="text-127"/>
          <p:cNvSpPr txBox="1"/>
          <p:nvPr/>
        </p:nvSpPr>
        <p:spPr>
          <a:xfrm>
            <a:off x="1143000" y="3017520"/>
            <a:ext cx="7589520" cy="274320"/>
          </a:xfrm>
          <a:prstGeom prst="rect">
            <a:avLst/>
          </a:prstGeom>
          <a:noFill/>
          <a:ln/>
        </p:spPr>
        <p:txBody>
          <a:bodyPr wrap="square" lIns="0" tIns="0" rIns="0" bIns="0" rtlCol="0" anchor="t"/>
          <a:lstStyle/>
          <a:p>
            <a:pPr indent="0" marL="0">
              <a:buNone/>
            </a:pPr>
            <a:r>
              <a:rPr lang="en-US" sz="1500" dirty="0">
                <a:solidFill>
                  <a:schemeClr val="tx1"/>
                </a:solidFill>
              </a:rPr>
              <a:t>Can we catch block #2 with no labels at all?</a:t>
            </a:r>
            <a:endParaRPr lang="en-US" sz="1500" dirty="0"/>
          </a:p>
        </p:txBody>
      </p:sp>
      <p:sp>
        <p:nvSpPr>
          <p:cNvPr id="17" name="text-128"/>
          <p:cNvSpPr txBox="1"/>
          <p:nvPr/>
        </p:nvSpPr>
        <p:spPr>
          <a:xfrm>
            <a:off x="1143000" y="3291840"/>
            <a:ext cx="7589520" cy="237744"/>
          </a:xfrm>
          <a:prstGeom prst="rect">
            <a:avLst/>
          </a:prstGeom>
          <a:noFill/>
          <a:ln/>
        </p:spPr>
        <p:txBody>
          <a:bodyPr wrap="square" lIns="0" tIns="0" rIns="0" bIns="0" rtlCol="0" anchor="t"/>
          <a:lstStyle/>
          <a:p>
            <a:pPr indent="0" marL="0">
              <a:buNone/>
            </a:pPr>
            <a:r>
              <a:rPr lang="en-US" sz="1100" i="1" dirty="0">
                <a:solidFill>
                  <a:schemeClr val="tx2"/>
                </a:solidFill>
              </a:rPr>
              <a:t>Extension: Isolation Forest, DeepLog, Scott-Knott ranking</a:t>
            </a:r>
            <a:endParaRPr lang="en-US" sz="1100" dirty="0"/>
          </a:p>
        </p:txBody>
      </p:sp>
      <p:sp>
        <p:nvSpPr>
          <p:cNvPr id="18" name="road-circle-129"/>
          <p:cNvSpPr/>
          <p:nvPr/>
        </p:nvSpPr>
        <p:spPr>
          <a:xfrm>
            <a:off x="411480" y="3703320"/>
            <a:ext cx="566928" cy="566928"/>
          </a:xfrm>
          <a:prstGeom prst="ellipse">
            <a:avLst/>
          </a:prstGeom>
          <a:solidFill>
            <a:schemeClr val="accent4"/>
          </a:solidFill>
          <a:ln w="12700">
            <a:solidFill>
              <a:schemeClr val="accent4"/>
            </a:solidFill>
            <a:prstDash val="solid"/>
          </a:ln>
        </p:spPr>
      </p:sp>
      <p:pic>
        <p:nvPicPr>
          <p:cNvPr id="19" name="road-icon-130" descr="preencoded.png">    </p:cNvPr>
          <p:cNvPicPr>
            <a:picLocks noChangeAspect="1"/>
          </p:cNvPicPr>
          <p:nvPr/>
        </p:nvPicPr>
        <p:blipFill>
          <a:blip r:embed="rId4"/>
          <a:stretch>
            <a:fillRect/>
          </a:stretch>
        </p:blipFill>
        <p:spPr>
          <a:xfrm>
            <a:off x="548640" y="3840480"/>
            <a:ext cx="292608" cy="292608"/>
          </a:xfrm>
          <a:prstGeom prst="rect">
            <a:avLst/>
          </a:prstGeom>
        </p:spPr>
      </p:pic>
      <p:sp>
        <p:nvSpPr>
          <p:cNvPr id="20" name="text-131"/>
          <p:cNvSpPr txBox="1"/>
          <p:nvPr/>
        </p:nvSpPr>
        <p:spPr>
          <a:xfrm>
            <a:off x="1143000" y="3657600"/>
            <a:ext cx="2743200" cy="274320"/>
          </a:xfrm>
          <a:prstGeom prst="rect">
            <a:avLst/>
          </a:prstGeom>
          <a:noFill/>
          <a:ln/>
        </p:spPr>
        <p:txBody>
          <a:bodyPr wrap="square" lIns="0" tIns="0" rIns="0" bIns="0" rtlCol="0" anchor="t"/>
          <a:lstStyle/>
          <a:p>
            <a:pPr indent="0" marL="0">
              <a:buNone/>
            </a:pPr>
            <a:r>
              <a:rPr lang="en-US" sz="1300" b="1" dirty="0">
                <a:solidFill>
                  <a:schemeClr val="accent4"/>
                </a:solidFill>
              </a:rPr>
              <a:t>Trust &amp; explain</a:t>
            </a:r>
            <a:endParaRPr lang="en-US" sz="1300" dirty="0"/>
          </a:p>
        </p:txBody>
      </p:sp>
      <p:sp>
        <p:nvSpPr>
          <p:cNvPr id="21" name="text-132"/>
          <p:cNvSpPr txBox="1"/>
          <p:nvPr/>
        </p:nvSpPr>
        <p:spPr>
          <a:xfrm>
            <a:off x="1143000" y="3931920"/>
            <a:ext cx="7589520" cy="274320"/>
          </a:xfrm>
          <a:prstGeom prst="rect">
            <a:avLst/>
          </a:prstGeom>
          <a:noFill/>
          <a:ln/>
        </p:spPr>
        <p:txBody>
          <a:bodyPr wrap="square" lIns="0" tIns="0" rIns="0" bIns="0" rtlCol="0" anchor="t"/>
          <a:lstStyle/>
          <a:p>
            <a:pPr indent="0" marL="0">
              <a:buNone/>
            </a:pPr>
            <a:r>
              <a:rPr lang="en-US" sz="1500" dirty="0">
                <a:solidFill>
                  <a:schemeClr val="tx1"/>
                </a:solidFill>
              </a:rPr>
              <a:t>Can we trust the scores, and why does the model flag #2?</a:t>
            </a:r>
            <a:endParaRPr lang="en-US" sz="1500" dirty="0"/>
          </a:p>
        </p:txBody>
      </p:sp>
      <p:sp>
        <p:nvSpPr>
          <p:cNvPr id="22" name="text-133"/>
          <p:cNvSpPr txBox="1"/>
          <p:nvPr/>
        </p:nvSpPr>
        <p:spPr>
          <a:xfrm>
            <a:off x="1143000" y="4206240"/>
            <a:ext cx="7589520" cy="237744"/>
          </a:xfrm>
          <a:prstGeom prst="rect">
            <a:avLst/>
          </a:prstGeom>
          <a:noFill/>
          <a:ln/>
        </p:spPr>
        <p:txBody>
          <a:bodyPr wrap="square" lIns="0" tIns="0" rIns="0" bIns="0" rtlCol="0" anchor="t"/>
          <a:lstStyle/>
          <a:p>
            <a:pPr indent="0" marL="0">
              <a:buNone/>
            </a:pPr>
            <a:r>
              <a:rPr lang="en-US" sz="1100" i="1" dirty="0">
                <a:solidFill>
                  <a:schemeClr val="tx2"/>
                </a:solidFill>
              </a:rPr>
              <a:t>Duplicates check, SHAP explanation</a:t>
            </a:r>
            <a:endParaRPr lang="en-US" sz="1100" dirty="0"/>
          </a:p>
        </p:txBody>
      </p:sp>
      <p:sp>
        <p:nvSpPr>
          <p:cNvPr id="25" name="Slide Number Placeholder 0"/>
          <p:cNvSpPr>
            <a:spLocks noGrp="1"/>
          </p:cNvSpPr>
          <p:nvPr>
            <p:ph type="sldNum" sz="quarter" idx="4294967295"/>
          </p:nvPr>
        </p:nvSpPr>
        <p:spPr>
          <a:xfrm>
            <a:off x="8412480" y="4800600"/>
            <a:ext cx="41148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11480" y="256032"/>
            <a:ext cx="6903720" cy="502920"/>
          </a:xfrm>
          <a:prstGeom prst="rect">
            <a:avLst/>
          </a:prstGeom>
          <a:noFill/>
          <a:ln/>
        </p:spPr>
        <p:txBody>
          <a:bodyPr wrap="square" lIns="0" tIns="0" rIns="0" bIns="0" rtlCol="0" anchor="ctr"/>
          <a:lstStyle/>
          <a:p>
            <a:pPr algn="l" indent="0" marL="0">
              <a:buNone/>
            </a:pPr>
            <a:r>
              <a:rPr lang="en-US" sz="2400" dirty="0">
                <a:solidFill>
                  <a:schemeClr val="tx1"/>
                </a:solidFill>
                <a:latin typeface="Bookman Old Style" pitchFamily="34" charset="0"/>
                <a:ea typeface="Bookman Old Style" pitchFamily="34" charset="-122"/>
                <a:cs typeface="Bookman Old Style" pitchFamily="34" charset="-120"/>
              </a:rPr>
              <a:t>Step 1 · Can we recover the templates?</a:t>
            </a:r>
            <a:endParaRPr lang="en-US" sz="2400" dirty="0"/>
          </a:p>
        </p:txBody>
      </p:sp>
      <p:sp>
        <p:nvSpPr>
          <p:cNvPr id="3" name="tracker-134"/>
          <p:cNvSpPr/>
          <p:nvPr/>
        </p:nvSpPr>
        <p:spPr>
          <a:xfrm>
            <a:off x="7269480" y="347472"/>
            <a:ext cx="310896" cy="310896"/>
          </a:xfrm>
          <a:prstGeom prst="ellipse">
            <a:avLst/>
          </a:prstGeom>
          <a:solidFill>
            <a:schemeClr val="accent1"/>
          </a:solidFill>
          <a:ln w="12700">
            <a:solidFill>
              <a:schemeClr val="accent1"/>
            </a:solidFill>
            <a:prstDash val="solid"/>
          </a:ln>
        </p:spPr>
      </p:sp>
      <p:pic>
        <p:nvPicPr>
          <p:cNvPr id="4" name="tracker-icon-135" descr="preencoded.png">    </p:cNvPr>
          <p:cNvPicPr>
            <a:picLocks noChangeAspect="1"/>
          </p:cNvPicPr>
          <p:nvPr/>
        </p:nvPicPr>
        <p:blipFill>
          <a:blip r:embed="rId1"/>
          <a:stretch>
            <a:fillRect/>
          </a:stretch>
        </p:blipFill>
        <p:spPr>
          <a:xfrm>
            <a:off x="7347204" y="425196"/>
            <a:ext cx="155448" cy="155448"/>
          </a:xfrm>
          <a:prstGeom prst="rect">
            <a:avLst/>
          </a:prstGeom>
        </p:spPr>
      </p:pic>
      <p:sp>
        <p:nvSpPr>
          <p:cNvPr id="5" name="tracker-136"/>
          <p:cNvSpPr/>
          <p:nvPr/>
        </p:nvSpPr>
        <p:spPr>
          <a:xfrm>
            <a:off x="7653528" y="347472"/>
            <a:ext cx="310896" cy="310896"/>
          </a:xfrm>
          <a:prstGeom prst="ellipse">
            <a:avLst/>
          </a:prstGeom>
          <a:solidFill>
            <a:schemeClr val="bg2"/>
          </a:solidFill>
          <a:ln w="12700">
            <a:solidFill>
              <a:schemeClr val="bg2"/>
            </a:solidFill>
            <a:prstDash val="solid"/>
          </a:ln>
        </p:spPr>
      </p:sp>
      <p:pic>
        <p:nvPicPr>
          <p:cNvPr id="6" name="tracker-icon-137" descr="preencoded.png">    </p:cNvPr>
          <p:cNvPicPr>
            <a:picLocks noChangeAspect="1"/>
          </p:cNvPicPr>
          <p:nvPr/>
        </p:nvPicPr>
        <p:blipFill>
          <a:blip r:embed="rId2"/>
          <a:stretch>
            <a:fillRect/>
          </a:stretch>
        </p:blipFill>
        <p:spPr>
          <a:xfrm>
            <a:off x="7731252" y="425196"/>
            <a:ext cx="155448" cy="155448"/>
          </a:xfrm>
          <a:prstGeom prst="rect">
            <a:avLst/>
          </a:prstGeom>
        </p:spPr>
      </p:pic>
      <p:sp>
        <p:nvSpPr>
          <p:cNvPr id="7" name="tracker-138"/>
          <p:cNvSpPr/>
          <p:nvPr/>
        </p:nvSpPr>
        <p:spPr>
          <a:xfrm>
            <a:off x="8037576" y="347472"/>
            <a:ext cx="310896" cy="310896"/>
          </a:xfrm>
          <a:prstGeom prst="ellipse">
            <a:avLst/>
          </a:prstGeom>
          <a:solidFill>
            <a:schemeClr val="bg2"/>
          </a:solidFill>
          <a:ln w="12700">
            <a:solidFill>
              <a:schemeClr val="bg2"/>
            </a:solidFill>
            <a:prstDash val="solid"/>
          </a:ln>
        </p:spPr>
      </p:sp>
      <p:pic>
        <p:nvPicPr>
          <p:cNvPr id="8" name="tracker-icon-139" descr="preencoded.png">    </p:cNvPr>
          <p:cNvPicPr>
            <a:picLocks noChangeAspect="1"/>
          </p:cNvPicPr>
          <p:nvPr/>
        </p:nvPicPr>
        <p:blipFill>
          <a:blip r:embed="rId3"/>
          <a:stretch>
            <a:fillRect/>
          </a:stretch>
        </p:blipFill>
        <p:spPr>
          <a:xfrm>
            <a:off x="8115300" y="425196"/>
            <a:ext cx="155448" cy="155448"/>
          </a:xfrm>
          <a:prstGeom prst="rect">
            <a:avLst/>
          </a:prstGeom>
        </p:spPr>
      </p:pic>
      <p:sp>
        <p:nvSpPr>
          <p:cNvPr id="9" name="tracker-140"/>
          <p:cNvSpPr/>
          <p:nvPr/>
        </p:nvSpPr>
        <p:spPr>
          <a:xfrm>
            <a:off x="8421624" y="347472"/>
            <a:ext cx="310896" cy="310896"/>
          </a:xfrm>
          <a:prstGeom prst="ellipse">
            <a:avLst/>
          </a:prstGeom>
          <a:solidFill>
            <a:schemeClr val="bg2"/>
          </a:solidFill>
          <a:ln w="12700">
            <a:solidFill>
              <a:schemeClr val="bg2"/>
            </a:solidFill>
            <a:prstDash val="solid"/>
          </a:ln>
        </p:spPr>
      </p:sp>
      <p:pic>
        <p:nvPicPr>
          <p:cNvPr id="10" name="tracker-icon-141" descr="preencoded.png">    </p:cNvPr>
          <p:cNvPicPr>
            <a:picLocks noChangeAspect="1"/>
          </p:cNvPicPr>
          <p:nvPr/>
        </p:nvPicPr>
        <p:blipFill>
          <a:blip r:embed="rId4"/>
          <a:stretch>
            <a:fillRect/>
          </a:stretch>
        </p:blipFill>
        <p:spPr>
          <a:xfrm>
            <a:off x="8499348" y="425196"/>
            <a:ext cx="155448" cy="155448"/>
          </a:xfrm>
          <a:prstGeom prst="rect">
            <a:avLst/>
          </a:prstGeom>
        </p:spPr>
      </p:pic>
      <p:pic>
        <p:nvPicPr>
          <p:cNvPr id="11" name="toy-icon-142" descr="preencoded.png">    </p:cNvPr>
          <p:cNvPicPr>
            <a:picLocks noChangeAspect="1"/>
          </p:cNvPicPr>
          <p:nvPr/>
        </p:nvPicPr>
        <p:blipFill>
          <a:blip r:embed="rId5"/>
          <a:stretch>
            <a:fillRect/>
          </a:stretch>
        </p:blipFill>
        <p:spPr>
          <a:xfrm>
            <a:off x="411480" y="950976"/>
            <a:ext cx="201168" cy="201168"/>
          </a:xfrm>
          <a:prstGeom prst="rect">
            <a:avLst/>
          </a:prstGeom>
        </p:spPr>
      </p:pic>
      <p:sp>
        <p:nvSpPr>
          <p:cNvPr id="12" name="text-143"/>
          <p:cNvSpPr txBox="1"/>
          <p:nvPr/>
        </p:nvSpPr>
        <p:spPr>
          <a:xfrm>
            <a:off x="685800" y="932688"/>
            <a:ext cx="3703320" cy="256032"/>
          </a:xfrm>
          <a:prstGeom prst="rect">
            <a:avLst/>
          </a:prstGeom>
          <a:noFill/>
          <a:ln/>
        </p:spPr>
        <p:txBody>
          <a:bodyPr wrap="square" lIns="0" tIns="0" rIns="0" bIns="0" rtlCol="0" anchor="t"/>
          <a:lstStyle/>
          <a:p>
            <a:pPr indent="0" marL="0">
              <a:buNone/>
            </a:pPr>
            <a:r>
              <a:rPr lang="en-US" sz="1200" b="1" spc="100" kern="0" dirty="0">
                <a:solidFill>
                  <a:schemeClr val="accent5"/>
                </a:solidFill>
              </a:rPr>
              <a:t>FIRST, ON MINIHDFS (INVENTED)</a:t>
            </a:r>
            <a:endParaRPr lang="en-US" sz="1200" dirty="0"/>
          </a:p>
        </p:txBody>
      </p:sp>
      <p:sp>
        <p:nvSpPr>
          <p:cNvPr id="13" name="code-144"/>
          <p:cNvSpPr txBox="1"/>
          <p:nvPr/>
        </p:nvSpPr>
        <p:spPr>
          <a:xfrm>
            <a:off x="411480" y="1280160"/>
            <a:ext cx="2514600" cy="566928"/>
          </a:xfrm>
          <a:prstGeom prst="roundRect">
            <a:avLst>
              <a:gd name="adj" fmla="val 8065"/>
            </a:avLst>
          </a:prstGeom>
          <a:solidFill>
            <a:schemeClr val="bg2"/>
          </a:solidFill>
          <a:ln>
            <a:solidFill>
              <a:schemeClr val="bg2"/>
            </a:solidFill>
          </a:ln>
        </p:spPr>
        <p:txBody>
          <a:bodyPr wrap="square" lIns="1016" tIns="1016" rIns="1016" bIns="1016" rtlCol="0" anchor="ctr"/>
          <a:lstStyle/>
          <a:p>
            <a:pPr indent="0" marL="0">
              <a:buNone/>
            </a:pPr>
            <a:r>
              <a:rPr lang="en-US" sz="1100" dirty="0">
                <a:solidFill>
                  <a:schemeClr val="tx1"/>
                </a:solidFill>
                <a:latin typeface="Courier New" pitchFamily="34" charset="0"/>
                <a:ea typeface="Courier New" pitchFamily="34" charset="-122"/>
                <a:cs typeface="Courier New" pitchFamily="34" charset="-120"/>
              </a:rPr>
              <a:t>PacketResponder 1 for block</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blk_42 terminating</a:t>
            </a:r>
            <a:endParaRPr lang="en-US" sz="1100" dirty="0"/>
          </a:p>
        </p:txBody>
      </p:sp>
      <p:sp>
        <p:nvSpPr>
          <p:cNvPr id="14" name="arrow-145"/>
          <p:cNvSpPr/>
          <p:nvPr/>
        </p:nvSpPr>
        <p:spPr>
          <a:xfrm>
            <a:off x="2999232" y="1463040"/>
            <a:ext cx="292608" cy="201168"/>
          </a:xfrm>
          <a:prstGeom prst="rightArrow">
            <a:avLst/>
          </a:prstGeom>
          <a:solidFill>
            <a:schemeClr val="tx2"/>
          </a:solidFill>
          <a:ln w="12700">
            <a:solidFill>
              <a:schemeClr val="tx2"/>
            </a:solidFill>
            <a:prstDash val="solid"/>
          </a:ln>
        </p:spPr>
      </p:sp>
      <p:sp>
        <p:nvSpPr>
          <p:cNvPr id="15" name="pill-146"/>
          <p:cNvSpPr txBox="1"/>
          <p:nvPr/>
        </p:nvSpPr>
        <p:spPr>
          <a:xfrm>
            <a:off x="3364992" y="1399032"/>
            <a:ext cx="548640" cy="329184"/>
          </a:xfrm>
          <a:prstGeom prst="roundRect">
            <a:avLst>
              <a:gd name="adj" fmla="val 50000"/>
            </a:avLst>
          </a:prstGeom>
          <a:solidFill>
            <a:schemeClr val="accent1"/>
          </a:solidFill>
          <a:ln>
            <a:solidFill>
              <a:schemeClr val="accent1"/>
            </a:solidFill>
          </a:ln>
        </p:spPr>
        <p:txBody>
          <a:bodyPr wrap="square" lIns="254" tIns="254" rIns="254" bIns="254" rtlCol="0" anchor="ctr"/>
          <a:lstStyle/>
          <a:p>
            <a:pPr algn="ctr" indent="0" marL="0">
              <a:buNone/>
            </a:pPr>
            <a:r>
              <a:rPr lang="en-US" sz="1200" b="1" dirty="0">
                <a:solidFill>
                  <a:schemeClr val="bg1"/>
                </a:solidFill>
              </a:rPr>
              <a:t>P</a:t>
            </a:r>
            <a:endParaRPr lang="en-US" sz="1200" dirty="0"/>
          </a:p>
        </p:txBody>
      </p:sp>
      <p:sp>
        <p:nvSpPr>
          <p:cNvPr id="16" name="code-147"/>
          <p:cNvSpPr txBox="1"/>
          <p:nvPr/>
        </p:nvSpPr>
        <p:spPr>
          <a:xfrm>
            <a:off x="411480" y="2011680"/>
            <a:ext cx="2514600" cy="566928"/>
          </a:xfrm>
          <a:prstGeom prst="roundRect">
            <a:avLst>
              <a:gd name="adj" fmla="val 8065"/>
            </a:avLst>
          </a:prstGeom>
          <a:solidFill>
            <a:schemeClr val="bg2"/>
          </a:solidFill>
          <a:ln>
            <a:solidFill>
              <a:schemeClr val="bg2"/>
            </a:solidFill>
          </a:ln>
        </p:spPr>
        <p:txBody>
          <a:bodyPr wrap="square" lIns="1016" tIns="1016" rIns="1016" bIns="1016" rtlCol="0" anchor="ctr"/>
          <a:lstStyle/>
          <a:p>
            <a:pPr indent="0" marL="0">
              <a:buNone/>
            </a:pPr>
            <a:r>
              <a:rPr lang="en-US" sz="1100" dirty="0">
                <a:solidFill>
                  <a:schemeClr val="tx1"/>
                </a:solidFill>
                <a:latin typeface="Courier New" pitchFamily="34" charset="0"/>
                <a:ea typeface="Courier New" pitchFamily="34" charset="-122"/>
                <a:cs typeface="Courier New" pitchFamily="34" charset="-120"/>
              </a:rPr>
              <a:t>Receiving block blk_42</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src: /10.0.0.7:49239</a:t>
            </a:r>
            <a:endParaRPr lang="en-US" sz="1100" dirty="0"/>
          </a:p>
        </p:txBody>
      </p:sp>
      <p:sp>
        <p:nvSpPr>
          <p:cNvPr id="17" name="arrow-148"/>
          <p:cNvSpPr/>
          <p:nvPr/>
        </p:nvSpPr>
        <p:spPr>
          <a:xfrm>
            <a:off x="2999232" y="2194560"/>
            <a:ext cx="292608" cy="201168"/>
          </a:xfrm>
          <a:prstGeom prst="rightArrow">
            <a:avLst/>
          </a:prstGeom>
          <a:solidFill>
            <a:schemeClr val="tx2"/>
          </a:solidFill>
          <a:ln w="12700">
            <a:solidFill>
              <a:schemeClr val="tx2"/>
            </a:solidFill>
            <a:prstDash val="solid"/>
          </a:ln>
        </p:spPr>
      </p:sp>
      <p:sp>
        <p:nvSpPr>
          <p:cNvPr id="18" name="pill-149"/>
          <p:cNvSpPr txBox="1"/>
          <p:nvPr/>
        </p:nvSpPr>
        <p:spPr>
          <a:xfrm>
            <a:off x="3364992" y="2130552"/>
            <a:ext cx="548640" cy="329184"/>
          </a:xfrm>
          <a:prstGeom prst="roundRect">
            <a:avLst>
              <a:gd name="adj" fmla="val 50000"/>
            </a:avLst>
          </a:prstGeom>
          <a:solidFill>
            <a:schemeClr val="accent1"/>
          </a:solidFill>
          <a:ln>
            <a:solidFill>
              <a:schemeClr val="accent1"/>
            </a:solidFill>
          </a:ln>
        </p:spPr>
        <p:txBody>
          <a:bodyPr wrap="square" lIns="254" tIns="254" rIns="254" bIns="254" rtlCol="0" anchor="ctr"/>
          <a:lstStyle/>
          <a:p>
            <a:pPr algn="ctr" indent="0" marL="0">
              <a:buNone/>
            </a:pPr>
            <a:r>
              <a:rPr lang="en-US" sz="1200" b="1" dirty="0">
                <a:solidFill>
                  <a:schemeClr val="bg1"/>
                </a:solidFill>
              </a:rPr>
              <a:t>R</a:t>
            </a:r>
            <a:endParaRPr lang="en-US" sz="1200" dirty="0"/>
          </a:p>
        </p:txBody>
      </p:sp>
      <p:sp>
        <p:nvSpPr>
          <p:cNvPr id="19" name="text-150"/>
          <p:cNvSpPr txBox="1"/>
          <p:nvPr/>
        </p:nvSpPr>
        <p:spPr>
          <a:xfrm>
            <a:off x="411480" y="2596896"/>
            <a:ext cx="3977640" cy="219456"/>
          </a:xfrm>
          <a:prstGeom prst="rect">
            <a:avLst/>
          </a:prstGeom>
          <a:noFill/>
          <a:ln/>
        </p:spPr>
        <p:txBody>
          <a:bodyPr wrap="square" lIns="0" tIns="0" rIns="0" bIns="0" rtlCol="0" anchor="t"/>
          <a:lstStyle/>
          <a:p>
            <a:pPr indent="0" marL="0">
              <a:buNone/>
            </a:pPr>
            <a:r>
              <a:rPr lang="en-US" sz="1000" i="1" dirty="0">
                <a:solidFill>
                  <a:schemeClr val="tx2"/>
                </a:solidFill>
              </a:rPr>
              <a:t>regex masks ids, IPs, numbers before Drain</a:t>
            </a:r>
            <a:endParaRPr lang="en-US" sz="1000" dirty="0"/>
          </a:p>
        </p:txBody>
      </p:sp>
      <p:sp>
        <p:nvSpPr>
          <p:cNvPr id="20" name="text-151"/>
          <p:cNvSpPr txBox="1"/>
          <p:nvPr/>
        </p:nvSpPr>
        <p:spPr>
          <a:xfrm>
            <a:off x="411480" y="2926080"/>
            <a:ext cx="3977640" cy="274320"/>
          </a:xfrm>
          <a:prstGeom prst="rect">
            <a:avLst/>
          </a:prstGeom>
          <a:noFill/>
          <a:ln/>
        </p:spPr>
        <p:txBody>
          <a:bodyPr wrap="square" lIns="0" tIns="0" rIns="0" bIns="0" rtlCol="0" anchor="t"/>
          <a:lstStyle/>
          <a:p>
            <a:pPr indent="0" marL="0">
              <a:buNone/>
            </a:pPr>
            <a:r>
              <a:rPr lang="en-US" sz="1200" b="1" dirty="0">
                <a:solidFill>
                  <a:schemeClr val="tx1"/>
                </a:solidFill>
              </a:rPr>
              <a:t>Your turn: “Received block blk_42 of size 67108864” → ?</a:t>
            </a:r>
            <a:endParaRPr lang="en-US" sz="1200" dirty="0"/>
          </a:p>
        </p:txBody>
      </p:sp>
      <p:sp>
        <p:nvSpPr>
          <p:cNvPr id="21" name="answer-box-152"/>
          <p:cNvSpPr/>
          <p:nvPr/>
        </p:nvSpPr>
        <p:spPr>
          <a:xfrm>
            <a:off x="411480" y="3246120"/>
            <a:ext cx="2926080" cy="347472"/>
          </a:xfrm>
          <a:prstGeom prst="roundRect">
            <a:avLst>
              <a:gd name="adj" fmla="val 21053"/>
            </a:avLst>
          </a:prstGeom>
          <a:solidFill>
            <a:schemeClr val="bg1"/>
          </a:solidFill>
          <a:ln w="12700">
            <a:solidFill>
              <a:schemeClr val="tx2"/>
            </a:solidFill>
            <a:prstDash val="dash"/>
          </a:ln>
        </p:spPr>
      </p:sp>
      <p:sp>
        <p:nvSpPr>
          <p:cNvPr id="22" name="answer-153"/>
          <p:cNvSpPr txBox="1"/>
          <p:nvPr/>
        </p:nvSpPr>
        <p:spPr>
          <a:xfrm rot="10800000">
            <a:off x="484632" y="3291840"/>
            <a:ext cx="2779776" cy="256032"/>
          </a:xfrm>
          <a:prstGeom prst="rect">
            <a:avLst/>
          </a:prstGeom>
          <a:noFill/>
          <a:ln/>
        </p:spPr>
        <p:txBody>
          <a:bodyPr wrap="square" lIns="0" tIns="0" rIns="0" bIns="0" rtlCol="0" anchor="ctr"/>
          <a:lstStyle/>
          <a:p>
            <a:pPr algn="l" indent="0" marL="0">
              <a:buNone/>
            </a:pPr>
            <a:r>
              <a:rPr lang="en-US" sz="1100" i="1" dirty="0">
                <a:solidFill>
                  <a:schemeClr val="tx2"/>
                </a:solidFill>
              </a:rPr>
              <a:t>D  (Received block &lt;*&gt; of size &lt;*&gt; …)</a:t>
            </a:r>
            <a:endParaRPr lang="en-US" sz="1100" dirty="0"/>
          </a:p>
        </p:txBody>
      </p:sp>
      <p:graphicFrame>
        <p:nvGraphicFramePr>
          <p:cNvPr id="23" name="chart-154" descr=""/>
          <p:cNvGraphicFramePr/>
          <p:nvPr/>
        </p:nvGraphicFramePr>
        <p:xfrm>
          <a:off x="4572000" y="868680"/>
          <a:ext cx="4206240" cy="2103120"/>
        </p:xfrm>
        <a:graphic xmlns:a="http://schemas.openxmlformats.org/drawingml/2006/main">
          <a:graphicData uri="http://schemas.openxmlformats.org/drawingml/2006/chart">
            <c:chart xmlns:c="http://schemas.openxmlformats.org/drawingml/2006/chart" r:id="rId6"/>
          </a:graphicData>
        </a:graphic>
      </p:graphicFrame>
      <p:sp>
        <p:nvSpPr>
          <p:cNvPr id="24" name="means-card-155"/>
          <p:cNvSpPr/>
          <p:nvPr/>
        </p:nvSpPr>
        <p:spPr>
          <a:xfrm>
            <a:off x="4617720" y="3090672"/>
            <a:ext cx="4114800" cy="1691640"/>
          </a:xfrm>
          <a:prstGeom prst="roundRect">
            <a:avLst>
              <a:gd name="adj" fmla="val 4324"/>
            </a:avLst>
          </a:prstGeom>
          <a:solidFill>
            <a:schemeClr val="bg2"/>
          </a:solidFill>
          <a:ln w="12700">
            <a:solidFill>
              <a:schemeClr val="bg2"/>
            </a:solidFill>
            <a:prstDash val="solid"/>
          </a:ln>
        </p:spPr>
      </p:sp>
      <p:sp>
        <p:nvSpPr>
          <p:cNvPr id="25" name="text-156"/>
          <p:cNvSpPr txBox="1"/>
          <p:nvPr/>
        </p:nvSpPr>
        <p:spPr>
          <a:xfrm>
            <a:off x="4754880" y="3163824"/>
            <a:ext cx="3840480" cy="256032"/>
          </a:xfrm>
          <a:prstGeom prst="rect">
            <a:avLst/>
          </a:prstGeom>
          <a:noFill/>
          <a:ln/>
        </p:spPr>
        <p:txBody>
          <a:bodyPr wrap="square" lIns="0" tIns="0" rIns="0" bIns="0" rtlCol="0" anchor="t"/>
          <a:lstStyle/>
          <a:p>
            <a:pPr indent="0" marL="0">
              <a:buNone/>
            </a:pPr>
            <a:r>
              <a:rPr lang="en-US" sz="1300" b="1" dirty="0">
                <a:solidFill>
                  <a:schemeClr val="accent1"/>
                </a:solidFill>
              </a:rPr>
              <a:t>What it means</a:t>
            </a:r>
            <a:endParaRPr lang="en-US" sz="1300" dirty="0"/>
          </a:p>
        </p:txBody>
      </p:sp>
      <p:sp>
        <p:nvSpPr>
          <p:cNvPr id="26" name="means-text-157"/>
          <p:cNvSpPr txBox="1"/>
          <p:nvPr/>
        </p:nvSpPr>
        <p:spPr>
          <a:xfrm>
            <a:off x="4727448" y="3438144"/>
            <a:ext cx="3895344" cy="1280160"/>
          </a:xfrm>
          <a:prstGeom prst="rect">
            <a:avLst/>
          </a:prstGeom>
          <a:noFill/>
          <a:ln/>
        </p:spPr>
        <p:txBody>
          <a:bodyPr wrap="square" lIns="254" tIns="254" rIns="254" bIns="254" rtlCol="0" anchor="t"/>
          <a:lstStyle/>
          <a:p>
            <a:pPr marL="152400" indent="-152400">
              <a:spcAft>
                <a:spcPts val="300"/>
              </a:spcAft>
              <a:buSzPct val="100000"/>
              <a:buChar char="•"/>
            </a:pPr>
            <a:r>
              <a:rPr lang="en-US" sz="1250" dirty="0">
                <a:solidFill>
                  <a:schemeClr val="tx1"/>
                </a:solidFill>
              </a:rPr>
              <a:t>HDFS 1.000, BGL 0.970: almost every line gets its true template</a:t>
            </a:r>
            <a:endParaRPr lang="en-US" sz="1250" dirty="0"/>
          </a:p>
          <a:p>
            <a:pPr marL="152400" indent="-152400">
              <a:spcAft>
                <a:spcPts val="300"/>
              </a:spcAft>
              <a:buSzPct val="100000"/>
              <a:buChar char="•"/>
            </a:pPr>
            <a:r>
              <a:rPr lang="en-US" sz="1250" dirty="0">
                <a:solidFill>
                  <a:schemeClr val="tx1"/>
                </a:solidFill>
              </a:rPr>
              <a:t>Our first version re-spaced “&lt;*&gt;:” → BGL 0.918; found by ablation</a:t>
            </a:r>
            <a:endParaRPr lang="en-US" sz="1250" dirty="0"/>
          </a:p>
          <a:p>
            <a:pPr marL="152400" indent="-152400">
              <a:spcAft>
                <a:spcPts val="300"/>
              </a:spcAft>
              <a:buSzPct val="100000"/>
              <a:buChar char="•"/>
            </a:pPr>
            <a:r>
              <a:rPr lang="en-US" sz="1250" dirty="0">
                <a:solidFill>
                  <a:schemeClr val="tx1"/>
                </a:solidFill>
              </a:rPr>
              <a:t>BGL: 1,444 → 382 templates. HDFS: 46 = the paper's 46 MCV dims</a:t>
            </a:r>
            <a:endParaRPr lang="en-US" sz="1250" dirty="0"/>
          </a:p>
        </p:txBody>
      </p:sp>
      <p:sp>
        <p:nvSpPr>
          <p:cNvPr id="25" name="Slide Number Placeholder 0"/>
          <p:cNvSpPr>
            <a:spLocks noGrp="1"/>
          </p:cNvSpPr>
          <p:nvPr>
            <p:ph type="sldNum" sz="quarter" idx="4294967295"/>
          </p:nvPr>
        </p:nvSpPr>
        <p:spPr>
          <a:xfrm>
            <a:off x="8412480" y="4800600"/>
            <a:ext cx="41148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11480" y="256032"/>
            <a:ext cx="6903720" cy="502920"/>
          </a:xfrm>
          <a:prstGeom prst="rect">
            <a:avLst/>
          </a:prstGeom>
          <a:noFill/>
          <a:ln/>
        </p:spPr>
        <p:txBody>
          <a:bodyPr wrap="square" lIns="0" tIns="0" rIns="0" bIns="0" rtlCol="0" anchor="ctr"/>
          <a:lstStyle/>
          <a:p>
            <a:pPr algn="l" indent="0" marL="0">
              <a:buNone/>
            </a:pPr>
            <a:r>
              <a:rPr lang="en-US" sz="2400" dirty="0">
                <a:solidFill>
                  <a:schemeClr val="tx1"/>
                </a:solidFill>
                <a:latin typeface="Bookman Old Style" pitchFamily="34" charset="0"/>
                <a:ea typeface="Bookman Old Style" pitchFamily="34" charset="-122"/>
                <a:cs typeface="Bookman Old Style" pitchFamily="34" charset="-120"/>
              </a:rPr>
              <a:t>Step 2 · Does our data match the paper's?</a:t>
            </a:r>
            <a:endParaRPr lang="en-US" sz="2400" dirty="0"/>
          </a:p>
        </p:txBody>
      </p:sp>
      <p:sp>
        <p:nvSpPr>
          <p:cNvPr id="3" name="tracker-158"/>
          <p:cNvSpPr/>
          <p:nvPr/>
        </p:nvSpPr>
        <p:spPr>
          <a:xfrm>
            <a:off x="7269480" y="347472"/>
            <a:ext cx="310896" cy="310896"/>
          </a:xfrm>
          <a:prstGeom prst="ellipse">
            <a:avLst/>
          </a:prstGeom>
          <a:solidFill>
            <a:schemeClr val="accent1"/>
          </a:solidFill>
          <a:ln w="12700">
            <a:solidFill>
              <a:schemeClr val="accent1"/>
            </a:solidFill>
            <a:prstDash val="solid"/>
          </a:ln>
        </p:spPr>
      </p:sp>
      <p:pic>
        <p:nvPicPr>
          <p:cNvPr id="4" name="tracker-icon-159" descr="preencoded.png">    </p:cNvPr>
          <p:cNvPicPr>
            <a:picLocks noChangeAspect="1"/>
          </p:cNvPicPr>
          <p:nvPr/>
        </p:nvPicPr>
        <p:blipFill>
          <a:blip r:embed="rId1"/>
          <a:stretch>
            <a:fillRect/>
          </a:stretch>
        </p:blipFill>
        <p:spPr>
          <a:xfrm>
            <a:off x="7347204" y="425196"/>
            <a:ext cx="155448" cy="155448"/>
          </a:xfrm>
          <a:prstGeom prst="rect">
            <a:avLst/>
          </a:prstGeom>
        </p:spPr>
      </p:pic>
      <p:sp>
        <p:nvSpPr>
          <p:cNvPr id="5" name="tracker-160"/>
          <p:cNvSpPr/>
          <p:nvPr/>
        </p:nvSpPr>
        <p:spPr>
          <a:xfrm>
            <a:off x="7653528" y="347472"/>
            <a:ext cx="310896" cy="310896"/>
          </a:xfrm>
          <a:prstGeom prst="ellipse">
            <a:avLst/>
          </a:prstGeom>
          <a:solidFill>
            <a:schemeClr val="bg2"/>
          </a:solidFill>
          <a:ln w="12700">
            <a:solidFill>
              <a:schemeClr val="bg2"/>
            </a:solidFill>
            <a:prstDash val="solid"/>
          </a:ln>
        </p:spPr>
      </p:sp>
      <p:pic>
        <p:nvPicPr>
          <p:cNvPr id="6" name="tracker-icon-161" descr="preencoded.png">    </p:cNvPr>
          <p:cNvPicPr>
            <a:picLocks noChangeAspect="1"/>
          </p:cNvPicPr>
          <p:nvPr/>
        </p:nvPicPr>
        <p:blipFill>
          <a:blip r:embed="rId2"/>
          <a:stretch>
            <a:fillRect/>
          </a:stretch>
        </p:blipFill>
        <p:spPr>
          <a:xfrm>
            <a:off x="7731252" y="425196"/>
            <a:ext cx="155448" cy="155448"/>
          </a:xfrm>
          <a:prstGeom prst="rect">
            <a:avLst/>
          </a:prstGeom>
        </p:spPr>
      </p:pic>
      <p:sp>
        <p:nvSpPr>
          <p:cNvPr id="7" name="tracker-162"/>
          <p:cNvSpPr/>
          <p:nvPr/>
        </p:nvSpPr>
        <p:spPr>
          <a:xfrm>
            <a:off x="8037576" y="347472"/>
            <a:ext cx="310896" cy="310896"/>
          </a:xfrm>
          <a:prstGeom prst="ellipse">
            <a:avLst/>
          </a:prstGeom>
          <a:solidFill>
            <a:schemeClr val="bg2"/>
          </a:solidFill>
          <a:ln w="12700">
            <a:solidFill>
              <a:schemeClr val="bg2"/>
            </a:solidFill>
            <a:prstDash val="solid"/>
          </a:ln>
        </p:spPr>
      </p:sp>
      <p:pic>
        <p:nvPicPr>
          <p:cNvPr id="8" name="tracker-icon-163" descr="preencoded.png">    </p:cNvPr>
          <p:cNvPicPr>
            <a:picLocks noChangeAspect="1"/>
          </p:cNvPicPr>
          <p:nvPr/>
        </p:nvPicPr>
        <p:blipFill>
          <a:blip r:embed="rId3"/>
          <a:stretch>
            <a:fillRect/>
          </a:stretch>
        </p:blipFill>
        <p:spPr>
          <a:xfrm>
            <a:off x="8115300" y="425196"/>
            <a:ext cx="155448" cy="155448"/>
          </a:xfrm>
          <a:prstGeom prst="rect">
            <a:avLst/>
          </a:prstGeom>
        </p:spPr>
      </p:pic>
      <p:sp>
        <p:nvSpPr>
          <p:cNvPr id="9" name="tracker-164"/>
          <p:cNvSpPr/>
          <p:nvPr/>
        </p:nvSpPr>
        <p:spPr>
          <a:xfrm>
            <a:off x="8421624" y="347472"/>
            <a:ext cx="310896" cy="310896"/>
          </a:xfrm>
          <a:prstGeom prst="ellipse">
            <a:avLst/>
          </a:prstGeom>
          <a:solidFill>
            <a:schemeClr val="bg2"/>
          </a:solidFill>
          <a:ln w="12700">
            <a:solidFill>
              <a:schemeClr val="bg2"/>
            </a:solidFill>
            <a:prstDash val="solid"/>
          </a:ln>
        </p:spPr>
      </p:sp>
      <p:pic>
        <p:nvPicPr>
          <p:cNvPr id="10" name="tracker-icon-165" descr="preencoded.png">    </p:cNvPr>
          <p:cNvPicPr>
            <a:picLocks noChangeAspect="1"/>
          </p:cNvPicPr>
          <p:nvPr/>
        </p:nvPicPr>
        <p:blipFill>
          <a:blip r:embed="rId4"/>
          <a:stretch>
            <a:fillRect/>
          </a:stretch>
        </p:blipFill>
        <p:spPr>
          <a:xfrm>
            <a:off x="8499348" y="425196"/>
            <a:ext cx="155448" cy="155448"/>
          </a:xfrm>
          <a:prstGeom prst="rect">
            <a:avLst/>
          </a:prstGeom>
        </p:spPr>
      </p:pic>
      <p:pic>
        <p:nvPicPr>
          <p:cNvPr id="11" name="toy-icon-166" descr="preencoded.png">    </p:cNvPr>
          <p:cNvPicPr>
            <a:picLocks noChangeAspect="1"/>
          </p:cNvPicPr>
          <p:nvPr/>
        </p:nvPicPr>
        <p:blipFill>
          <a:blip r:embed="rId5"/>
          <a:stretch>
            <a:fillRect/>
          </a:stretch>
        </p:blipFill>
        <p:spPr>
          <a:xfrm>
            <a:off x="411480" y="950976"/>
            <a:ext cx="201168" cy="201168"/>
          </a:xfrm>
          <a:prstGeom prst="rect">
            <a:avLst/>
          </a:prstGeom>
        </p:spPr>
      </p:pic>
      <p:sp>
        <p:nvSpPr>
          <p:cNvPr id="12" name="text-167"/>
          <p:cNvSpPr txBox="1"/>
          <p:nvPr/>
        </p:nvSpPr>
        <p:spPr>
          <a:xfrm>
            <a:off x="685800" y="932688"/>
            <a:ext cx="3703320" cy="256032"/>
          </a:xfrm>
          <a:prstGeom prst="rect">
            <a:avLst/>
          </a:prstGeom>
          <a:noFill/>
          <a:ln/>
        </p:spPr>
        <p:txBody>
          <a:bodyPr wrap="square" lIns="0" tIns="0" rIns="0" bIns="0" rtlCol="0" anchor="t"/>
          <a:lstStyle/>
          <a:p>
            <a:pPr indent="0" marL="0">
              <a:buNone/>
            </a:pPr>
            <a:r>
              <a:rPr lang="en-US" sz="1200" b="1" spc="100" kern="0" dirty="0">
                <a:solidFill>
                  <a:schemeClr val="accent5"/>
                </a:solidFill>
              </a:rPr>
              <a:t>FIRST, ON A TOY BGL (INVENTED)</a:t>
            </a:r>
            <a:endParaRPr lang="en-US" sz="1200" dirty="0"/>
          </a:p>
        </p:txBody>
      </p:sp>
      <p:sp>
        <p:nvSpPr>
          <p:cNvPr id="13" name="text-168"/>
          <p:cNvSpPr txBox="1"/>
          <p:nvPr/>
        </p:nvSpPr>
        <p:spPr>
          <a:xfrm>
            <a:off x="411480" y="1207008"/>
            <a:ext cx="3977640" cy="256032"/>
          </a:xfrm>
          <a:prstGeom prst="rect">
            <a:avLst/>
          </a:prstGeom>
          <a:noFill/>
          <a:ln/>
        </p:spPr>
        <p:txBody>
          <a:bodyPr wrap="square" lIns="0" tIns="0" rIns="0" bIns="0" rtlCol="0" anchor="t"/>
          <a:lstStyle/>
          <a:p>
            <a:pPr indent="0" marL="0">
              <a:buNone/>
            </a:pPr>
            <a:r>
              <a:rPr lang="en-US" sz="1300" dirty="0">
                <a:solidFill>
                  <a:schemeClr val="tx1"/>
                </a:solidFill>
              </a:rPr>
              <a:t>No block id, so we cut by time:</a:t>
            </a:r>
            <a:endParaRPr lang="en-US" sz="1300" dirty="0"/>
          </a:p>
        </p:txBody>
      </p:sp>
      <p:sp>
        <p:nvSpPr>
          <p:cNvPr id="14" name="code-169"/>
          <p:cNvSpPr txBox="1"/>
          <p:nvPr/>
        </p:nvSpPr>
        <p:spPr>
          <a:xfrm>
            <a:off x="411480" y="1554480"/>
            <a:ext cx="2286000" cy="566928"/>
          </a:xfrm>
          <a:prstGeom prst="roundRect">
            <a:avLst>
              <a:gd name="adj" fmla="val 8065"/>
            </a:avLst>
          </a:prstGeom>
          <a:solidFill>
            <a:schemeClr val="bg2"/>
          </a:solidFill>
          <a:ln>
            <a:solidFill>
              <a:schemeClr val="bg2"/>
            </a:solidFill>
          </a:ln>
        </p:spPr>
        <p:txBody>
          <a:bodyPr wrap="square" lIns="1016" tIns="1016" rIns="1016" bIns="1016" rtlCol="0" anchor="ctr"/>
          <a:lstStyle/>
          <a:p>
            <a:pPr indent="0" marL="0">
              <a:buNone/>
            </a:pPr>
            <a:r>
              <a:rPr lang="en-US" sz="1050" dirty="0">
                <a:solidFill>
                  <a:schemeClr val="tx1"/>
                </a:solidFill>
                <a:latin typeface="Courier New" pitchFamily="34" charset="0"/>
                <a:ea typeface="Courier New" pitchFamily="34" charset="-122"/>
                <a:cs typeface="Courier New" pitchFamily="34" charset="-120"/>
              </a:rPr>
              <a:t>01:10 INFO parity fixed</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04:55 FATAL TLB error</a:t>
            </a:r>
            <a:endParaRPr lang="en-US" sz="1050" dirty="0"/>
          </a:p>
        </p:txBody>
      </p:sp>
      <p:sp>
        <p:nvSpPr>
          <p:cNvPr id="15" name="arrow-170"/>
          <p:cNvSpPr/>
          <p:nvPr/>
        </p:nvSpPr>
        <p:spPr>
          <a:xfrm>
            <a:off x="2770632" y="1737360"/>
            <a:ext cx="292608" cy="201168"/>
          </a:xfrm>
          <a:prstGeom prst="rightArrow">
            <a:avLst/>
          </a:prstGeom>
          <a:solidFill>
            <a:schemeClr val="tx2"/>
          </a:solidFill>
          <a:ln w="12700">
            <a:solidFill>
              <a:schemeClr val="tx2"/>
            </a:solidFill>
            <a:prstDash val="solid"/>
          </a:ln>
        </p:spPr>
      </p:sp>
      <p:sp>
        <p:nvSpPr>
          <p:cNvPr id="16" name="pill-171"/>
          <p:cNvSpPr txBox="1"/>
          <p:nvPr/>
        </p:nvSpPr>
        <p:spPr>
          <a:xfrm>
            <a:off x="3136392" y="1673352"/>
            <a:ext cx="1417320" cy="329184"/>
          </a:xfrm>
          <a:prstGeom prst="roundRect">
            <a:avLst>
              <a:gd name="adj" fmla="val 50000"/>
            </a:avLst>
          </a:prstGeom>
          <a:solidFill>
            <a:schemeClr val="accent6"/>
          </a:solidFill>
          <a:ln>
            <a:solidFill>
              <a:schemeClr val="accent6"/>
            </a:solidFill>
          </a:ln>
        </p:spPr>
        <p:txBody>
          <a:bodyPr wrap="square" lIns="254" tIns="254" rIns="254" bIns="254" rtlCol="0" anchor="ctr"/>
          <a:lstStyle/>
          <a:p>
            <a:pPr algn="ctr" indent="0" marL="0">
              <a:buNone/>
            </a:pPr>
            <a:r>
              <a:rPr lang="en-US" sz="1100" b="1" dirty="0">
                <a:solidFill>
                  <a:schemeClr val="bg1"/>
                </a:solidFill>
              </a:rPr>
              <a:t>window 1: anomaly</a:t>
            </a:r>
            <a:endParaRPr lang="en-US" sz="1100" dirty="0"/>
          </a:p>
        </p:txBody>
      </p:sp>
      <p:sp>
        <p:nvSpPr>
          <p:cNvPr id="17" name="code-172"/>
          <p:cNvSpPr txBox="1"/>
          <p:nvPr/>
        </p:nvSpPr>
        <p:spPr>
          <a:xfrm>
            <a:off x="411480" y="2286000"/>
            <a:ext cx="2286000" cy="566928"/>
          </a:xfrm>
          <a:prstGeom prst="roundRect">
            <a:avLst>
              <a:gd name="adj" fmla="val 8065"/>
            </a:avLst>
          </a:prstGeom>
          <a:solidFill>
            <a:schemeClr val="bg2"/>
          </a:solidFill>
          <a:ln>
            <a:solidFill>
              <a:schemeClr val="bg2"/>
            </a:solidFill>
          </a:ln>
        </p:spPr>
        <p:txBody>
          <a:bodyPr wrap="square" lIns="1016" tIns="1016" rIns="1016" bIns="1016" rtlCol="0" anchor="ctr"/>
          <a:lstStyle/>
          <a:p>
            <a:pPr indent="0" marL="0">
              <a:buNone/>
            </a:pPr>
            <a:r>
              <a:rPr lang="en-US" sz="1050" dirty="0">
                <a:solidFill>
                  <a:schemeClr val="tx1"/>
                </a:solidFill>
                <a:latin typeface="Courier New" pitchFamily="34" charset="0"/>
                <a:ea typeface="Courier New" pitchFamily="34" charset="-122"/>
                <a:cs typeface="Courier New" pitchFamily="34" charset="-120"/>
              </a:rPr>
              <a:t>07:02 INFO generating</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10:30 INFO LOGIN ok</a:t>
            </a:r>
            <a:endParaRPr lang="en-US" sz="1050" dirty="0"/>
          </a:p>
        </p:txBody>
      </p:sp>
      <p:sp>
        <p:nvSpPr>
          <p:cNvPr id="18" name="arrow-173"/>
          <p:cNvSpPr/>
          <p:nvPr/>
        </p:nvSpPr>
        <p:spPr>
          <a:xfrm>
            <a:off x="2770632" y="2468880"/>
            <a:ext cx="292608" cy="201168"/>
          </a:xfrm>
          <a:prstGeom prst="rightArrow">
            <a:avLst/>
          </a:prstGeom>
          <a:solidFill>
            <a:schemeClr val="tx2"/>
          </a:solidFill>
          <a:ln w="12700">
            <a:solidFill>
              <a:schemeClr val="tx2"/>
            </a:solidFill>
            <a:prstDash val="solid"/>
          </a:ln>
        </p:spPr>
      </p:sp>
      <p:sp>
        <p:nvSpPr>
          <p:cNvPr id="19" name="pill-174"/>
          <p:cNvSpPr txBox="1"/>
          <p:nvPr/>
        </p:nvSpPr>
        <p:spPr>
          <a:xfrm>
            <a:off x="3136392" y="2404872"/>
            <a:ext cx="1417320" cy="329184"/>
          </a:xfrm>
          <a:prstGeom prst="roundRect">
            <a:avLst>
              <a:gd name="adj" fmla="val 50000"/>
            </a:avLst>
          </a:prstGeom>
          <a:solidFill>
            <a:schemeClr val="tx2"/>
          </a:solidFill>
          <a:ln>
            <a:solidFill>
              <a:schemeClr val="tx2"/>
            </a:solidFill>
          </a:ln>
        </p:spPr>
        <p:txBody>
          <a:bodyPr wrap="square" lIns="254" tIns="254" rIns="254" bIns="254" rtlCol="0" anchor="ctr"/>
          <a:lstStyle/>
          <a:p>
            <a:pPr algn="ctr" indent="0" marL="0">
              <a:buNone/>
            </a:pPr>
            <a:r>
              <a:rPr lang="en-US" sz="1100" b="1" dirty="0">
                <a:solidFill>
                  <a:schemeClr val="bg1"/>
                </a:solidFill>
              </a:rPr>
              <a:t>window 2: normal</a:t>
            </a:r>
            <a:endParaRPr lang="en-US" sz="1100" dirty="0"/>
          </a:p>
        </p:txBody>
      </p:sp>
      <p:sp>
        <p:nvSpPr>
          <p:cNvPr id="20" name="text-175"/>
          <p:cNvSpPr txBox="1"/>
          <p:nvPr/>
        </p:nvSpPr>
        <p:spPr>
          <a:xfrm>
            <a:off x="411480" y="2871216"/>
            <a:ext cx="3749040" cy="219456"/>
          </a:xfrm>
          <a:prstGeom prst="rect">
            <a:avLst/>
          </a:prstGeom>
          <a:noFill/>
          <a:ln/>
        </p:spPr>
        <p:txBody>
          <a:bodyPr wrap="square" lIns="0" tIns="0" rIns="0" bIns="0" rtlCol="0" anchor="t"/>
          <a:lstStyle/>
          <a:p>
            <a:pPr indent="0" marL="0">
              <a:buNone/>
            </a:pPr>
            <a:r>
              <a:rPr lang="en-US" sz="1000" i="1" dirty="0">
                <a:solidFill>
                  <a:schemeClr val="tx2"/>
                </a:solidFill>
              </a:rPr>
              <a:t>6-hour windows; anomalous if any line is an alert</a:t>
            </a:r>
            <a:endParaRPr lang="en-US" sz="1000" dirty="0"/>
          </a:p>
        </p:txBody>
      </p:sp>
      <p:graphicFrame>
        <p:nvGraphicFramePr>
          <p:cNvPr id="11" name="table-176"/>
          <p:cNvGraphicFramePr>
            <a:graphicFrameLocks noGrp="1"/>
          </p:cNvGraphicFramePr>
          <p:nvPr>
            <p:extLst>
              <p:ext uri="{D42A27DB-BD31-4B8C-83A1-F6EECF244321}">
                <p14:modId xmlns:p14="http://schemas.microsoft.com/office/powerpoint/2010/main" val="1579011935"/>
              </p:ext>
            </p:extLst>
          </p:nvPr>
        </p:nvGraphicFramePr>
        <p:xfrm>
          <a:off x="4617720" y="914400"/>
          <a:ext cx="4114800" cy="914400"/>
        </p:xfrm>
        <a:graphic>
          <a:graphicData uri="http://schemas.openxmlformats.org/drawingml/2006/table">
            <a:tbl>
              <a:tblPr/>
              <a:tblGrid>
                <a:gridCol w="1554480"/>
                <a:gridCol w="1325880"/>
                <a:gridCol w="1234440"/>
              </a:tblGrid>
              <a:tr h="329184">
                <a:tc>
                  <a:txBody>
                    <a:bodyPr/>
                    <a:lstStyle/>
                    <a:p>
                      <a:pPr indent="0" marL="0">
                        <a:buNone/>
                      </a:pPr>
                      <a:endParaRPr lang="en-US" sz="1200" dirty="0"/>
                    </a:p>
                  </a:txBody>
                  <a:tcPr marL="45720" marR="4572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200" b="1" dirty="0">
                          <a:solidFill>
                            <a:schemeClr val="tx1"/>
                          </a:solidFill>
                        </a:rPr>
                        <a:t>ours</a:t>
                      </a:r>
                      <a:endParaRPr lang="en-US" sz="1200" dirty="0"/>
                    </a:p>
                  </a:txBody>
                  <a:tcPr marL="45720" marR="4572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200" b="1" dirty="0">
                          <a:solidFill>
                            <a:schemeClr val="tx1"/>
                          </a:solidFill>
                        </a:rPr>
                        <a:t>paper</a:t>
                      </a:r>
                      <a:endParaRPr lang="en-US" sz="1200" dirty="0"/>
                    </a:p>
                  </a:txBody>
                  <a:tcPr marL="45720" marR="4572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r>
              <a:tr h="329184">
                <a:tc>
                  <a:txBody>
                    <a:bodyPr/>
                    <a:lstStyle/>
                    <a:p>
                      <a:pPr indent="0" marL="0">
                        <a:buNone/>
                      </a:pPr>
                      <a:r>
                        <a:rPr lang="en-US" sz="1200" dirty="0">
                          <a:solidFill>
                            <a:schemeClr val="tx1"/>
                          </a:solidFill>
                        </a:rPr>
                        <a:t>HDFS sessions</a:t>
                      </a:r>
                      <a:endParaRPr lang="en-US" sz="1200" dirty="0"/>
                    </a:p>
                  </a:txBody>
                  <a:tcPr marL="45720" marR="4572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575,061</a:t>
                      </a:r>
                      <a:endParaRPr lang="en-US" sz="1200" dirty="0"/>
                    </a:p>
                  </a:txBody>
                  <a:tcPr marL="45720" marR="4572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575,061</a:t>
                      </a:r>
                      <a:endParaRPr lang="en-US" sz="1200" dirty="0"/>
                    </a:p>
                  </a:txBody>
                  <a:tcPr marL="45720" marR="4572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r>
              <a:tr h="329184">
                <a:tc>
                  <a:txBody>
                    <a:bodyPr/>
                    <a:lstStyle/>
                    <a:p>
                      <a:pPr indent="0" marL="0">
                        <a:buNone/>
                      </a:pPr>
                      <a:r>
                        <a:rPr lang="en-US" sz="1200" dirty="0">
                          <a:solidFill>
                            <a:schemeClr val="tx1"/>
                          </a:solidFill>
                        </a:rPr>
                        <a:t>HDFS train / test</a:t>
                      </a:r>
                      <a:endParaRPr lang="en-US" sz="1200" dirty="0"/>
                    </a:p>
                  </a:txBody>
                  <a:tcPr marL="45720" marR="4572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402,542 / 172,519</a:t>
                      </a:r>
                      <a:endParaRPr lang="en-US" sz="1200" dirty="0"/>
                    </a:p>
                  </a:txBody>
                  <a:tcPr marL="45720" marR="4572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402,542 / 172,519</a:t>
                      </a:r>
                      <a:endParaRPr lang="en-US" sz="1200" dirty="0"/>
                    </a:p>
                  </a:txBody>
                  <a:tcPr marL="45720" marR="4572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r>
              <a:tr h="329184">
                <a:tc>
                  <a:txBody>
                    <a:bodyPr/>
                    <a:lstStyle/>
                    <a:p>
                      <a:pPr indent="0" marL="0">
                        <a:buNone/>
                      </a:pPr>
                      <a:r>
                        <a:rPr lang="en-US" sz="1200" dirty="0">
                          <a:solidFill>
                            <a:schemeClr val="tx1"/>
                          </a:solidFill>
                        </a:rPr>
                        <a:t>BGL sessions</a:t>
                      </a:r>
                      <a:endParaRPr lang="en-US" sz="1200" dirty="0"/>
                    </a:p>
                  </a:txBody>
                  <a:tcPr marL="45720" marR="4572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6"/>
                          </a:solidFill>
                        </a:rPr>
                        <a:t>826</a:t>
                      </a:r>
                      <a:endParaRPr lang="en-US" sz="1200" dirty="0"/>
                    </a:p>
                  </a:txBody>
                  <a:tcPr marL="45720" marR="4572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6"/>
                          </a:solidFill>
                        </a:rPr>
                        <a:t>718</a:t>
                      </a:r>
                      <a:endParaRPr lang="en-US" sz="1200" dirty="0"/>
                    </a:p>
                  </a:txBody>
                  <a:tcPr marL="45720" marR="4572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r>
              <a:tr h="329184">
                <a:tc>
                  <a:txBody>
                    <a:bodyPr/>
                    <a:lstStyle/>
                    <a:p>
                      <a:pPr indent="0" marL="0">
                        <a:buNone/>
                      </a:pPr>
                      <a:r>
                        <a:rPr lang="en-US" sz="1200" dirty="0">
                          <a:solidFill>
                            <a:schemeClr val="tx1"/>
                          </a:solidFill>
                        </a:rPr>
                        <a:t>BGL lines / session</a:t>
                      </a:r>
                      <a:endParaRPr lang="en-US" sz="1200" dirty="0"/>
                    </a:p>
                  </a:txBody>
                  <a:tcPr marL="45720" marR="4572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5,748</a:t>
                      </a:r>
                      <a:endParaRPr lang="en-US" sz="1200" dirty="0"/>
                    </a:p>
                  </a:txBody>
                  <a:tcPr marL="45720" marR="4572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6,565</a:t>
                      </a:r>
                      <a:endParaRPr lang="en-US" sz="1200" dirty="0"/>
                    </a:p>
                  </a:txBody>
                  <a:tcPr marL="45720" marR="4572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r>
            </a:tbl>
          </a:graphicData>
        </a:graphic>
      </p:graphicFrame>
      <p:sp>
        <p:nvSpPr>
          <p:cNvPr id="22" name="text-177"/>
          <p:cNvSpPr txBox="1"/>
          <p:nvPr/>
        </p:nvSpPr>
        <p:spPr>
          <a:xfrm>
            <a:off x="4617720" y="2633472"/>
            <a:ext cx="4114800" cy="219456"/>
          </a:xfrm>
          <a:prstGeom prst="rect">
            <a:avLst/>
          </a:prstGeom>
          <a:noFill/>
          <a:ln/>
        </p:spPr>
        <p:txBody>
          <a:bodyPr wrap="square" lIns="0" tIns="0" rIns="0" bIns="0" rtlCol="0" anchor="t"/>
          <a:lstStyle/>
          <a:p>
            <a:pPr indent="0" marL="0">
              <a:buNone/>
            </a:pPr>
            <a:r>
              <a:rPr lang="en-US" sz="1000" i="1" dirty="0">
                <a:solidFill>
                  <a:schemeClr val="tx2"/>
                </a:solidFill>
              </a:rPr>
              <a:t>Paper: Wu et al. 2023, Table 1 and Sect. 4.</a:t>
            </a:r>
            <a:endParaRPr lang="en-US" sz="1000" dirty="0"/>
          </a:p>
        </p:txBody>
      </p:sp>
      <p:sp>
        <p:nvSpPr>
          <p:cNvPr id="23" name="means-card-178"/>
          <p:cNvSpPr/>
          <p:nvPr/>
        </p:nvSpPr>
        <p:spPr>
          <a:xfrm>
            <a:off x="4617720" y="2907792"/>
            <a:ext cx="4114800" cy="1874520"/>
          </a:xfrm>
          <a:prstGeom prst="roundRect">
            <a:avLst>
              <a:gd name="adj" fmla="val 3902"/>
            </a:avLst>
          </a:prstGeom>
          <a:solidFill>
            <a:schemeClr val="bg2"/>
          </a:solidFill>
          <a:ln w="12700">
            <a:solidFill>
              <a:schemeClr val="bg2"/>
            </a:solidFill>
            <a:prstDash val="solid"/>
          </a:ln>
        </p:spPr>
      </p:sp>
      <p:sp>
        <p:nvSpPr>
          <p:cNvPr id="24" name="text-179"/>
          <p:cNvSpPr txBox="1"/>
          <p:nvPr/>
        </p:nvSpPr>
        <p:spPr>
          <a:xfrm>
            <a:off x="4754880" y="2980944"/>
            <a:ext cx="3840480" cy="256032"/>
          </a:xfrm>
          <a:prstGeom prst="rect">
            <a:avLst/>
          </a:prstGeom>
          <a:noFill/>
          <a:ln/>
        </p:spPr>
        <p:txBody>
          <a:bodyPr wrap="square" lIns="0" tIns="0" rIns="0" bIns="0" rtlCol="0" anchor="t"/>
          <a:lstStyle/>
          <a:p>
            <a:pPr indent="0" marL="0">
              <a:buNone/>
            </a:pPr>
            <a:r>
              <a:rPr lang="en-US" sz="1300" b="1" dirty="0">
                <a:solidFill>
                  <a:schemeClr val="accent1"/>
                </a:solidFill>
              </a:rPr>
              <a:t>What it means</a:t>
            </a:r>
            <a:endParaRPr lang="en-US" sz="1300" dirty="0"/>
          </a:p>
        </p:txBody>
      </p:sp>
      <p:sp>
        <p:nvSpPr>
          <p:cNvPr id="25" name="means-text-180"/>
          <p:cNvSpPr txBox="1"/>
          <p:nvPr/>
        </p:nvSpPr>
        <p:spPr>
          <a:xfrm>
            <a:off x="4727448" y="3255264"/>
            <a:ext cx="3895344" cy="1463040"/>
          </a:xfrm>
          <a:prstGeom prst="rect">
            <a:avLst/>
          </a:prstGeom>
          <a:noFill/>
          <a:ln/>
        </p:spPr>
        <p:txBody>
          <a:bodyPr wrap="square" lIns="254" tIns="254" rIns="254" bIns="254" rtlCol="0" anchor="t"/>
          <a:lstStyle/>
          <a:p>
            <a:pPr marL="152400" indent="-152400">
              <a:spcAft>
                <a:spcPts val="300"/>
              </a:spcAft>
              <a:buSzPct val="100000"/>
              <a:buChar char="•"/>
            </a:pPr>
            <a:r>
              <a:rPr lang="en-US" sz="1200" dirty="0">
                <a:solidFill>
                  <a:schemeClr val="tx1"/>
                </a:solidFill>
              </a:rPr>
              <a:t>HDFS: identical to the paper, split included</a:t>
            </a:r>
            <a:endParaRPr lang="en-US" sz="1200" dirty="0"/>
          </a:p>
          <a:p>
            <a:pPr marL="152400" indent="-152400">
              <a:spcAft>
                <a:spcPts val="300"/>
              </a:spcAft>
              <a:buSzPct val="100000"/>
              <a:buChar char="•"/>
            </a:pPr>
            <a:r>
              <a:rPr lang="en-US" sz="1200" dirty="0">
                <a:solidFill>
                  <a:schemeClr val="tx1"/>
                </a:solidFill>
              </a:rPr>
              <a:t>BGL: 4,713,493 non-empty lines / 718 = 6,564.8 ≈ paper's 6,565: they likely dropped empty lines</a:t>
            </a:r>
            <a:endParaRPr lang="en-US" sz="1200" dirty="0"/>
          </a:p>
          <a:p>
            <a:pPr marL="152400" indent="-152400">
              <a:spcAft>
                <a:spcPts val="300"/>
              </a:spcAft>
              <a:buSzPct val="100000"/>
              <a:buChar char="•"/>
            </a:pPr>
            <a:r>
              <a:rPr lang="en-US" sz="1200" dirty="0">
                <a:solidFill>
                  <a:schemeClr val="tx1"/>
                </a:solidFill>
              </a:rPr>
              <a:t>Window rule not described → we keep 826</a:t>
            </a:r>
            <a:endParaRPr lang="en-US" sz="1200" dirty="0"/>
          </a:p>
          <a:p>
            <a:pPr marL="152400" indent="-152400">
              <a:spcAft>
                <a:spcPts val="300"/>
              </a:spcAft>
              <a:buSzPct val="100000"/>
              <a:buChar char="•"/>
            </a:pPr>
            <a:r>
              <a:rPr lang="en-US" sz="1200" dirty="0">
                <a:solidFill>
                  <a:schemeClr val="tx1"/>
                </a:solidFill>
              </a:rPr>
              <a:t>49.5% anomalous: “always anomaly” gets F1 0.66</a:t>
            </a:r>
            <a:endParaRPr lang="en-US" sz="1200" dirty="0"/>
          </a:p>
        </p:txBody>
      </p:sp>
      <p:sp>
        <p:nvSpPr>
          <p:cNvPr id="25" name="Slide Number Placeholder 0"/>
          <p:cNvSpPr>
            <a:spLocks noGrp="1"/>
          </p:cNvSpPr>
          <p:nvPr>
            <p:ph type="sldNum" sz="quarter" idx="4294967295"/>
          </p:nvPr>
        </p:nvSpPr>
        <p:spPr>
          <a:xfrm>
            <a:off x="8412480" y="4800600"/>
            <a:ext cx="41148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11480" y="256032"/>
            <a:ext cx="6903720" cy="502920"/>
          </a:xfrm>
          <a:prstGeom prst="rect">
            <a:avLst/>
          </a:prstGeom>
          <a:noFill/>
          <a:ln/>
        </p:spPr>
        <p:txBody>
          <a:bodyPr wrap="square" lIns="0" tIns="0" rIns="0" bIns="0" rtlCol="0" anchor="ctr"/>
          <a:lstStyle/>
          <a:p>
            <a:pPr algn="l" indent="0" marL="0">
              <a:buNone/>
            </a:pPr>
            <a:r>
              <a:rPr lang="en-US" sz="2400" dirty="0">
                <a:solidFill>
                  <a:schemeClr val="tx1"/>
                </a:solidFill>
                <a:latin typeface="Bookman Old Style" pitchFamily="34" charset="0"/>
                <a:ea typeface="Bookman Old Style" pitchFamily="34" charset="-122"/>
                <a:cs typeface="Bookman Old Style" pitchFamily="34" charset="-120"/>
              </a:rPr>
              <a:t>RQ1 · With labels, which detector wins?</a:t>
            </a:r>
            <a:endParaRPr lang="en-US" sz="2400" dirty="0"/>
          </a:p>
        </p:txBody>
      </p:sp>
      <p:sp>
        <p:nvSpPr>
          <p:cNvPr id="3" name="tracker-181"/>
          <p:cNvSpPr/>
          <p:nvPr/>
        </p:nvSpPr>
        <p:spPr>
          <a:xfrm>
            <a:off x="7269480" y="347472"/>
            <a:ext cx="310896" cy="310896"/>
          </a:xfrm>
          <a:prstGeom prst="ellipse">
            <a:avLst/>
          </a:prstGeom>
          <a:solidFill>
            <a:schemeClr val="bg2"/>
          </a:solidFill>
          <a:ln w="12700">
            <a:solidFill>
              <a:schemeClr val="bg2"/>
            </a:solidFill>
            <a:prstDash val="solid"/>
          </a:ln>
        </p:spPr>
      </p:sp>
      <p:pic>
        <p:nvPicPr>
          <p:cNvPr id="4" name="tracker-icon-182" descr="preencoded.png">    </p:cNvPr>
          <p:cNvPicPr>
            <a:picLocks noChangeAspect="1"/>
          </p:cNvPicPr>
          <p:nvPr/>
        </p:nvPicPr>
        <p:blipFill>
          <a:blip r:embed="rId1"/>
          <a:stretch>
            <a:fillRect/>
          </a:stretch>
        </p:blipFill>
        <p:spPr>
          <a:xfrm>
            <a:off x="7347204" y="425196"/>
            <a:ext cx="155448" cy="155448"/>
          </a:xfrm>
          <a:prstGeom prst="rect">
            <a:avLst/>
          </a:prstGeom>
        </p:spPr>
      </p:pic>
      <p:sp>
        <p:nvSpPr>
          <p:cNvPr id="5" name="tracker-183"/>
          <p:cNvSpPr/>
          <p:nvPr/>
        </p:nvSpPr>
        <p:spPr>
          <a:xfrm>
            <a:off x="7653528" y="347472"/>
            <a:ext cx="310896" cy="310896"/>
          </a:xfrm>
          <a:prstGeom prst="ellipse">
            <a:avLst/>
          </a:prstGeom>
          <a:solidFill>
            <a:schemeClr val="accent2"/>
          </a:solidFill>
          <a:ln w="12700">
            <a:solidFill>
              <a:schemeClr val="accent2"/>
            </a:solidFill>
            <a:prstDash val="solid"/>
          </a:ln>
        </p:spPr>
      </p:sp>
      <p:pic>
        <p:nvPicPr>
          <p:cNvPr id="6" name="tracker-icon-184" descr="preencoded.png">    </p:cNvPr>
          <p:cNvPicPr>
            <a:picLocks noChangeAspect="1"/>
          </p:cNvPicPr>
          <p:nvPr/>
        </p:nvPicPr>
        <p:blipFill>
          <a:blip r:embed="rId2"/>
          <a:stretch>
            <a:fillRect/>
          </a:stretch>
        </p:blipFill>
        <p:spPr>
          <a:xfrm>
            <a:off x="7731252" y="425196"/>
            <a:ext cx="155448" cy="155448"/>
          </a:xfrm>
          <a:prstGeom prst="rect">
            <a:avLst/>
          </a:prstGeom>
        </p:spPr>
      </p:pic>
      <p:sp>
        <p:nvSpPr>
          <p:cNvPr id="7" name="tracker-185"/>
          <p:cNvSpPr/>
          <p:nvPr/>
        </p:nvSpPr>
        <p:spPr>
          <a:xfrm>
            <a:off x="8037576" y="347472"/>
            <a:ext cx="310896" cy="310896"/>
          </a:xfrm>
          <a:prstGeom prst="ellipse">
            <a:avLst/>
          </a:prstGeom>
          <a:solidFill>
            <a:schemeClr val="bg2"/>
          </a:solidFill>
          <a:ln w="12700">
            <a:solidFill>
              <a:schemeClr val="bg2"/>
            </a:solidFill>
            <a:prstDash val="solid"/>
          </a:ln>
        </p:spPr>
      </p:sp>
      <p:pic>
        <p:nvPicPr>
          <p:cNvPr id="8" name="tracker-icon-186" descr="preencoded.png">    </p:cNvPr>
          <p:cNvPicPr>
            <a:picLocks noChangeAspect="1"/>
          </p:cNvPicPr>
          <p:nvPr/>
        </p:nvPicPr>
        <p:blipFill>
          <a:blip r:embed="rId3"/>
          <a:stretch>
            <a:fillRect/>
          </a:stretch>
        </p:blipFill>
        <p:spPr>
          <a:xfrm>
            <a:off x="8115300" y="425196"/>
            <a:ext cx="155448" cy="155448"/>
          </a:xfrm>
          <a:prstGeom prst="rect">
            <a:avLst/>
          </a:prstGeom>
        </p:spPr>
      </p:pic>
      <p:sp>
        <p:nvSpPr>
          <p:cNvPr id="9" name="tracker-187"/>
          <p:cNvSpPr/>
          <p:nvPr/>
        </p:nvSpPr>
        <p:spPr>
          <a:xfrm>
            <a:off x="8421624" y="347472"/>
            <a:ext cx="310896" cy="310896"/>
          </a:xfrm>
          <a:prstGeom prst="ellipse">
            <a:avLst/>
          </a:prstGeom>
          <a:solidFill>
            <a:schemeClr val="bg2"/>
          </a:solidFill>
          <a:ln w="12700">
            <a:solidFill>
              <a:schemeClr val="bg2"/>
            </a:solidFill>
            <a:prstDash val="solid"/>
          </a:ln>
        </p:spPr>
      </p:sp>
      <p:pic>
        <p:nvPicPr>
          <p:cNvPr id="10" name="tracker-icon-188" descr="preencoded.png">    </p:cNvPr>
          <p:cNvPicPr>
            <a:picLocks noChangeAspect="1"/>
          </p:cNvPicPr>
          <p:nvPr/>
        </p:nvPicPr>
        <p:blipFill>
          <a:blip r:embed="rId4"/>
          <a:stretch>
            <a:fillRect/>
          </a:stretch>
        </p:blipFill>
        <p:spPr>
          <a:xfrm>
            <a:off x="8499348" y="425196"/>
            <a:ext cx="155448" cy="155448"/>
          </a:xfrm>
          <a:prstGeom prst="rect">
            <a:avLst/>
          </a:prstGeom>
        </p:spPr>
      </p:pic>
      <p:pic>
        <p:nvPicPr>
          <p:cNvPr id="11" name="toy-icon-189" descr="preencoded.png">    </p:cNvPr>
          <p:cNvPicPr>
            <a:picLocks noChangeAspect="1"/>
          </p:cNvPicPr>
          <p:nvPr/>
        </p:nvPicPr>
        <p:blipFill>
          <a:blip r:embed="rId5"/>
          <a:stretch>
            <a:fillRect/>
          </a:stretch>
        </p:blipFill>
        <p:spPr>
          <a:xfrm>
            <a:off x="411480" y="950976"/>
            <a:ext cx="201168" cy="201168"/>
          </a:xfrm>
          <a:prstGeom prst="rect">
            <a:avLst/>
          </a:prstGeom>
        </p:spPr>
      </p:pic>
      <p:sp>
        <p:nvSpPr>
          <p:cNvPr id="12" name="text-190"/>
          <p:cNvSpPr txBox="1"/>
          <p:nvPr/>
        </p:nvSpPr>
        <p:spPr>
          <a:xfrm>
            <a:off x="685800" y="932688"/>
            <a:ext cx="3703320" cy="256032"/>
          </a:xfrm>
          <a:prstGeom prst="rect">
            <a:avLst/>
          </a:prstGeom>
          <a:noFill/>
          <a:ln/>
        </p:spPr>
        <p:txBody>
          <a:bodyPr wrap="square" lIns="0" tIns="0" rIns="0" bIns="0" rtlCol="0" anchor="t"/>
          <a:lstStyle/>
          <a:p>
            <a:pPr indent="0" marL="0">
              <a:buNone/>
            </a:pPr>
            <a:r>
              <a:rPr lang="en-US" sz="1200" b="1" spc="100" kern="0" dirty="0">
                <a:solidFill>
                  <a:schemeClr val="accent5"/>
                </a:solidFill>
              </a:rPr>
              <a:t>FIRST, ON MINIHDFS (INVENTED)</a:t>
            </a:r>
            <a:endParaRPr lang="en-US" sz="1200" dirty="0"/>
          </a:p>
        </p:txBody>
      </p:sp>
      <p:sp>
        <p:nvSpPr>
          <p:cNvPr id="13" name="code-191"/>
          <p:cNvSpPr txBox="1"/>
          <p:nvPr/>
        </p:nvSpPr>
        <p:spPr>
          <a:xfrm>
            <a:off x="411480" y="1280160"/>
            <a:ext cx="2514600" cy="566928"/>
          </a:xfrm>
          <a:prstGeom prst="roundRect">
            <a:avLst>
              <a:gd name="adj" fmla="val 8065"/>
            </a:avLst>
          </a:prstGeom>
          <a:solidFill>
            <a:schemeClr val="bg2"/>
          </a:solidFill>
          <a:ln>
            <a:solidFill>
              <a:schemeClr val="bg2"/>
            </a:solidFill>
          </a:ln>
        </p:spPr>
        <p:txBody>
          <a:bodyPr wrap="square" lIns="1016" tIns="1016" rIns="1016" bIns="1016" rtlCol="0" anchor="ctr"/>
          <a:lstStyle/>
          <a:p>
            <a:pPr indent="0" marL="0">
              <a:buNone/>
            </a:pPr>
            <a:r>
              <a:rPr lang="en-US" sz="1100" dirty="0">
                <a:solidFill>
                  <a:schemeClr val="tx1"/>
                </a:solidFill>
                <a:latin typeface="Courier New" pitchFamily="34" charset="0"/>
                <a:ea typeface="Courier New" pitchFamily="34" charset="-122"/>
                <a:cs typeface="Courier New" pitchFamily="34" charset="-120"/>
              </a:rPr>
              <a:t>block #3 counts</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[2 1 0 0 0 1]</a:t>
            </a:r>
            <a:endParaRPr lang="en-US" sz="1100" dirty="0"/>
          </a:p>
        </p:txBody>
      </p:sp>
      <p:sp>
        <p:nvSpPr>
          <p:cNvPr id="14" name="arrow-192"/>
          <p:cNvSpPr/>
          <p:nvPr/>
        </p:nvSpPr>
        <p:spPr>
          <a:xfrm>
            <a:off x="2999232" y="1463040"/>
            <a:ext cx="292608" cy="201168"/>
          </a:xfrm>
          <a:prstGeom prst="rightArrow">
            <a:avLst/>
          </a:prstGeom>
          <a:solidFill>
            <a:schemeClr val="tx2"/>
          </a:solidFill>
          <a:ln w="12700">
            <a:solidFill>
              <a:schemeClr val="tx2"/>
            </a:solidFill>
            <a:prstDash val="solid"/>
          </a:ln>
        </p:spPr>
      </p:sp>
      <p:sp>
        <p:nvSpPr>
          <p:cNvPr id="15" name="pill-193"/>
          <p:cNvSpPr txBox="1"/>
          <p:nvPr/>
        </p:nvSpPr>
        <p:spPr>
          <a:xfrm>
            <a:off x="3364992" y="1399032"/>
            <a:ext cx="1188720" cy="329184"/>
          </a:xfrm>
          <a:prstGeom prst="roundRect">
            <a:avLst>
              <a:gd name="adj" fmla="val 50000"/>
            </a:avLst>
          </a:prstGeom>
          <a:solidFill>
            <a:schemeClr val="accent6"/>
          </a:solidFill>
          <a:ln>
            <a:solidFill>
              <a:schemeClr val="accent6"/>
            </a:solidFill>
          </a:ln>
        </p:spPr>
        <p:txBody>
          <a:bodyPr wrap="square" lIns="254" tIns="254" rIns="254" bIns="254" rtlCol="0" anchor="ctr"/>
          <a:lstStyle/>
          <a:p>
            <a:pPr algn="ctr" indent="0" marL="0">
              <a:buNone/>
            </a:pPr>
            <a:r>
              <a:rPr lang="en-US" sz="1200" b="1" dirty="0">
                <a:solidFill>
                  <a:schemeClr val="bg1"/>
                </a:solidFill>
              </a:rPr>
              <a:t>RF: anomaly</a:t>
            </a:r>
            <a:endParaRPr lang="en-US" sz="1200" dirty="0"/>
          </a:p>
        </p:txBody>
      </p:sp>
      <p:sp>
        <p:nvSpPr>
          <p:cNvPr id="16" name="code-194"/>
          <p:cNvSpPr txBox="1"/>
          <p:nvPr/>
        </p:nvSpPr>
        <p:spPr>
          <a:xfrm>
            <a:off x="411480" y="2011680"/>
            <a:ext cx="2514600" cy="566928"/>
          </a:xfrm>
          <a:prstGeom prst="roundRect">
            <a:avLst>
              <a:gd name="adj" fmla="val 8065"/>
            </a:avLst>
          </a:prstGeom>
          <a:solidFill>
            <a:schemeClr val="bg2"/>
          </a:solidFill>
          <a:ln>
            <a:solidFill>
              <a:schemeClr val="bg2"/>
            </a:solidFill>
          </a:ln>
        </p:spPr>
        <p:txBody>
          <a:bodyPr wrap="square" lIns="1016" tIns="1016" rIns="1016" bIns="1016" rtlCol="0" anchor="ctr"/>
          <a:lstStyle/>
          <a:p>
            <a:pPr indent="0" marL="0">
              <a:buNone/>
            </a:pPr>
            <a:r>
              <a:rPr lang="en-US" sz="1100" dirty="0">
                <a:solidFill>
                  <a:schemeClr val="tx1"/>
                </a:solidFill>
                <a:latin typeface="Courier New" pitchFamily="34" charset="0"/>
                <a:ea typeface="Courier New" pitchFamily="34" charset="-122"/>
                <a:cs typeface="Courier New" pitchFamily="34" charset="-120"/>
              </a:rPr>
              <a:t>block #3 as word vectors</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R → R → A → E</a:t>
            </a:r>
            <a:endParaRPr lang="en-US" sz="1100" dirty="0"/>
          </a:p>
        </p:txBody>
      </p:sp>
      <p:sp>
        <p:nvSpPr>
          <p:cNvPr id="17" name="arrow-195"/>
          <p:cNvSpPr/>
          <p:nvPr/>
        </p:nvSpPr>
        <p:spPr>
          <a:xfrm>
            <a:off x="2999232" y="2194560"/>
            <a:ext cx="292608" cy="201168"/>
          </a:xfrm>
          <a:prstGeom prst="rightArrow">
            <a:avLst/>
          </a:prstGeom>
          <a:solidFill>
            <a:schemeClr val="tx2"/>
          </a:solidFill>
          <a:ln w="12700">
            <a:solidFill>
              <a:schemeClr val="tx2"/>
            </a:solidFill>
            <a:prstDash val="solid"/>
          </a:ln>
        </p:spPr>
      </p:sp>
      <p:sp>
        <p:nvSpPr>
          <p:cNvPr id="18" name="pill-196"/>
          <p:cNvSpPr txBox="1"/>
          <p:nvPr/>
        </p:nvSpPr>
        <p:spPr>
          <a:xfrm>
            <a:off x="3364992" y="2130552"/>
            <a:ext cx="1188720" cy="329184"/>
          </a:xfrm>
          <a:prstGeom prst="roundRect">
            <a:avLst>
              <a:gd name="adj" fmla="val 50000"/>
            </a:avLst>
          </a:prstGeom>
          <a:solidFill>
            <a:schemeClr val="accent6"/>
          </a:solidFill>
          <a:ln>
            <a:solidFill>
              <a:schemeClr val="accent6"/>
            </a:solidFill>
          </a:ln>
        </p:spPr>
        <p:txBody>
          <a:bodyPr wrap="square" lIns="254" tIns="254" rIns="254" bIns="254" rtlCol="0" anchor="ctr"/>
          <a:lstStyle/>
          <a:p>
            <a:pPr algn="ctr" indent="0" marL="0">
              <a:buNone/>
            </a:pPr>
            <a:r>
              <a:rPr lang="en-US" sz="1200" b="1" dirty="0">
                <a:solidFill>
                  <a:schemeClr val="bg1"/>
                </a:solidFill>
              </a:rPr>
              <a:t>LSTM: anomaly</a:t>
            </a:r>
            <a:endParaRPr lang="en-US" sz="1200" dirty="0"/>
          </a:p>
        </p:txBody>
      </p:sp>
      <p:sp>
        <p:nvSpPr>
          <p:cNvPr id="19" name="text-197"/>
          <p:cNvSpPr txBox="1"/>
          <p:nvPr/>
        </p:nvSpPr>
        <p:spPr>
          <a:xfrm>
            <a:off x="411480" y="2596896"/>
            <a:ext cx="3977640" cy="219456"/>
          </a:xfrm>
          <a:prstGeom prst="rect">
            <a:avLst/>
          </a:prstGeom>
          <a:noFill/>
          <a:ln/>
        </p:spPr>
        <p:txBody>
          <a:bodyPr wrap="square" lIns="0" tIns="0" rIns="0" bIns="0" rtlCol="0" anchor="t"/>
          <a:lstStyle/>
          <a:p>
            <a:pPr indent="0" marL="0">
              <a:buNone/>
            </a:pPr>
            <a:r>
              <a:rPr lang="en-US" sz="1000" i="1" dirty="0">
                <a:solidFill>
                  <a:schemeClr val="tx2"/>
                </a:solidFill>
              </a:rPr>
              <a:t>RF reads counts (MCV); LSTM reads TF-IDF vectors in order</a:t>
            </a:r>
            <a:endParaRPr lang="en-US" sz="1000" dirty="0"/>
          </a:p>
        </p:txBody>
      </p:sp>
      <p:sp>
        <p:nvSpPr>
          <p:cNvPr id="20" name="text-198"/>
          <p:cNvSpPr txBox="1"/>
          <p:nvPr/>
        </p:nvSpPr>
        <p:spPr>
          <a:xfrm>
            <a:off x="411480" y="3017520"/>
            <a:ext cx="3977640" cy="274320"/>
          </a:xfrm>
          <a:prstGeom prst="rect">
            <a:avLst/>
          </a:prstGeom>
          <a:noFill/>
          <a:ln/>
        </p:spPr>
        <p:txBody>
          <a:bodyPr wrap="square" lIns="0" tIns="0" rIns="0" bIns="0" rtlCol="0" anchor="t"/>
          <a:lstStyle/>
          <a:p>
            <a:pPr indent="0" marL="0">
              <a:buNone/>
            </a:pPr>
            <a:r>
              <a:rPr lang="en-US" sz="1200" b="1" dirty="0">
                <a:solidFill>
                  <a:schemeClr val="tx1"/>
                </a:solidFill>
              </a:rPr>
              <a:t>Guess first: does the deep model beat the forest?</a:t>
            </a:r>
            <a:endParaRPr lang="en-US" sz="1200" dirty="0"/>
          </a:p>
        </p:txBody>
      </p:sp>
      <p:sp>
        <p:nvSpPr>
          <p:cNvPr id="21" name="answer-box-199"/>
          <p:cNvSpPr/>
          <p:nvPr/>
        </p:nvSpPr>
        <p:spPr>
          <a:xfrm>
            <a:off x="411480" y="3364992"/>
            <a:ext cx="3931920" cy="502920"/>
          </a:xfrm>
          <a:prstGeom prst="roundRect">
            <a:avLst>
              <a:gd name="adj" fmla="val 14545"/>
            </a:avLst>
          </a:prstGeom>
          <a:solidFill>
            <a:schemeClr val="bg1"/>
          </a:solidFill>
          <a:ln w="12700">
            <a:solidFill>
              <a:schemeClr val="tx2"/>
            </a:solidFill>
            <a:prstDash val="dash"/>
          </a:ln>
        </p:spPr>
      </p:sp>
      <p:sp>
        <p:nvSpPr>
          <p:cNvPr id="22" name="answer-200"/>
          <p:cNvSpPr txBox="1"/>
          <p:nvPr/>
        </p:nvSpPr>
        <p:spPr>
          <a:xfrm rot="10800000">
            <a:off x="484632" y="3410712"/>
            <a:ext cx="3785616" cy="411480"/>
          </a:xfrm>
          <a:prstGeom prst="rect">
            <a:avLst/>
          </a:prstGeom>
          <a:noFill/>
          <a:ln/>
        </p:spPr>
        <p:txBody>
          <a:bodyPr wrap="square" lIns="0" tIns="0" rIns="0" bIns="0" rtlCol="0" anchor="ctr"/>
          <a:lstStyle/>
          <a:p>
            <a:pPr algn="l" indent="0" marL="0">
              <a:buNone/>
            </a:pPr>
            <a:r>
              <a:rPr lang="en-US" sz="1100" i="1" dirty="0">
                <a:solidFill>
                  <a:schemeClr val="tx2"/>
                </a:solidFill>
              </a:rPr>
              <a:t>No. On both datasets the Random Forest on counts wins, as in the paper.</a:t>
            </a:r>
            <a:endParaRPr lang="en-US" sz="1100" dirty="0"/>
          </a:p>
        </p:txBody>
      </p:sp>
      <p:graphicFrame>
        <p:nvGraphicFramePr>
          <p:cNvPr id="23" name="chart-201" descr=""/>
          <p:cNvGraphicFramePr/>
          <p:nvPr/>
        </p:nvGraphicFramePr>
        <p:xfrm>
          <a:off x="4572000" y="868680"/>
          <a:ext cx="4206240" cy="2103120"/>
        </p:xfrm>
        <a:graphic xmlns:a="http://schemas.openxmlformats.org/drawingml/2006/main">
          <a:graphicData uri="http://schemas.openxmlformats.org/drawingml/2006/chart">
            <c:chart xmlns:c="http://schemas.openxmlformats.org/drawingml/2006/chart" r:id="rId6"/>
          </a:graphicData>
        </a:graphic>
      </p:graphicFrame>
      <p:sp>
        <p:nvSpPr>
          <p:cNvPr id="24" name="means-card-202"/>
          <p:cNvSpPr/>
          <p:nvPr/>
        </p:nvSpPr>
        <p:spPr>
          <a:xfrm>
            <a:off x="4617720" y="3090672"/>
            <a:ext cx="4114800" cy="1691640"/>
          </a:xfrm>
          <a:prstGeom prst="roundRect">
            <a:avLst>
              <a:gd name="adj" fmla="val 4324"/>
            </a:avLst>
          </a:prstGeom>
          <a:solidFill>
            <a:schemeClr val="bg2"/>
          </a:solidFill>
          <a:ln w="12700">
            <a:solidFill>
              <a:schemeClr val="bg2"/>
            </a:solidFill>
            <a:prstDash val="solid"/>
          </a:ln>
        </p:spPr>
      </p:sp>
      <p:sp>
        <p:nvSpPr>
          <p:cNvPr id="25" name="text-203"/>
          <p:cNvSpPr txBox="1"/>
          <p:nvPr/>
        </p:nvSpPr>
        <p:spPr>
          <a:xfrm>
            <a:off x="4754880" y="3163824"/>
            <a:ext cx="3840480" cy="256032"/>
          </a:xfrm>
          <a:prstGeom prst="rect">
            <a:avLst/>
          </a:prstGeom>
          <a:noFill/>
          <a:ln/>
        </p:spPr>
        <p:txBody>
          <a:bodyPr wrap="square" lIns="0" tIns="0" rIns="0" bIns="0" rtlCol="0" anchor="t"/>
          <a:lstStyle/>
          <a:p>
            <a:pPr indent="0" marL="0">
              <a:buNone/>
            </a:pPr>
            <a:r>
              <a:rPr lang="en-US" sz="1300" b="1" dirty="0">
                <a:solidFill>
                  <a:schemeClr val="accent2"/>
                </a:solidFill>
              </a:rPr>
              <a:t>What it means</a:t>
            </a:r>
            <a:endParaRPr lang="en-US" sz="1300" dirty="0"/>
          </a:p>
        </p:txBody>
      </p:sp>
      <p:sp>
        <p:nvSpPr>
          <p:cNvPr id="26" name="means-text-204"/>
          <p:cNvSpPr txBox="1"/>
          <p:nvPr/>
        </p:nvSpPr>
        <p:spPr>
          <a:xfrm>
            <a:off x="4727448" y="3438144"/>
            <a:ext cx="3895344" cy="1280160"/>
          </a:xfrm>
          <a:prstGeom prst="rect">
            <a:avLst/>
          </a:prstGeom>
          <a:noFill/>
          <a:ln/>
        </p:spPr>
        <p:txBody>
          <a:bodyPr wrap="square" lIns="254" tIns="254" rIns="254" bIns="254" rtlCol="0" anchor="t"/>
          <a:lstStyle/>
          <a:p>
            <a:pPr marL="152400" indent="-152400">
              <a:spcAft>
                <a:spcPts val="300"/>
              </a:spcAft>
              <a:buSzPct val="100000"/>
              <a:buChar char="•"/>
            </a:pPr>
            <a:r>
              <a:rPr lang="en-US" sz="1250" dirty="0">
                <a:solidFill>
                  <a:schemeClr val="tx1"/>
                </a:solidFill>
              </a:rPr>
              <a:t>All 4 cells within ~0.03 F1 of the paper</a:t>
            </a:r>
            <a:endParaRPr lang="en-US" sz="1250" dirty="0"/>
          </a:p>
          <a:p>
            <a:pPr marL="152400" indent="-152400">
              <a:spcAft>
                <a:spcPts val="300"/>
              </a:spcAft>
              <a:buSzPct val="100000"/>
              <a:buChar char="•"/>
            </a:pPr>
            <a:r>
              <a:rPr lang="en-US" sz="1250" dirty="0">
                <a:solidFill>
                  <a:schemeClr val="tx1"/>
                </a:solidFill>
              </a:rPr>
              <a:t>Random Forest on counts ≥ LSTM on both datasets</a:t>
            </a:r>
            <a:endParaRPr lang="en-US" sz="1250" dirty="0"/>
          </a:p>
          <a:p>
            <a:pPr marL="152400" indent="-152400">
              <a:spcAft>
                <a:spcPts val="300"/>
              </a:spcAft>
              <a:buSzPct val="100000"/>
              <a:buChar char="•"/>
            </a:pPr>
            <a:r>
              <a:rPr lang="en-US" sz="1250" dirty="0">
                <a:solidFill>
                  <a:schemeClr val="tx1"/>
                </a:solidFill>
              </a:rPr>
              <a:t>BGL: ±0.03-0.05 across splits (166 test windows)</a:t>
            </a:r>
            <a:endParaRPr lang="en-US" sz="1250" dirty="0"/>
          </a:p>
        </p:txBody>
      </p:sp>
      <p:sp>
        <p:nvSpPr>
          <p:cNvPr id="25" name="Slide Number Placeholder 0"/>
          <p:cNvSpPr>
            <a:spLocks noGrp="1"/>
          </p:cNvSpPr>
          <p:nvPr>
            <p:ph type="sldNum" sz="quarter" idx="4294967295"/>
          </p:nvPr>
        </p:nvSpPr>
        <p:spPr>
          <a:xfrm>
            <a:off x="8412480" y="4800600"/>
            <a:ext cx="41148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11480" y="256032"/>
            <a:ext cx="6903720" cy="502920"/>
          </a:xfrm>
          <a:prstGeom prst="rect">
            <a:avLst/>
          </a:prstGeom>
          <a:noFill/>
          <a:ln/>
        </p:spPr>
        <p:txBody>
          <a:bodyPr wrap="square" lIns="0" tIns="0" rIns="0" bIns="0" rtlCol="0" anchor="ctr"/>
          <a:lstStyle/>
          <a:p>
            <a:pPr algn="l" indent="0" marL="0">
              <a:buNone/>
            </a:pPr>
            <a:r>
              <a:rPr lang="en-US" sz="2400" dirty="0">
                <a:solidFill>
                  <a:schemeClr val="tx1"/>
                </a:solidFill>
                <a:latin typeface="Bookman Old Style" pitchFamily="34" charset="0"/>
                <a:ea typeface="Bookman Old Style" pitchFamily="34" charset="-122"/>
                <a:cs typeface="Bookman Old Style" pitchFamily="34" charset="-120"/>
              </a:rPr>
              <a:t>RQ1b · Should we drop correlated features?</a:t>
            </a:r>
            <a:endParaRPr lang="en-US" sz="2400" dirty="0"/>
          </a:p>
        </p:txBody>
      </p:sp>
      <p:sp>
        <p:nvSpPr>
          <p:cNvPr id="3" name="tracker-205"/>
          <p:cNvSpPr/>
          <p:nvPr/>
        </p:nvSpPr>
        <p:spPr>
          <a:xfrm>
            <a:off x="7269480" y="347472"/>
            <a:ext cx="310896" cy="310896"/>
          </a:xfrm>
          <a:prstGeom prst="ellipse">
            <a:avLst/>
          </a:prstGeom>
          <a:solidFill>
            <a:schemeClr val="bg2"/>
          </a:solidFill>
          <a:ln w="12700">
            <a:solidFill>
              <a:schemeClr val="bg2"/>
            </a:solidFill>
            <a:prstDash val="solid"/>
          </a:ln>
        </p:spPr>
      </p:sp>
      <p:pic>
        <p:nvPicPr>
          <p:cNvPr id="4" name="tracker-icon-206" descr="preencoded.png">    </p:cNvPr>
          <p:cNvPicPr>
            <a:picLocks noChangeAspect="1"/>
          </p:cNvPicPr>
          <p:nvPr/>
        </p:nvPicPr>
        <p:blipFill>
          <a:blip r:embed="rId1"/>
          <a:stretch>
            <a:fillRect/>
          </a:stretch>
        </p:blipFill>
        <p:spPr>
          <a:xfrm>
            <a:off x="7347204" y="425196"/>
            <a:ext cx="155448" cy="155448"/>
          </a:xfrm>
          <a:prstGeom prst="rect">
            <a:avLst/>
          </a:prstGeom>
        </p:spPr>
      </p:pic>
      <p:sp>
        <p:nvSpPr>
          <p:cNvPr id="5" name="tracker-207"/>
          <p:cNvSpPr/>
          <p:nvPr/>
        </p:nvSpPr>
        <p:spPr>
          <a:xfrm>
            <a:off x="7653528" y="347472"/>
            <a:ext cx="310896" cy="310896"/>
          </a:xfrm>
          <a:prstGeom prst="ellipse">
            <a:avLst/>
          </a:prstGeom>
          <a:solidFill>
            <a:schemeClr val="accent2"/>
          </a:solidFill>
          <a:ln w="12700">
            <a:solidFill>
              <a:schemeClr val="accent2"/>
            </a:solidFill>
            <a:prstDash val="solid"/>
          </a:ln>
        </p:spPr>
      </p:sp>
      <p:pic>
        <p:nvPicPr>
          <p:cNvPr id="6" name="tracker-icon-208" descr="preencoded.png">    </p:cNvPr>
          <p:cNvPicPr>
            <a:picLocks noChangeAspect="1"/>
          </p:cNvPicPr>
          <p:nvPr/>
        </p:nvPicPr>
        <p:blipFill>
          <a:blip r:embed="rId2"/>
          <a:stretch>
            <a:fillRect/>
          </a:stretch>
        </p:blipFill>
        <p:spPr>
          <a:xfrm>
            <a:off x="7731252" y="425196"/>
            <a:ext cx="155448" cy="155448"/>
          </a:xfrm>
          <a:prstGeom prst="rect">
            <a:avLst/>
          </a:prstGeom>
        </p:spPr>
      </p:pic>
      <p:sp>
        <p:nvSpPr>
          <p:cNvPr id="7" name="tracker-209"/>
          <p:cNvSpPr/>
          <p:nvPr/>
        </p:nvSpPr>
        <p:spPr>
          <a:xfrm>
            <a:off x="8037576" y="347472"/>
            <a:ext cx="310896" cy="310896"/>
          </a:xfrm>
          <a:prstGeom prst="ellipse">
            <a:avLst/>
          </a:prstGeom>
          <a:solidFill>
            <a:schemeClr val="bg2"/>
          </a:solidFill>
          <a:ln w="12700">
            <a:solidFill>
              <a:schemeClr val="bg2"/>
            </a:solidFill>
            <a:prstDash val="solid"/>
          </a:ln>
        </p:spPr>
      </p:sp>
      <p:pic>
        <p:nvPicPr>
          <p:cNvPr id="8" name="tracker-icon-210" descr="preencoded.png">    </p:cNvPr>
          <p:cNvPicPr>
            <a:picLocks noChangeAspect="1"/>
          </p:cNvPicPr>
          <p:nvPr/>
        </p:nvPicPr>
        <p:blipFill>
          <a:blip r:embed="rId3"/>
          <a:stretch>
            <a:fillRect/>
          </a:stretch>
        </p:blipFill>
        <p:spPr>
          <a:xfrm>
            <a:off x="8115300" y="425196"/>
            <a:ext cx="155448" cy="155448"/>
          </a:xfrm>
          <a:prstGeom prst="rect">
            <a:avLst/>
          </a:prstGeom>
        </p:spPr>
      </p:pic>
      <p:sp>
        <p:nvSpPr>
          <p:cNvPr id="9" name="tracker-211"/>
          <p:cNvSpPr/>
          <p:nvPr/>
        </p:nvSpPr>
        <p:spPr>
          <a:xfrm>
            <a:off x="8421624" y="347472"/>
            <a:ext cx="310896" cy="310896"/>
          </a:xfrm>
          <a:prstGeom prst="ellipse">
            <a:avLst/>
          </a:prstGeom>
          <a:solidFill>
            <a:schemeClr val="bg2"/>
          </a:solidFill>
          <a:ln w="12700">
            <a:solidFill>
              <a:schemeClr val="bg2"/>
            </a:solidFill>
            <a:prstDash val="solid"/>
          </a:ln>
        </p:spPr>
      </p:sp>
      <p:pic>
        <p:nvPicPr>
          <p:cNvPr id="10" name="tracker-icon-212" descr="preencoded.png">    </p:cNvPr>
          <p:cNvPicPr>
            <a:picLocks noChangeAspect="1"/>
          </p:cNvPicPr>
          <p:nvPr/>
        </p:nvPicPr>
        <p:blipFill>
          <a:blip r:embed="rId4"/>
          <a:stretch>
            <a:fillRect/>
          </a:stretch>
        </p:blipFill>
        <p:spPr>
          <a:xfrm>
            <a:off x="8499348" y="425196"/>
            <a:ext cx="155448" cy="155448"/>
          </a:xfrm>
          <a:prstGeom prst="rect">
            <a:avLst/>
          </a:prstGeom>
        </p:spPr>
      </p:pic>
      <p:pic>
        <p:nvPicPr>
          <p:cNvPr id="11" name="toy-icon-213" descr="preencoded.png">    </p:cNvPr>
          <p:cNvPicPr>
            <a:picLocks noChangeAspect="1"/>
          </p:cNvPicPr>
          <p:nvPr/>
        </p:nvPicPr>
        <p:blipFill>
          <a:blip r:embed="rId5"/>
          <a:stretch>
            <a:fillRect/>
          </a:stretch>
        </p:blipFill>
        <p:spPr>
          <a:xfrm>
            <a:off x="411480" y="950976"/>
            <a:ext cx="201168" cy="201168"/>
          </a:xfrm>
          <a:prstGeom prst="rect">
            <a:avLst/>
          </a:prstGeom>
        </p:spPr>
      </p:pic>
      <p:sp>
        <p:nvSpPr>
          <p:cNvPr id="12" name="text-214"/>
          <p:cNvSpPr txBox="1"/>
          <p:nvPr/>
        </p:nvSpPr>
        <p:spPr>
          <a:xfrm>
            <a:off x="685800" y="932688"/>
            <a:ext cx="3703320" cy="256032"/>
          </a:xfrm>
          <a:prstGeom prst="rect">
            <a:avLst/>
          </a:prstGeom>
          <a:noFill/>
          <a:ln/>
        </p:spPr>
        <p:txBody>
          <a:bodyPr wrap="square" lIns="0" tIns="0" rIns="0" bIns="0" rtlCol="0" anchor="t"/>
          <a:lstStyle/>
          <a:p>
            <a:pPr indent="0" marL="0">
              <a:buNone/>
            </a:pPr>
            <a:r>
              <a:rPr lang="en-US" sz="1200" b="1" spc="100" kern="0" dirty="0">
                <a:solidFill>
                  <a:schemeClr val="accent5"/>
                </a:solidFill>
              </a:rPr>
              <a:t>FIRST, ON MINIHDFS (INVENTED)</a:t>
            </a:r>
            <a:endParaRPr lang="en-US" sz="1200" dirty="0"/>
          </a:p>
        </p:txBody>
      </p:sp>
      <p:sp>
        <p:nvSpPr>
          <p:cNvPr id="13" name="code-215"/>
          <p:cNvSpPr txBox="1"/>
          <p:nvPr/>
        </p:nvSpPr>
        <p:spPr>
          <a:xfrm>
            <a:off x="411480" y="1280160"/>
            <a:ext cx="2514600" cy="566928"/>
          </a:xfrm>
          <a:prstGeom prst="roundRect">
            <a:avLst>
              <a:gd name="adj" fmla="val 8065"/>
            </a:avLst>
          </a:prstGeom>
          <a:solidFill>
            <a:schemeClr val="bg2"/>
          </a:solidFill>
          <a:ln>
            <a:solidFill>
              <a:schemeClr val="bg2"/>
            </a:solidFill>
          </a:ln>
        </p:spPr>
        <p:txBody>
          <a:bodyPr wrap="square" lIns="1016" tIns="1016" rIns="1016" bIns="1016" rtlCol="0" anchor="ctr"/>
          <a:lstStyle/>
          <a:p>
            <a:pPr indent="0" marL="0">
              <a:buNone/>
            </a:pPr>
            <a:r>
              <a:rPr lang="en-US" sz="1100" dirty="0">
                <a:solidFill>
                  <a:schemeClr val="tx1"/>
                </a:solidFill>
                <a:latin typeface="Courier New" pitchFamily="34" charset="0"/>
                <a:ea typeface="Courier New" pitchFamily="34" charset="-122"/>
                <a:cs typeface="Courier New" pitchFamily="34" charset="-120"/>
              </a:rPr>
              <a:t>P, D, S move together:</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(3,3,3) or (0,0,0)</a:t>
            </a:r>
            <a:endParaRPr lang="en-US" sz="1100" dirty="0"/>
          </a:p>
        </p:txBody>
      </p:sp>
      <p:sp>
        <p:nvSpPr>
          <p:cNvPr id="14" name="arrow-216"/>
          <p:cNvSpPr/>
          <p:nvPr/>
        </p:nvSpPr>
        <p:spPr>
          <a:xfrm>
            <a:off x="2999232" y="1463040"/>
            <a:ext cx="292608" cy="201168"/>
          </a:xfrm>
          <a:prstGeom prst="rightArrow">
            <a:avLst/>
          </a:prstGeom>
          <a:solidFill>
            <a:schemeClr val="tx2"/>
          </a:solidFill>
          <a:ln w="12700">
            <a:solidFill>
              <a:schemeClr val="tx2"/>
            </a:solidFill>
            <a:prstDash val="solid"/>
          </a:ln>
        </p:spPr>
      </p:sp>
      <p:sp>
        <p:nvSpPr>
          <p:cNvPr id="15" name="pill-217"/>
          <p:cNvSpPr txBox="1"/>
          <p:nvPr/>
        </p:nvSpPr>
        <p:spPr>
          <a:xfrm>
            <a:off x="3364992" y="1399032"/>
            <a:ext cx="1188720" cy="329184"/>
          </a:xfrm>
          <a:prstGeom prst="roundRect">
            <a:avLst>
              <a:gd name="adj" fmla="val 50000"/>
            </a:avLst>
          </a:prstGeom>
          <a:solidFill>
            <a:schemeClr val="accent2"/>
          </a:solidFill>
          <a:ln>
            <a:solidFill>
              <a:schemeClr val="accent2"/>
            </a:solidFill>
          </a:ln>
        </p:spPr>
        <p:txBody>
          <a:bodyPr wrap="square" lIns="254" tIns="254" rIns="254" bIns="254" rtlCol="0" anchor="ctr"/>
          <a:lstStyle/>
          <a:p>
            <a:pPr algn="ctr" indent="0" marL="0">
              <a:buNone/>
            </a:pPr>
            <a:r>
              <a:rPr lang="en-US" sz="1200" b="1" dirty="0">
                <a:solidFill>
                  <a:schemeClr val="bg1"/>
                </a:solidFill>
              </a:rPr>
              <a:t>keep P only</a:t>
            </a:r>
            <a:endParaRPr lang="en-US" sz="1200" dirty="0"/>
          </a:p>
        </p:txBody>
      </p:sp>
      <p:sp>
        <p:nvSpPr>
          <p:cNvPr id="16" name="code-218"/>
          <p:cNvSpPr txBox="1"/>
          <p:nvPr/>
        </p:nvSpPr>
        <p:spPr>
          <a:xfrm>
            <a:off x="411480" y="2011680"/>
            <a:ext cx="2514600" cy="566928"/>
          </a:xfrm>
          <a:prstGeom prst="roundRect">
            <a:avLst>
              <a:gd name="adj" fmla="val 8065"/>
            </a:avLst>
          </a:prstGeom>
          <a:solidFill>
            <a:schemeClr val="bg2"/>
          </a:solidFill>
          <a:ln>
            <a:solidFill>
              <a:schemeClr val="bg2"/>
            </a:solidFill>
          </a:ln>
        </p:spPr>
        <p:txBody>
          <a:bodyPr wrap="square" lIns="1016" tIns="1016" rIns="1016" bIns="1016" rtlCol="0" anchor="ctr"/>
          <a:lstStyle/>
          <a:p>
            <a:pPr indent="0" marL="0">
              <a:buNone/>
            </a:pPr>
            <a:r>
              <a:rPr lang="en-US" sz="1100" dirty="0">
                <a:solidFill>
                  <a:schemeClr val="tx1"/>
                </a:solidFill>
                <a:latin typeface="Courier New" pitchFamily="34" charset="0"/>
                <a:ea typeface="Courier New" pitchFamily="34" charset="-122"/>
                <a:cs typeface="Courier New" pitchFamily="34" charset="-120"/>
              </a:rPr>
              <a:t>filtered: P's vector</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[0 0 … 0]</a:t>
            </a:r>
            <a:endParaRPr lang="en-US" sz="1100" dirty="0"/>
          </a:p>
        </p:txBody>
      </p:sp>
      <p:sp>
        <p:nvSpPr>
          <p:cNvPr id="17" name="arrow-219"/>
          <p:cNvSpPr/>
          <p:nvPr/>
        </p:nvSpPr>
        <p:spPr>
          <a:xfrm>
            <a:off x="2999232" y="2194560"/>
            <a:ext cx="292608" cy="201168"/>
          </a:xfrm>
          <a:prstGeom prst="rightArrow">
            <a:avLst/>
          </a:prstGeom>
          <a:solidFill>
            <a:schemeClr val="tx2"/>
          </a:solidFill>
          <a:ln w="12700">
            <a:solidFill>
              <a:schemeClr val="tx2"/>
            </a:solidFill>
            <a:prstDash val="solid"/>
          </a:ln>
        </p:spPr>
      </p:sp>
      <p:sp>
        <p:nvSpPr>
          <p:cNvPr id="18" name="pill-220"/>
          <p:cNvSpPr txBox="1"/>
          <p:nvPr/>
        </p:nvSpPr>
        <p:spPr>
          <a:xfrm>
            <a:off x="3364992" y="2130552"/>
            <a:ext cx="1188720" cy="329184"/>
          </a:xfrm>
          <a:prstGeom prst="roundRect">
            <a:avLst>
              <a:gd name="adj" fmla="val 50000"/>
            </a:avLst>
          </a:prstGeom>
          <a:solidFill>
            <a:schemeClr val="accent6"/>
          </a:solidFill>
          <a:ln>
            <a:solidFill>
              <a:schemeClr val="accent6"/>
            </a:solidFill>
          </a:ln>
        </p:spPr>
        <p:txBody>
          <a:bodyPr wrap="square" lIns="254" tIns="254" rIns="254" bIns="254" rtlCol="0" anchor="ctr"/>
          <a:lstStyle/>
          <a:p>
            <a:pPr algn="ctr" indent="0" marL="0">
              <a:buNone/>
            </a:pPr>
            <a:r>
              <a:rPr lang="en-US" sz="1200" b="1" dirty="0">
                <a:solidFill>
                  <a:schemeClr val="bg1"/>
                </a:solidFill>
              </a:rPr>
              <a:t>= padding!</a:t>
            </a:r>
            <a:endParaRPr lang="en-US" sz="1200" dirty="0"/>
          </a:p>
        </p:txBody>
      </p:sp>
      <p:sp>
        <p:nvSpPr>
          <p:cNvPr id="19" name="text-221"/>
          <p:cNvSpPr txBox="1"/>
          <p:nvPr/>
        </p:nvSpPr>
        <p:spPr>
          <a:xfrm>
            <a:off x="411480" y="2596896"/>
            <a:ext cx="3977640" cy="219456"/>
          </a:xfrm>
          <a:prstGeom prst="rect">
            <a:avLst/>
          </a:prstGeom>
          <a:noFill/>
          <a:ln/>
        </p:spPr>
        <p:txBody>
          <a:bodyPr wrap="square" lIns="0" tIns="0" rIns="0" bIns="0" rtlCol="0" anchor="t"/>
          <a:lstStyle/>
          <a:p>
            <a:pPr indent="0" marL="0">
              <a:buNone/>
            </a:pPr>
            <a:r>
              <a:rPr lang="en-US" sz="1000" i="1" dirty="0">
                <a:solidFill>
                  <a:schemeClr val="tx2"/>
                </a:solidFill>
              </a:rPr>
              <a:t>the LSTM can no longer tell P from “nothing”</a:t>
            </a:r>
            <a:endParaRPr lang="en-US" sz="1000" dirty="0"/>
          </a:p>
        </p:txBody>
      </p:sp>
      <p:graphicFrame>
        <p:nvGraphicFramePr>
          <p:cNvPr id="13" name="table-222"/>
          <p:cNvGraphicFramePr>
            <a:graphicFrameLocks noGrp="1"/>
          </p:cNvGraphicFramePr>
          <p:nvPr>
            <p:extLst>
              <p:ext uri="{D42A27DB-BD31-4B8C-83A1-F6EECF244321}">
                <p14:modId xmlns:p14="http://schemas.microsoft.com/office/powerpoint/2010/main" val="1579011935"/>
              </p:ext>
            </p:extLst>
          </p:nvPr>
        </p:nvGraphicFramePr>
        <p:xfrm>
          <a:off x="4617720" y="914400"/>
          <a:ext cx="4114800" cy="914400"/>
        </p:xfrm>
        <a:graphic>
          <a:graphicData uri="http://schemas.openxmlformats.org/drawingml/2006/table">
            <a:tbl>
              <a:tblPr/>
              <a:tblGrid>
                <a:gridCol w="1143000"/>
                <a:gridCol w="960120"/>
                <a:gridCol w="1325880"/>
                <a:gridCol w="685800"/>
              </a:tblGrid>
              <a:tr h="329184">
                <a:tc>
                  <a:txBody>
                    <a:bodyPr/>
                    <a:lstStyle/>
                    <a:p>
                      <a:pPr indent="0" marL="0">
                        <a:buNone/>
                      </a:pPr>
                      <a:r>
                        <a:rPr lang="en-US" sz="1200" b="1" dirty="0">
                          <a:solidFill>
                            <a:schemeClr val="tx1"/>
                          </a:solidFill>
                        </a:rPr>
                        <a:t>model · data</a:t>
                      </a:r>
                      <a:endParaRPr lang="en-US" sz="1200" dirty="0"/>
                    </a:p>
                  </a:txBody>
                  <a:tcPr marL="45720" marR="4572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200" b="1" dirty="0">
                          <a:solidFill>
                            <a:schemeClr val="tx1"/>
                          </a:solidFill>
                        </a:rPr>
                        <a:t>#features</a:t>
                      </a:r>
                      <a:endParaRPr lang="en-US" sz="1200" dirty="0"/>
                    </a:p>
                  </a:txBody>
                  <a:tcPr marL="45720" marR="4572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200" b="1" dirty="0">
                          <a:solidFill>
                            <a:schemeClr val="tx1"/>
                          </a:solidFill>
                        </a:rPr>
                        <a:t>F1 all → filtered</a:t>
                      </a:r>
                      <a:endParaRPr lang="en-US" sz="1200" dirty="0"/>
                    </a:p>
                  </a:txBody>
                  <a:tcPr marL="45720" marR="4572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200" b="1" dirty="0">
                          <a:solidFill>
                            <a:schemeClr val="tx1"/>
                          </a:solidFill>
                        </a:rPr>
                        <a:t>Holm p</a:t>
                      </a:r>
                      <a:endParaRPr lang="en-US" sz="1200" dirty="0"/>
                    </a:p>
                  </a:txBody>
                  <a:tcPr marL="45720" marR="4572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r>
              <a:tr h="329184">
                <a:tc>
                  <a:txBody>
                    <a:bodyPr/>
                    <a:lstStyle/>
                    <a:p>
                      <a:pPr indent="0" marL="0">
                        <a:buNone/>
                      </a:pPr>
                      <a:r>
                        <a:rPr lang="en-US" sz="1200" dirty="0">
                          <a:solidFill>
                            <a:schemeClr val="tx1"/>
                          </a:solidFill>
                        </a:rPr>
                        <a:t>RF · HDFS</a:t>
                      </a:r>
                      <a:endParaRPr lang="en-US" sz="1200" dirty="0"/>
                    </a:p>
                  </a:txBody>
                  <a:tcPr marL="45720" marR="4572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47 → 28</a:t>
                      </a:r>
                      <a:endParaRPr lang="en-US" sz="1200" dirty="0"/>
                    </a:p>
                  </a:txBody>
                  <a:tcPr marL="45720" marR="4572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0.998 → 0.997</a:t>
                      </a:r>
                      <a:endParaRPr lang="en-US" sz="1200" dirty="0"/>
                    </a:p>
                  </a:txBody>
                  <a:tcPr marL="45720" marR="4572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0.014</a:t>
                      </a:r>
                      <a:endParaRPr lang="en-US" sz="1200" dirty="0"/>
                    </a:p>
                  </a:txBody>
                  <a:tcPr marL="45720" marR="4572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r>
              <a:tr h="329184">
                <a:tc>
                  <a:txBody>
                    <a:bodyPr/>
                    <a:lstStyle/>
                    <a:p>
                      <a:pPr indent="0" marL="0">
                        <a:buNone/>
                      </a:pPr>
                      <a:r>
                        <a:rPr lang="en-US" sz="1200" dirty="0">
                          <a:solidFill>
                            <a:schemeClr val="tx1"/>
                          </a:solidFill>
                        </a:rPr>
                        <a:t>RF · BGL</a:t>
                      </a:r>
                      <a:endParaRPr lang="en-US" sz="1200" dirty="0"/>
                    </a:p>
                  </a:txBody>
                  <a:tcPr marL="45720" marR="4572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366 → 125</a:t>
                      </a:r>
                      <a:endParaRPr lang="en-US" sz="1200" dirty="0"/>
                    </a:p>
                  </a:txBody>
                  <a:tcPr marL="45720" marR="4572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0.921 → 0.909</a:t>
                      </a:r>
                      <a:endParaRPr lang="en-US" sz="1200" dirty="0"/>
                    </a:p>
                  </a:txBody>
                  <a:tcPr marL="45720" marR="4572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0.82</a:t>
                      </a:r>
                      <a:endParaRPr lang="en-US" sz="1200" dirty="0"/>
                    </a:p>
                  </a:txBody>
                  <a:tcPr marL="45720" marR="4572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r>
              <a:tr h="329184">
                <a:tc>
                  <a:txBody>
                    <a:bodyPr/>
                    <a:lstStyle/>
                    <a:p>
                      <a:pPr indent="0" marL="0">
                        <a:buNone/>
                      </a:pPr>
                      <a:r>
                        <a:rPr lang="en-US" sz="1200" dirty="0">
                          <a:solidFill>
                            <a:schemeClr val="tx1"/>
                          </a:solidFill>
                        </a:rPr>
                        <a:t>LSTM · HDFS</a:t>
                      </a:r>
                      <a:endParaRPr lang="en-US" sz="1200" dirty="0"/>
                    </a:p>
                  </a:txBody>
                  <a:tcPr marL="45720" marR="4572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113 → 22</a:t>
                      </a:r>
                      <a:endParaRPr lang="en-US" sz="1200" dirty="0"/>
                    </a:p>
                  </a:txBody>
                  <a:tcPr marL="45720" marR="4572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6"/>
                          </a:solidFill>
                        </a:rPr>
                        <a:t>0.968 → 0.923</a:t>
                      </a:r>
                      <a:endParaRPr lang="en-US" sz="1200" dirty="0"/>
                    </a:p>
                  </a:txBody>
                  <a:tcPr marL="45720" marR="4572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0.020</a:t>
                      </a:r>
                      <a:endParaRPr lang="en-US" sz="1200" dirty="0"/>
                    </a:p>
                  </a:txBody>
                  <a:tcPr marL="45720" marR="4572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r>
              <a:tr h="329184">
                <a:tc>
                  <a:txBody>
                    <a:bodyPr/>
                    <a:lstStyle/>
                    <a:p>
                      <a:pPr indent="0" marL="0">
                        <a:buNone/>
                      </a:pPr>
                      <a:r>
                        <a:rPr lang="en-US" sz="1200" dirty="0">
                          <a:solidFill>
                            <a:schemeClr val="tx1"/>
                          </a:solidFill>
                        </a:rPr>
                        <a:t>LSTM · BGL</a:t>
                      </a:r>
                      <a:endParaRPr lang="en-US" sz="1200" dirty="0"/>
                    </a:p>
                  </a:txBody>
                  <a:tcPr marL="45720" marR="4572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627 → 108</a:t>
                      </a:r>
                      <a:endParaRPr lang="en-US" sz="1200" dirty="0"/>
                    </a:p>
                  </a:txBody>
                  <a:tcPr marL="45720" marR="4572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0.851 → 0.810</a:t>
                      </a:r>
                      <a:endParaRPr lang="en-US" sz="1200" dirty="0"/>
                    </a:p>
                  </a:txBody>
                  <a:tcPr marL="45720" marR="4572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0.25</a:t>
                      </a:r>
                      <a:endParaRPr lang="en-US" sz="1200" dirty="0"/>
                    </a:p>
                  </a:txBody>
                  <a:tcPr marL="45720" marR="45720" marT="45720" marB="45720">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r>
            </a:tbl>
          </a:graphicData>
        </a:graphic>
      </p:graphicFrame>
      <p:sp>
        <p:nvSpPr>
          <p:cNvPr id="21" name="text-223"/>
          <p:cNvSpPr txBox="1"/>
          <p:nvPr/>
        </p:nvSpPr>
        <p:spPr>
          <a:xfrm>
            <a:off x="4617720" y="2633472"/>
            <a:ext cx="4114800" cy="219456"/>
          </a:xfrm>
          <a:prstGeom prst="rect">
            <a:avLst/>
          </a:prstGeom>
          <a:noFill/>
          <a:ln/>
        </p:spPr>
        <p:txBody>
          <a:bodyPr wrap="square" lIns="0" tIns="0" rIns="0" bIns="0" rtlCol="0" anchor="t"/>
          <a:lstStyle/>
          <a:p>
            <a:pPr indent="0" marL="0">
              <a:buNone/>
            </a:pPr>
            <a:r>
              <a:rPr lang="en-US" sz="1000" i="1" dirty="0">
                <a:solidFill>
                  <a:schemeClr val="tx2"/>
                </a:solidFill>
              </a:rPr>
              <a:t>Spearman |ρ|&gt;0.7 + VIF≤5 on train; Wilcoxon, 10 paired splits</a:t>
            </a:r>
            <a:endParaRPr lang="en-US" sz="1000" dirty="0"/>
          </a:p>
        </p:txBody>
      </p:sp>
      <p:sp>
        <p:nvSpPr>
          <p:cNvPr id="22" name="means-card-224"/>
          <p:cNvSpPr/>
          <p:nvPr/>
        </p:nvSpPr>
        <p:spPr>
          <a:xfrm>
            <a:off x="4617720" y="2926080"/>
            <a:ext cx="4114800" cy="1856232"/>
          </a:xfrm>
          <a:prstGeom prst="roundRect">
            <a:avLst>
              <a:gd name="adj" fmla="val 3941"/>
            </a:avLst>
          </a:prstGeom>
          <a:solidFill>
            <a:schemeClr val="bg2"/>
          </a:solidFill>
          <a:ln w="12700">
            <a:solidFill>
              <a:schemeClr val="bg2"/>
            </a:solidFill>
            <a:prstDash val="solid"/>
          </a:ln>
        </p:spPr>
      </p:sp>
      <p:sp>
        <p:nvSpPr>
          <p:cNvPr id="23" name="text-225"/>
          <p:cNvSpPr txBox="1"/>
          <p:nvPr/>
        </p:nvSpPr>
        <p:spPr>
          <a:xfrm>
            <a:off x="4754880" y="2999232"/>
            <a:ext cx="3840480" cy="256032"/>
          </a:xfrm>
          <a:prstGeom prst="rect">
            <a:avLst/>
          </a:prstGeom>
          <a:noFill/>
          <a:ln/>
        </p:spPr>
        <p:txBody>
          <a:bodyPr wrap="square" lIns="0" tIns="0" rIns="0" bIns="0" rtlCol="0" anchor="t"/>
          <a:lstStyle/>
          <a:p>
            <a:pPr indent="0" marL="0">
              <a:buNone/>
            </a:pPr>
            <a:r>
              <a:rPr lang="en-US" sz="1300" b="1" dirty="0">
                <a:solidFill>
                  <a:schemeClr val="accent2"/>
                </a:solidFill>
              </a:rPr>
              <a:t>What it means</a:t>
            </a:r>
            <a:endParaRPr lang="en-US" sz="1300" dirty="0"/>
          </a:p>
        </p:txBody>
      </p:sp>
      <p:sp>
        <p:nvSpPr>
          <p:cNvPr id="24" name="means-text-226"/>
          <p:cNvSpPr txBox="1"/>
          <p:nvPr/>
        </p:nvSpPr>
        <p:spPr>
          <a:xfrm>
            <a:off x="4727448" y="3273552"/>
            <a:ext cx="3895344" cy="1444752"/>
          </a:xfrm>
          <a:prstGeom prst="rect">
            <a:avLst/>
          </a:prstGeom>
          <a:noFill/>
          <a:ln/>
        </p:spPr>
        <p:txBody>
          <a:bodyPr wrap="square" lIns="254" tIns="254" rIns="254" bIns="254" rtlCol="0" anchor="t"/>
          <a:lstStyle/>
          <a:p>
            <a:pPr marL="152400" indent="-152400">
              <a:spcAft>
                <a:spcPts val="300"/>
              </a:spcAft>
              <a:buSzPct val="100000"/>
              <a:buChar char="•"/>
            </a:pPr>
            <a:r>
              <a:rPr lang="en-US" sz="1250" dirty="0">
                <a:solidFill>
                  <a:schemeClr val="tx1"/>
                </a:solidFill>
              </a:rPr>
              <a:t>RF: up to 2/3 of features removed, F1 ≈ unchanged</a:t>
            </a:r>
            <a:endParaRPr lang="en-US" sz="1250" dirty="0"/>
          </a:p>
          <a:p>
            <a:pPr marL="152400" indent="-152400">
              <a:spcAft>
                <a:spcPts val="300"/>
              </a:spcAft>
              <a:buSzPct val="100000"/>
              <a:buChar char="•"/>
            </a:pPr>
            <a:r>
              <a:rPr lang="en-US" sz="1250" dirty="0">
                <a:solidFill>
                  <a:schemeClr val="tx1"/>
                </a:solidFill>
              </a:rPr>
              <a:t>LSTM HDFS −0.045 F1: 110 word columns from 45 templates (rank 39); 17 templates turn all-zero</a:t>
            </a:r>
            <a:endParaRPr lang="en-US" sz="1250" dirty="0"/>
          </a:p>
          <a:p>
            <a:pPr marL="152400" indent="-152400">
              <a:spcAft>
                <a:spcPts val="300"/>
              </a:spcAft>
              <a:buSzPct val="100000"/>
              <a:buChar char="•"/>
            </a:pPr>
            <a:r>
              <a:rPr lang="en-US" sz="1250" dirty="0">
                <a:solidFill>
                  <a:schemeClr val="tx1"/>
                </a:solidFill>
              </a:rPr>
              <a:t>Filter count tables, not embeddings</a:t>
            </a:r>
            <a:endParaRPr lang="en-US" sz="1250" dirty="0"/>
          </a:p>
        </p:txBody>
      </p:sp>
      <p:sp>
        <p:nvSpPr>
          <p:cNvPr id="25" name="Slide Number Placeholder 0"/>
          <p:cNvSpPr>
            <a:spLocks noGrp="1"/>
          </p:cNvSpPr>
          <p:nvPr>
            <p:ph type="sldNum" sz="quarter" idx="4294967295"/>
          </p:nvPr>
        </p:nvSpPr>
        <p:spPr>
          <a:xfrm>
            <a:off x="8412480" y="4800600"/>
            <a:ext cx="41148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11480" y="256032"/>
            <a:ext cx="6903720" cy="502920"/>
          </a:xfrm>
          <a:prstGeom prst="rect">
            <a:avLst/>
          </a:prstGeom>
          <a:noFill/>
          <a:ln/>
        </p:spPr>
        <p:txBody>
          <a:bodyPr wrap="square" lIns="0" tIns="0" rIns="0" bIns="0" rtlCol="0" anchor="ctr"/>
          <a:lstStyle/>
          <a:p>
            <a:pPr algn="l" indent="0" marL="0">
              <a:buNone/>
            </a:pPr>
            <a:r>
              <a:rPr lang="en-US" sz="2400" dirty="0">
                <a:solidFill>
                  <a:schemeClr val="tx1"/>
                </a:solidFill>
                <a:latin typeface="Bookman Old Style" pitchFamily="34" charset="0"/>
                <a:ea typeface="Bookman Old Style" pitchFamily="34" charset="-122"/>
                <a:cs typeface="Bookman Old Style" pitchFamily="34" charset="-120"/>
              </a:rPr>
              <a:t>Ext. 1 · Catch block #2 without labels?</a:t>
            </a:r>
            <a:endParaRPr lang="en-US" sz="2400" dirty="0"/>
          </a:p>
        </p:txBody>
      </p:sp>
      <p:sp>
        <p:nvSpPr>
          <p:cNvPr id="3" name="tracker-227"/>
          <p:cNvSpPr/>
          <p:nvPr/>
        </p:nvSpPr>
        <p:spPr>
          <a:xfrm>
            <a:off x="7269480" y="347472"/>
            <a:ext cx="310896" cy="310896"/>
          </a:xfrm>
          <a:prstGeom prst="ellipse">
            <a:avLst/>
          </a:prstGeom>
          <a:solidFill>
            <a:schemeClr val="bg2"/>
          </a:solidFill>
          <a:ln w="12700">
            <a:solidFill>
              <a:schemeClr val="bg2"/>
            </a:solidFill>
            <a:prstDash val="solid"/>
          </a:ln>
        </p:spPr>
      </p:sp>
      <p:pic>
        <p:nvPicPr>
          <p:cNvPr id="4" name="tracker-icon-228" descr="preencoded.png">    </p:cNvPr>
          <p:cNvPicPr>
            <a:picLocks noChangeAspect="1"/>
          </p:cNvPicPr>
          <p:nvPr/>
        </p:nvPicPr>
        <p:blipFill>
          <a:blip r:embed="rId1"/>
          <a:stretch>
            <a:fillRect/>
          </a:stretch>
        </p:blipFill>
        <p:spPr>
          <a:xfrm>
            <a:off x="7347204" y="425196"/>
            <a:ext cx="155448" cy="155448"/>
          </a:xfrm>
          <a:prstGeom prst="rect">
            <a:avLst/>
          </a:prstGeom>
        </p:spPr>
      </p:pic>
      <p:sp>
        <p:nvSpPr>
          <p:cNvPr id="5" name="tracker-229"/>
          <p:cNvSpPr/>
          <p:nvPr/>
        </p:nvSpPr>
        <p:spPr>
          <a:xfrm>
            <a:off x="7653528" y="347472"/>
            <a:ext cx="310896" cy="310896"/>
          </a:xfrm>
          <a:prstGeom prst="ellipse">
            <a:avLst/>
          </a:prstGeom>
          <a:solidFill>
            <a:schemeClr val="bg2"/>
          </a:solidFill>
          <a:ln w="12700">
            <a:solidFill>
              <a:schemeClr val="bg2"/>
            </a:solidFill>
            <a:prstDash val="solid"/>
          </a:ln>
        </p:spPr>
      </p:sp>
      <p:pic>
        <p:nvPicPr>
          <p:cNvPr id="6" name="tracker-icon-230" descr="preencoded.png">    </p:cNvPr>
          <p:cNvPicPr>
            <a:picLocks noChangeAspect="1"/>
          </p:cNvPicPr>
          <p:nvPr/>
        </p:nvPicPr>
        <p:blipFill>
          <a:blip r:embed="rId2"/>
          <a:stretch>
            <a:fillRect/>
          </a:stretch>
        </p:blipFill>
        <p:spPr>
          <a:xfrm>
            <a:off x="7731252" y="425196"/>
            <a:ext cx="155448" cy="155448"/>
          </a:xfrm>
          <a:prstGeom prst="rect">
            <a:avLst/>
          </a:prstGeom>
        </p:spPr>
      </p:pic>
      <p:sp>
        <p:nvSpPr>
          <p:cNvPr id="7" name="tracker-231"/>
          <p:cNvSpPr/>
          <p:nvPr/>
        </p:nvSpPr>
        <p:spPr>
          <a:xfrm>
            <a:off x="8037576" y="347472"/>
            <a:ext cx="310896" cy="310896"/>
          </a:xfrm>
          <a:prstGeom prst="ellipse">
            <a:avLst/>
          </a:prstGeom>
          <a:solidFill>
            <a:schemeClr val="accent3"/>
          </a:solidFill>
          <a:ln w="12700">
            <a:solidFill>
              <a:schemeClr val="accent3"/>
            </a:solidFill>
            <a:prstDash val="solid"/>
          </a:ln>
        </p:spPr>
      </p:sp>
      <p:pic>
        <p:nvPicPr>
          <p:cNvPr id="8" name="tracker-icon-232" descr="preencoded.png">    </p:cNvPr>
          <p:cNvPicPr>
            <a:picLocks noChangeAspect="1"/>
          </p:cNvPicPr>
          <p:nvPr/>
        </p:nvPicPr>
        <p:blipFill>
          <a:blip r:embed="rId3"/>
          <a:stretch>
            <a:fillRect/>
          </a:stretch>
        </p:blipFill>
        <p:spPr>
          <a:xfrm>
            <a:off x="8115300" y="425196"/>
            <a:ext cx="155448" cy="155448"/>
          </a:xfrm>
          <a:prstGeom prst="rect">
            <a:avLst/>
          </a:prstGeom>
        </p:spPr>
      </p:pic>
      <p:sp>
        <p:nvSpPr>
          <p:cNvPr id="9" name="tracker-233"/>
          <p:cNvSpPr/>
          <p:nvPr/>
        </p:nvSpPr>
        <p:spPr>
          <a:xfrm>
            <a:off x="8421624" y="347472"/>
            <a:ext cx="310896" cy="310896"/>
          </a:xfrm>
          <a:prstGeom prst="ellipse">
            <a:avLst/>
          </a:prstGeom>
          <a:solidFill>
            <a:schemeClr val="bg2"/>
          </a:solidFill>
          <a:ln w="12700">
            <a:solidFill>
              <a:schemeClr val="bg2"/>
            </a:solidFill>
            <a:prstDash val="solid"/>
          </a:ln>
        </p:spPr>
      </p:sp>
      <p:pic>
        <p:nvPicPr>
          <p:cNvPr id="10" name="tracker-icon-234" descr="preencoded.png">    </p:cNvPr>
          <p:cNvPicPr>
            <a:picLocks noChangeAspect="1"/>
          </p:cNvPicPr>
          <p:nvPr/>
        </p:nvPicPr>
        <p:blipFill>
          <a:blip r:embed="rId4"/>
          <a:stretch>
            <a:fillRect/>
          </a:stretch>
        </p:blipFill>
        <p:spPr>
          <a:xfrm>
            <a:off x="8499348" y="425196"/>
            <a:ext cx="155448" cy="155448"/>
          </a:xfrm>
          <a:prstGeom prst="rect">
            <a:avLst/>
          </a:prstGeom>
        </p:spPr>
      </p:pic>
      <p:pic>
        <p:nvPicPr>
          <p:cNvPr id="11" name="toy-icon-235" descr="preencoded.png">    </p:cNvPr>
          <p:cNvPicPr>
            <a:picLocks noChangeAspect="1"/>
          </p:cNvPicPr>
          <p:nvPr/>
        </p:nvPicPr>
        <p:blipFill>
          <a:blip r:embed="rId5"/>
          <a:stretch>
            <a:fillRect/>
          </a:stretch>
        </p:blipFill>
        <p:spPr>
          <a:xfrm>
            <a:off x="411480" y="950976"/>
            <a:ext cx="201168" cy="201168"/>
          </a:xfrm>
          <a:prstGeom prst="rect">
            <a:avLst/>
          </a:prstGeom>
        </p:spPr>
      </p:pic>
      <p:sp>
        <p:nvSpPr>
          <p:cNvPr id="12" name="text-236"/>
          <p:cNvSpPr txBox="1"/>
          <p:nvPr/>
        </p:nvSpPr>
        <p:spPr>
          <a:xfrm>
            <a:off x="685800" y="932688"/>
            <a:ext cx="3703320" cy="256032"/>
          </a:xfrm>
          <a:prstGeom prst="rect">
            <a:avLst/>
          </a:prstGeom>
          <a:noFill/>
          <a:ln/>
        </p:spPr>
        <p:txBody>
          <a:bodyPr wrap="square" lIns="0" tIns="0" rIns="0" bIns="0" rtlCol="0" anchor="t"/>
          <a:lstStyle/>
          <a:p>
            <a:pPr indent="0" marL="0">
              <a:buNone/>
            </a:pPr>
            <a:r>
              <a:rPr lang="en-US" sz="1200" b="1" spc="100" kern="0" dirty="0">
                <a:solidFill>
                  <a:schemeClr val="accent5"/>
                </a:solidFill>
              </a:rPr>
              <a:t>FIRST, ON MINIHDFS (INVENTED)</a:t>
            </a:r>
            <a:endParaRPr lang="en-US" sz="1200" dirty="0"/>
          </a:p>
        </p:txBody>
      </p:sp>
      <p:sp>
        <p:nvSpPr>
          <p:cNvPr id="13" name="code-237"/>
          <p:cNvSpPr txBox="1"/>
          <p:nvPr/>
        </p:nvSpPr>
        <p:spPr>
          <a:xfrm>
            <a:off x="411480" y="1280160"/>
            <a:ext cx="2514600" cy="566928"/>
          </a:xfrm>
          <a:prstGeom prst="roundRect">
            <a:avLst>
              <a:gd name="adj" fmla="val 8065"/>
            </a:avLst>
          </a:prstGeom>
          <a:solidFill>
            <a:schemeClr val="bg2"/>
          </a:solidFill>
          <a:ln>
            <a:solidFill>
              <a:schemeClr val="bg2"/>
            </a:solidFill>
          </a:ln>
        </p:spPr>
        <p:txBody>
          <a:bodyPr wrap="square" lIns="1016" tIns="1016" rIns="1016" bIns="1016" rtlCol="0" anchor="ctr"/>
          <a:lstStyle/>
          <a:p>
            <a:pPr indent="0" marL="0">
              <a:buNone/>
            </a:pPr>
            <a:r>
              <a:rPr lang="en-US" sz="1100" dirty="0">
                <a:solidFill>
                  <a:schemeClr val="tx1"/>
                </a:solidFill>
                <a:latin typeface="Courier New" pitchFamily="34" charset="0"/>
                <a:ea typeface="Courier New" pitchFamily="34" charset="-122"/>
                <a:cs typeface="Courier New" pitchFamily="34" charset="-120"/>
              </a:rPr>
              <a:t>Isolation Forest: counts</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[1 1 0 0 0 0] are rare</a:t>
            </a:r>
            <a:endParaRPr lang="en-US" sz="1100" dirty="0"/>
          </a:p>
        </p:txBody>
      </p:sp>
      <p:sp>
        <p:nvSpPr>
          <p:cNvPr id="14" name="arrow-238"/>
          <p:cNvSpPr/>
          <p:nvPr/>
        </p:nvSpPr>
        <p:spPr>
          <a:xfrm>
            <a:off x="2999232" y="1463040"/>
            <a:ext cx="292608" cy="201168"/>
          </a:xfrm>
          <a:prstGeom prst="rightArrow">
            <a:avLst/>
          </a:prstGeom>
          <a:solidFill>
            <a:schemeClr val="tx2"/>
          </a:solidFill>
          <a:ln w="12700">
            <a:solidFill>
              <a:schemeClr val="tx2"/>
            </a:solidFill>
            <a:prstDash val="solid"/>
          </a:ln>
        </p:spPr>
      </p:sp>
      <p:sp>
        <p:nvSpPr>
          <p:cNvPr id="15" name="pill-239"/>
          <p:cNvSpPr txBox="1"/>
          <p:nvPr/>
        </p:nvSpPr>
        <p:spPr>
          <a:xfrm>
            <a:off x="3364992" y="1399032"/>
            <a:ext cx="1005840" cy="329184"/>
          </a:xfrm>
          <a:prstGeom prst="roundRect">
            <a:avLst>
              <a:gd name="adj" fmla="val 50000"/>
            </a:avLst>
          </a:prstGeom>
          <a:solidFill>
            <a:schemeClr val="accent6"/>
          </a:solidFill>
          <a:ln>
            <a:solidFill>
              <a:schemeClr val="accent6"/>
            </a:solidFill>
          </a:ln>
        </p:spPr>
        <p:txBody>
          <a:bodyPr wrap="square" lIns="254" tIns="254" rIns="254" bIns="254" rtlCol="0" anchor="ctr"/>
          <a:lstStyle/>
          <a:p>
            <a:pPr algn="ctr" indent="0" marL="0">
              <a:buNone/>
            </a:pPr>
            <a:r>
              <a:rPr lang="en-US" sz="1200" b="1" dirty="0">
                <a:solidFill>
                  <a:schemeClr val="bg1"/>
                </a:solidFill>
              </a:rPr>
              <a:t>anomaly</a:t>
            </a:r>
            <a:endParaRPr lang="en-US" sz="1200" dirty="0"/>
          </a:p>
        </p:txBody>
      </p:sp>
      <p:sp>
        <p:nvSpPr>
          <p:cNvPr id="16" name="code-240"/>
          <p:cNvSpPr txBox="1"/>
          <p:nvPr/>
        </p:nvSpPr>
        <p:spPr>
          <a:xfrm>
            <a:off x="411480" y="2011680"/>
            <a:ext cx="2514600" cy="566928"/>
          </a:xfrm>
          <a:prstGeom prst="roundRect">
            <a:avLst>
              <a:gd name="adj" fmla="val 8065"/>
            </a:avLst>
          </a:prstGeom>
          <a:solidFill>
            <a:schemeClr val="bg2"/>
          </a:solidFill>
          <a:ln>
            <a:solidFill>
              <a:schemeClr val="bg2"/>
            </a:solidFill>
          </a:ln>
        </p:spPr>
        <p:txBody>
          <a:bodyPr wrap="square" lIns="1016" tIns="1016" rIns="1016" bIns="1016" rtlCol="0" anchor="ctr"/>
          <a:lstStyle/>
          <a:p>
            <a:pPr indent="0" marL="0">
              <a:buNone/>
            </a:pPr>
            <a:r>
              <a:rPr lang="en-US" sz="1100" dirty="0">
                <a:solidFill>
                  <a:schemeClr val="tx1"/>
                </a:solidFill>
                <a:latin typeface="Courier New" pitchFamily="34" charset="0"/>
                <a:ea typeface="Courier New" pitchFamily="34" charset="-122"/>
                <a:cs typeface="Courier New" pitchFamily="34" charset="-120"/>
              </a:rPr>
              <a:t>DeepLog: after R, A is a</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likely next event … end</a:t>
            </a:r>
            <a:endParaRPr lang="en-US" sz="1100" dirty="0"/>
          </a:p>
        </p:txBody>
      </p:sp>
      <p:sp>
        <p:nvSpPr>
          <p:cNvPr id="17" name="arrow-241"/>
          <p:cNvSpPr/>
          <p:nvPr/>
        </p:nvSpPr>
        <p:spPr>
          <a:xfrm>
            <a:off x="2999232" y="2194560"/>
            <a:ext cx="292608" cy="201168"/>
          </a:xfrm>
          <a:prstGeom prst="rightArrow">
            <a:avLst/>
          </a:prstGeom>
          <a:solidFill>
            <a:schemeClr val="tx2"/>
          </a:solidFill>
          <a:ln w="12700">
            <a:solidFill>
              <a:schemeClr val="tx2"/>
            </a:solidFill>
            <a:prstDash val="solid"/>
          </a:ln>
        </p:spPr>
      </p:sp>
      <p:sp>
        <p:nvSpPr>
          <p:cNvPr id="18" name="pill-242"/>
          <p:cNvSpPr txBox="1"/>
          <p:nvPr/>
        </p:nvSpPr>
        <p:spPr>
          <a:xfrm>
            <a:off x="3364992" y="2130552"/>
            <a:ext cx="1005840" cy="329184"/>
          </a:xfrm>
          <a:prstGeom prst="roundRect">
            <a:avLst>
              <a:gd name="adj" fmla="val 50000"/>
            </a:avLst>
          </a:prstGeom>
          <a:solidFill>
            <a:schemeClr val="tx2"/>
          </a:solidFill>
          <a:ln>
            <a:solidFill>
              <a:schemeClr val="tx2"/>
            </a:solidFill>
          </a:ln>
        </p:spPr>
        <p:txBody>
          <a:bodyPr wrap="square" lIns="254" tIns="254" rIns="254" bIns="254" rtlCol="0" anchor="ctr"/>
          <a:lstStyle/>
          <a:p>
            <a:pPr algn="ctr" indent="0" marL="0">
              <a:buNone/>
            </a:pPr>
            <a:r>
              <a:rPr lang="en-US" sz="1200" b="1" dirty="0">
                <a:solidFill>
                  <a:schemeClr val="bg1"/>
                </a:solidFill>
              </a:rPr>
              <a:t>normal ✗</a:t>
            </a:r>
            <a:endParaRPr lang="en-US" sz="1200" dirty="0"/>
          </a:p>
        </p:txBody>
      </p:sp>
      <p:sp>
        <p:nvSpPr>
          <p:cNvPr id="19" name="code-243"/>
          <p:cNvSpPr txBox="1"/>
          <p:nvPr/>
        </p:nvSpPr>
        <p:spPr>
          <a:xfrm>
            <a:off x="411480" y="2743200"/>
            <a:ext cx="2514600" cy="566928"/>
          </a:xfrm>
          <a:prstGeom prst="roundRect">
            <a:avLst>
              <a:gd name="adj" fmla="val 8065"/>
            </a:avLst>
          </a:prstGeom>
          <a:solidFill>
            <a:schemeClr val="bg2"/>
          </a:solidFill>
          <a:ln>
            <a:solidFill>
              <a:schemeClr val="bg2"/>
            </a:solidFill>
          </a:ln>
        </p:spPr>
        <p:txBody>
          <a:bodyPr wrap="square" lIns="1016" tIns="1016" rIns="1016" bIns="1016" rtlCol="0" anchor="ctr"/>
          <a:lstStyle/>
          <a:p>
            <a:pPr indent="0" marL="0">
              <a:buNone/>
            </a:pPr>
            <a:r>
              <a:rPr lang="en-US" sz="1100" dirty="0">
                <a:solidFill>
                  <a:schemeClr val="tx1"/>
                </a:solidFill>
                <a:latin typeface="Courier New" pitchFamily="34" charset="0"/>
                <a:ea typeface="Courier New" pitchFamily="34" charset="-122"/>
                <a:cs typeface="Courier New" pitchFamily="34" charset="-120"/>
              </a:rPr>
              <a:t>DeepLog + EOS token:</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after A, EOS is unlikely</a:t>
            </a:r>
            <a:endParaRPr lang="en-US" sz="1100" dirty="0"/>
          </a:p>
        </p:txBody>
      </p:sp>
      <p:sp>
        <p:nvSpPr>
          <p:cNvPr id="20" name="arrow-244"/>
          <p:cNvSpPr/>
          <p:nvPr/>
        </p:nvSpPr>
        <p:spPr>
          <a:xfrm>
            <a:off x="2999232" y="2926080"/>
            <a:ext cx="292608" cy="201168"/>
          </a:xfrm>
          <a:prstGeom prst="rightArrow">
            <a:avLst/>
          </a:prstGeom>
          <a:solidFill>
            <a:schemeClr val="tx2"/>
          </a:solidFill>
          <a:ln w="12700">
            <a:solidFill>
              <a:schemeClr val="tx2"/>
            </a:solidFill>
            <a:prstDash val="solid"/>
          </a:ln>
        </p:spPr>
      </p:sp>
      <p:sp>
        <p:nvSpPr>
          <p:cNvPr id="21" name="pill-245"/>
          <p:cNvSpPr txBox="1"/>
          <p:nvPr/>
        </p:nvSpPr>
        <p:spPr>
          <a:xfrm>
            <a:off x="3364992" y="2862072"/>
            <a:ext cx="1005840" cy="329184"/>
          </a:xfrm>
          <a:prstGeom prst="roundRect">
            <a:avLst>
              <a:gd name="adj" fmla="val 50000"/>
            </a:avLst>
          </a:prstGeom>
          <a:solidFill>
            <a:schemeClr val="accent6"/>
          </a:solidFill>
          <a:ln>
            <a:solidFill>
              <a:schemeClr val="accent6"/>
            </a:solidFill>
          </a:ln>
        </p:spPr>
        <p:txBody>
          <a:bodyPr wrap="square" lIns="254" tIns="254" rIns="254" bIns="254" rtlCol="0" anchor="ctr"/>
          <a:lstStyle/>
          <a:p>
            <a:pPr algn="ctr" indent="0" marL="0">
              <a:buNone/>
            </a:pPr>
            <a:r>
              <a:rPr lang="en-US" sz="1200" b="1" dirty="0">
                <a:solidFill>
                  <a:schemeClr val="bg1"/>
                </a:solidFill>
              </a:rPr>
              <a:t>anomaly ✓</a:t>
            </a:r>
            <a:endParaRPr lang="en-US" sz="1200" dirty="0"/>
          </a:p>
        </p:txBody>
      </p:sp>
      <p:sp>
        <p:nvSpPr>
          <p:cNvPr id="22" name="text-246"/>
          <p:cNvSpPr txBox="1"/>
          <p:nvPr/>
        </p:nvSpPr>
        <p:spPr>
          <a:xfrm>
            <a:off x="411480" y="3328416"/>
            <a:ext cx="3977640" cy="219456"/>
          </a:xfrm>
          <a:prstGeom prst="rect">
            <a:avLst/>
          </a:prstGeom>
          <a:noFill/>
          <a:ln/>
        </p:spPr>
        <p:txBody>
          <a:bodyPr wrap="square" lIns="0" tIns="0" rIns="0" bIns="0" rtlCol="0" anchor="t"/>
          <a:lstStyle/>
          <a:p>
            <a:pPr indent="0" marL="0">
              <a:buNone/>
            </a:pPr>
            <a:r>
              <a:rPr lang="en-US" sz="1000" i="1" dirty="0">
                <a:solidFill>
                  <a:schemeClr val="tx2"/>
                </a:solidFill>
              </a:rPr>
              <a:t>DeepLog learns from normal blocks only; EOS = end-of-session</a:t>
            </a:r>
            <a:endParaRPr lang="en-US" sz="1000" dirty="0"/>
          </a:p>
        </p:txBody>
      </p:sp>
      <p:graphicFrame>
        <p:nvGraphicFramePr>
          <p:cNvPr id="23" name="chart-247" descr=""/>
          <p:cNvGraphicFramePr/>
          <p:nvPr/>
        </p:nvGraphicFramePr>
        <p:xfrm>
          <a:off x="4572000" y="868680"/>
          <a:ext cx="4206240" cy="2103120"/>
        </p:xfrm>
        <a:graphic xmlns:a="http://schemas.openxmlformats.org/drawingml/2006/main">
          <a:graphicData uri="http://schemas.openxmlformats.org/drawingml/2006/chart">
            <c:chart xmlns:c="http://schemas.openxmlformats.org/drawingml/2006/chart" r:id="rId6"/>
          </a:graphicData>
        </a:graphic>
      </p:graphicFrame>
      <p:sp>
        <p:nvSpPr>
          <p:cNvPr id="24" name="means-card-248"/>
          <p:cNvSpPr/>
          <p:nvPr/>
        </p:nvSpPr>
        <p:spPr>
          <a:xfrm>
            <a:off x="4617720" y="3090672"/>
            <a:ext cx="4114800" cy="1691640"/>
          </a:xfrm>
          <a:prstGeom prst="roundRect">
            <a:avLst>
              <a:gd name="adj" fmla="val 4324"/>
            </a:avLst>
          </a:prstGeom>
          <a:solidFill>
            <a:schemeClr val="bg2"/>
          </a:solidFill>
          <a:ln w="12700">
            <a:solidFill>
              <a:schemeClr val="bg2"/>
            </a:solidFill>
            <a:prstDash val="solid"/>
          </a:ln>
        </p:spPr>
      </p:sp>
      <p:sp>
        <p:nvSpPr>
          <p:cNvPr id="25" name="text-249"/>
          <p:cNvSpPr txBox="1"/>
          <p:nvPr/>
        </p:nvSpPr>
        <p:spPr>
          <a:xfrm>
            <a:off x="4754880" y="3163824"/>
            <a:ext cx="3840480" cy="256032"/>
          </a:xfrm>
          <a:prstGeom prst="rect">
            <a:avLst/>
          </a:prstGeom>
          <a:noFill/>
          <a:ln/>
        </p:spPr>
        <p:txBody>
          <a:bodyPr wrap="square" lIns="0" tIns="0" rIns="0" bIns="0" rtlCol="0" anchor="t"/>
          <a:lstStyle/>
          <a:p>
            <a:pPr indent="0" marL="0">
              <a:buNone/>
            </a:pPr>
            <a:r>
              <a:rPr lang="en-US" sz="1300" b="1" dirty="0">
                <a:solidFill>
                  <a:schemeClr val="accent3"/>
                </a:solidFill>
              </a:rPr>
              <a:t>What it means</a:t>
            </a:r>
            <a:endParaRPr lang="en-US" sz="1300" dirty="0"/>
          </a:p>
        </p:txBody>
      </p:sp>
      <p:sp>
        <p:nvSpPr>
          <p:cNvPr id="26" name="means-text-250"/>
          <p:cNvSpPr txBox="1"/>
          <p:nvPr/>
        </p:nvSpPr>
        <p:spPr>
          <a:xfrm>
            <a:off x="4727448" y="3438144"/>
            <a:ext cx="3895344" cy="1280160"/>
          </a:xfrm>
          <a:prstGeom prst="rect">
            <a:avLst/>
          </a:prstGeom>
          <a:noFill/>
          <a:ln/>
        </p:spPr>
        <p:txBody>
          <a:bodyPr wrap="square" lIns="254" tIns="254" rIns="254" bIns="254" rtlCol="0" anchor="t"/>
          <a:lstStyle/>
          <a:p>
            <a:pPr marL="152400" indent="-152400">
              <a:spcAft>
                <a:spcPts val="300"/>
              </a:spcAft>
              <a:buSzPct val="100000"/>
              <a:buChar char="•"/>
            </a:pPr>
            <a:r>
              <a:rPr lang="en-US" sz="1250" dirty="0">
                <a:solidFill>
                  <a:schemeClr val="tx1"/>
                </a:solidFill>
              </a:rPr>
              <a:t>2,950 real broken blocks are just “R, A, silence”: without EOS, DeepLog never checks them</a:t>
            </a:r>
            <a:endParaRPr lang="en-US" sz="1250" dirty="0"/>
          </a:p>
          <a:p>
            <a:pPr marL="152400" indent="-152400">
              <a:spcAft>
                <a:spcPts val="300"/>
              </a:spcAft>
              <a:buSzPct val="100000"/>
              <a:buChar char="•"/>
            </a:pPr>
            <a:r>
              <a:rPr lang="en-US" sz="1250" dirty="0">
                <a:solidFill>
                  <a:schemeClr val="tx1"/>
                </a:solidFill>
              </a:rPr>
              <a:t>EOS: AUC 0.84 → 0.96; F1 still below the literature's ~0.9 (100k blocks, CPU)</a:t>
            </a:r>
            <a:endParaRPr lang="en-US" sz="1250" dirty="0"/>
          </a:p>
          <a:p>
            <a:pPr marL="152400" indent="-152400">
              <a:spcAft>
                <a:spcPts val="300"/>
              </a:spcAft>
              <a:buSzPct val="100000"/>
              <a:buChar char="•"/>
            </a:pPr>
            <a:r>
              <a:rPr lang="en-US" sz="1250" dirty="0">
                <a:solidFill>
                  <a:schemeClr val="tx1"/>
                </a:solidFill>
              </a:rPr>
              <a:t>EOS added after inspecting split 0 (diagnosis, not tuning)</a:t>
            </a:r>
            <a:endParaRPr lang="en-US" sz="1250" dirty="0"/>
          </a:p>
        </p:txBody>
      </p:sp>
      <p:sp>
        <p:nvSpPr>
          <p:cNvPr id="25" name="Slide Number Placeholder 0"/>
          <p:cNvSpPr>
            <a:spLocks noGrp="1"/>
          </p:cNvSpPr>
          <p:nvPr>
            <p:ph type="sldNum" sz="quarter" idx="4294967295"/>
          </p:nvPr>
        </p:nvSpPr>
        <p:spPr>
          <a:xfrm>
            <a:off x="8412480" y="4800600"/>
            <a:ext cx="41148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11480" y="256032"/>
            <a:ext cx="6903720" cy="502920"/>
          </a:xfrm>
          <a:prstGeom prst="rect">
            <a:avLst/>
          </a:prstGeom>
          <a:noFill/>
          <a:ln/>
        </p:spPr>
        <p:txBody>
          <a:bodyPr wrap="square" lIns="0" tIns="0" rIns="0" bIns="0" rtlCol="0" anchor="ctr"/>
          <a:lstStyle/>
          <a:p>
            <a:pPr algn="l" indent="0" marL="0">
              <a:buNone/>
            </a:pPr>
            <a:r>
              <a:rPr lang="en-US" sz="2400" dirty="0">
                <a:solidFill>
                  <a:schemeClr val="tx1"/>
                </a:solidFill>
                <a:latin typeface="Bookman Old Style" pitchFamily="34" charset="0"/>
                <a:ea typeface="Bookman Old Style" pitchFamily="34" charset="-122"/>
                <a:cs typeface="Bookman Old Style" pitchFamily="34" charset="-120"/>
              </a:rPr>
              <a:t>Ext. 2 · Guess: how much are labels worth?</a:t>
            </a:r>
            <a:endParaRPr lang="en-US" sz="2400" dirty="0"/>
          </a:p>
        </p:txBody>
      </p:sp>
      <p:sp>
        <p:nvSpPr>
          <p:cNvPr id="3" name="tracker-251"/>
          <p:cNvSpPr/>
          <p:nvPr/>
        </p:nvSpPr>
        <p:spPr>
          <a:xfrm>
            <a:off x="7269480" y="347472"/>
            <a:ext cx="310896" cy="310896"/>
          </a:xfrm>
          <a:prstGeom prst="ellipse">
            <a:avLst/>
          </a:prstGeom>
          <a:solidFill>
            <a:schemeClr val="bg2"/>
          </a:solidFill>
          <a:ln w="12700">
            <a:solidFill>
              <a:schemeClr val="bg2"/>
            </a:solidFill>
            <a:prstDash val="solid"/>
          </a:ln>
        </p:spPr>
      </p:sp>
      <p:pic>
        <p:nvPicPr>
          <p:cNvPr id="4" name="tracker-icon-252" descr="preencoded.png">    </p:cNvPr>
          <p:cNvPicPr>
            <a:picLocks noChangeAspect="1"/>
          </p:cNvPicPr>
          <p:nvPr/>
        </p:nvPicPr>
        <p:blipFill>
          <a:blip r:embed="rId1"/>
          <a:stretch>
            <a:fillRect/>
          </a:stretch>
        </p:blipFill>
        <p:spPr>
          <a:xfrm>
            <a:off x="7347204" y="425196"/>
            <a:ext cx="155448" cy="155448"/>
          </a:xfrm>
          <a:prstGeom prst="rect">
            <a:avLst/>
          </a:prstGeom>
        </p:spPr>
      </p:pic>
      <p:sp>
        <p:nvSpPr>
          <p:cNvPr id="5" name="tracker-253"/>
          <p:cNvSpPr/>
          <p:nvPr/>
        </p:nvSpPr>
        <p:spPr>
          <a:xfrm>
            <a:off x="7653528" y="347472"/>
            <a:ext cx="310896" cy="310896"/>
          </a:xfrm>
          <a:prstGeom prst="ellipse">
            <a:avLst/>
          </a:prstGeom>
          <a:solidFill>
            <a:schemeClr val="bg2"/>
          </a:solidFill>
          <a:ln w="12700">
            <a:solidFill>
              <a:schemeClr val="bg2"/>
            </a:solidFill>
            <a:prstDash val="solid"/>
          </a:ln>
        </p:spPr>
      </p:sp>
      <p:pic>
        <p:nvPicPr>
          <p:cNvPr id="6" name="tracker-icon-254" descr="preencoded.png">    </p:cNvPr>
          <p:cNvPicPr>
            <a:picLocks noChangeAspect="1"/>
          </p:cNvPicPr>
          <p:nvPr/>
        </p:nvPicPr>
        <p:blipFill>
          <a:blip r:embed="rId2"/>
          <a:stretch>
            <a:fillRect/>
          </a:stretch>
        </p:blipFill>
        <p:spPr>
          <a:xfrm>
            <a:off x="7731252" y="425196"/>
            <a:ext cx="155448" cy="155448"/>
          </a:xfrm>
          <a:prstGeom prst="rect">
            <a:avLst/>
          </a:prstGeom>
        </p:spPr>
      </p:pic>
      <p:sp>
        <p:nvSpPr>
          <p:cNvPr id="7" name="tracker-255"/>
          <p:cNvSpPr/>
          <p:nvPr/>
        </p:nvSpPr>
        <p:spPr>
          <a:xfrm>
            <a:off x="8037576" y="347472"/>
            <a:ext cx="310896" cy="310896"/>
          </a:xfrm>
          <a:prstGeom prst="ellipse">
            <a:avLst/>
          </a:prstGeom>
          <a:solidFill>
            <a:schemeClr val="accent3"/>
          </a:solidFill>
          <a:ln w="12700">
            <a:solidFill>
              <a:schemeClr val="accent3"/>
            </a:solidFill>
            <a:prstDash val="solid"/>
          </a:ln>
        </p:spPr>
      </p:sp>
      <p:pic>
        <p:nvPicPr>
          <p:cNvPr id="8" name="tracker-icon-256" descr="preencoded.png">    </p:cNvPr>
          <p:cNvPicPr>
            <a:picLocks noChangeAspect="1"/>
          </p:cNvPicPr>
          <p:nvPr/>
        </p:nvPicPr>
        <p:blipFill>
          <a:blip r:embed="rId3"/>
          <a:stretch>
            <a:fillRect/>
          </a:stretch>
        </p:blipFill>
        <p:spPr>
          <a:xfrm>
            <a:off x="8115300" y="425196"/>
            <a:ext cx="155448" cy="155448"/>
          </a:xfrm>
          <a:prstGeom prst="rect">
            <a:avLst/>
          </a:prstGeom>
        </p:spPr>
      </p:pic>
      <p:sp>
        <p:nvSpPr>
          <p:cNvPr id="9" name="tracker-257"/>
          <p:cNvSpPr/>
          <p:nvPr/>
        </p:nvSpPr>
        <p:spPr>
          <a:xfrm>
            <a:off x="8421624" y="347472"/>
            <a:ext cx="310896" cy="310896"/>
          </a:xfrm>
          <a:prstGeom prst="ellipse">
            <a:avLst/>
          </a:prstGeom>
          <a:solidFill>
            <a:schemeClr val="bg2"/>
          </a:solidFill>
          <a:ln w="12700">
            <a:solidFill>
              <a:schemeClr val="bg2"/>
            </a:solidFill>
            <a:prstDash val="solid"/>
          </a:ln>
        </p:spPr>
      </p:sp>
      <p:pic>
        <p:nvPicPr>
          <p:cNvPr id="10" name="tracker-icon-258" descr="preencoded.png">    </p:cNvPr>
          <p:cNvPicPr>
            <a:picLocks noChangeAspect="1"/>
          </p:cNvPicPr>
          <p:nvPr/>
        </p:nvPicPr>
        <p:blipFill>
          <a:blip r:embed="rId4"/>
          <a:stretch>
            <a:fillRect/>
          </a:stretch>
        </p:blipFill>
        <p:spPr>
          <a:xfrm>
            <a:off x="8499348" y="425196"/>
            <a:ext cx="155448" cy="155448"/>
          </a:xfrm>
          <a:prstGeom prst="rect">
            <a:avLst/>
          </a:prstGeom>
        </p:spPr>
      </p:pic>
      <p:pic>
        <p:nvPicPr>
          <p:cNvPr id="11" name="toy-icon-259" descr="preencoded.png">    </p:cNvPr>
          <p:cNvPicPr>
            <a:picLocks noChangeAspect="1"/>
          </p:cNvPicPr>
          <p:nvPr/>
        </p:nvPicPr>
        <p:blipFill>
          <a:blip r:embed="rId5"/>
          <a:stretch>
            <a:fillRect/>
          </a:stretch>
        </p:blipFill>
        <p:spPr>
          <a:xfrm>
            <a:off x="411480" y="950976"/>
            <a:ext cx="201168" cy="201168"/>
          </a:xfrm>
          <a:prstGeom prst="rect">
            <a:avLst/>
          </a:prstGeom>
        </p:spPr>
      </p:pic>
      <p:sp>
        <p:nvSpPr>
          <p:cNvPr id="12" name="text-260"/>
          <p:cNvSpPr txBox="1"/>
          <p:nvPr/>
        </p:nvSpPr>
        <p:spPr>
          <a:xfrm>
            <a:off x="685800" y="932688"/>
            <a:ext cx="3703320" cy="256032"/>
          </a:xfrm>
          <a:prstGeom prst="rect">
            <a:avLst/>
          </a:prstGeom>
          <a:noFill/>
          <a:ln/>
        </p:spPr>
        <p:txBody>
          <a:bodyPr wrap="square" lIns="0" tIns="0" rIns="0" bIns="0" rtlCol="0" anchor="t"/>
          <a:lstStyle/>
          <a:p>
            <a:pPr indent="0" marL="0">
              <a:buNone/>
            </a:pPr>
            <a:r>
              <a:rPr lang="en-US" sz="1200" b="1" spc="100" kern="0" dirty="0">
                <a:solidFill>
                  <a:schemeClr val="accent5"/>
                </a:solidFill>
              </a:rPr>
              <a:t>GUESS FIRST</a:t>
            </a:r>
            <a:endParaRPr lang="en-US" sz="1200" dirty="0"/>
          </a:p>
        </p:txBody>
      </p:sp>
      <p:sp>
        <p:nvSpPr>
          <p:cNvPr id="13" name="text-261"/>
          <p:cNvSpPr txBox="1"/>
          <p:nvPr/>
        </p:nvSpPr>
        <p:spPr>
          <a:xfrm>
            <a:off x="411480" y="1280160"/>
            <a:ext cx="3977640" cy="548640"/>
          </a:xfrm>
          <a:prstGeom prst="rect">
            <a:avLst/>
          </a:prstGeom>
          <a:noFill/>
          <a:ln/>
        </p:spPr>
        <p:txBody>
          <a:bodyPr wrap="square" lIns="0" tIns="0" rIns="0" bIns="0" rtlCol="0" anchor="t"/>
          <a:lstStyle/>
          <a:p>
            <a:pPr indent="0" marL="0">
              <a:buNone/>
            </a:pPr>
            <a:r>
              <a:rPr lang="en-US" sz="1400" b="1" dirty="0">
                <a:solidFill>
                  <a:schemeClr val="tx1"/>
                </a:solidFill>
              </a:rPr>
              <a:t>F1 gap between the best supervised and the best label-free model on HDFS?</a:t>
            </a:r>
            <a:endParaRPr lang="en-US" sz="1400" dirty="0"/>
          </a:p>
        </p:txBody>
      </p:sp>
      <p:sp>
        <p:nvSpPr>
          <p:cNvPr id="14" name="pill-262"/>
          <p:cNvSpPr txBox="1"/>
          <p:nvPr/>
        </p:nvSpPr>
        <p:spPr>
          <a:xfrm>
            <a:off x="411480" y="1920240"/>
            <a:ext cx="1051560" cy="384048"/>
          </a:xfrm>
          <a:prstGeom prst="roundRect">
            <a:avLst>
              <a:gd name="adj" fmla="val 42857"/>
            </a:avLst>
          </a:prstGeom>
          <a:solidFill>
            <a:schemeClr val="accent5"/>
          </a:solidFill>
          <a:ln>
            <a:solidFill>
              <a:schemeClr val="accent5"/>
            </a:solidFill>
          </a:ln>
        </p:spPr>
        <p:txBody>
          <a:bodyPr wrap="square" lIns="254" tIns="254" rIns="254" bIns="254" rtlCol="0" anchor="ctr"/>
          <a:lstStyle/>
          <a:p>
            <a:pPr algn="ctr" indent="0" marL="0">
              <a:buNone/>
            </a:pPr>
            <a:r>
              <a:rPr lang="en-US" sz="1400" b="1" dirty="0">
                <a:solidFill>
                  <a:schemeClr val="bg1"/>
                </a:solidFill>
              </a:rPr>
              <a:t>0.05</a:t>
            </a:r>
            <a:endParaRPr lang="en-US" sz="1400" dirty="0"/>
          </a:p>
        </p:txBody>
      </p:sp>
      <p:sp>
        <p:nvSpPr>
          <p:cNvPr id="15" name="pill-263"/>
          <p:cNvSpPr txBox="1"/>
          <p:nvPr/>
        </p:nvSpPr>
        <p:spPr>
          <a:xfrm>
            <a:off x="1645920" y="1920240"/>
            <a:ext cx="1051560" cy="384048"/>
          </a:xfrm>
          <a:prstGeom prst="roundRect">
            <a:avLst>
              <a:gd name="adj" fmla="val 42857"/>
            </a:avLst>
          </a:prstGeom>
          <a:solidFill>
            <a:schemeClr val="accent5"/>
          </a:solidFill>
          <a:ln>
            <a:solidFill>
              <a:schemeClr val="accent5"/>
            </a:solidFill>
          </a:ln>
        </p:spPr>
        <p:txBody>
          <a:bodyPr wrap="square" lIns="254" tIns="254" rIns="254" bIns="254" rtlCol="0" anchor="ctr"/>
          <a:lstStyle/>
          <a:p>
            <a:pPr algn="ctr" indent="0" marL="0">
              <a:buNone/>
            </a:pPr>
            <a:r>
              <a:rPr lang="en-US" sz="1400" b="1" dirty="0">
                <a:solidFill>
                  <a:schemeClr val="bg1"/>
                </a:solidFill>
              </a:rPr>
              <a:t>0.15</a:t>
            </a:r>
            <a:endParaRPr lang="en-US" sz="1400" dirty="0"/>
          </a:p>
        </p:txBody>
      </p:sp>
      <p:sp>
        <p:nvSpPr>
          <p:cNvPr id="16" name="pill-264"/>
          <p:cNvSpPr txBox="1"/>
          <p:nvPr/>
        </p:nvSpPr>
        <p:spPr>
          <a:xfrm>
            <a:off x="2880360" y="1920240"/>
            <a:ext cx="1051560" cy="384048"/>
          </a:xfrm>
          <a:prstGeom prst="roundRect">
            <a:avLst>
              <a:gd name="adj" fmla="val 42857"/>
            </a:avLst>
          </a:prstGeom>
          <a:solidFill>
            <a:schemeClr val="accent5"/>
          </a:solidFill>
          <a:ln>
            <a:solidFill>
              <a:schemeClr val="accent5"/>
            </a:solidFill>
          </a:ln>
        </p:spPr>
        <p:txBody>
          <a:bodyPr wrap="square" lIns="254" tIns="254" rIns="254" bIns="254" rtlCol="0" anchor="ctr"/>
          <a:lstStyle/>
          <a:p>
            <a:pPr algn="ctr" indent="0" marL="0">
              <a:buNone/>
            </a:pPr>
            <a:r>
              <a:rPr lang="en-US" sz="1400" b="1" dirty="0">
                <a:solidFill>
                  <a:schemeClr val="bg1"/>
                </a:solidFill>
              </a:rPr>
              <a:t>0.35</a:t>
            </a:r>
            <a:endParaRPr lang="en-US" sz="1400" dirty="0"/>
          </a:p>
        </p:txBody>
      </p:sp>
      <p:sp>
        <p:nvSpPr>
          <p:cNvPr id="17" name="answer-box-265"/>
          <p:cNvSpPr/>
          <p:nvPr/>
        </p:nvSpPr>
        <p:spPr>
          <a:xfrm>
            <a:off x="411480" y="2514600"/>
            <a:ext cx="3657600" cy="384048"/>
          </a:xfrm>
          <a:prstGeom prst="roundRect">
            <a:avLst>
              <a:gd name="adj" fmla="val 19048"/>
            </a:avLst>
          </a:prstGeom>
          <a:solidFill>
            <a:schemeClr val="bg1"/>
          </a:solidFill>
          <a:ln w="12700">
            <a:solidFill>
              <a:schemeClr val="tx2"/>
            </a:solidFill>
            <a:prstDash val="dash"/>
          </a:ln>
        </p:spPr>
      </p:sp>
      <p:sp>
        <p:nvSpPr>
          <p:cNvPr id="18" name="answer-266"/>
          <p:cNvSpPr txBox="1"/>
          <p:nvPr/>
        </p:nvSpPr>
        <p:spPr>
          <a:xfrm rot="10800000">
            <a:off x="484632" y="2560320"/>
            <a:ext cx="3511296" cy="292608"/>
          </a:xfrm>
          <a:prstGeom prst="rect">
            <a:avLst/>
          </a:prstGeom>
          <a:noFill/>
          <a:ln/>
        </p:spPr>
        <p:txBody>
          <a:bodyPr wrap="square" lIns="0" tIns="0" rIns="0" bIns="0" rtlCol="0" anchor="ctr"/>
          <a:lstStyle/>
          <a:p>
            <a:pPr algn="l" indent="0" marL="0">
              <a:buNone/>
            </a:pPr>
            <a:r>
              <a:rPr lang="en-US" sz="1100" i="1" dirty="0">
                <a:solidFill>
                  <a:schemeClr val="tx2"/>
                </a:solidFill>
              </a:rPr>
              <a:t>≈ 0.34  (RF 0.998 vs Isolation Forest 0.654)</a:t>
            </a:r>
            <a:endParaRPr lang="en-US" sz="1100" dirty="0"/>
          </a:p>
        </p:txBody>
      </p:sp>
      <p:graphicFrame>
        <p:nvGraphicFramePr>
          <p:cNvPr id="15" name="table-267"/>
          <p:cNvGraphicFramePr>
            <a:graphicFrameLocks noGrp="1"/>
          </p:cNvGraphicFramePr>
          <p:nvPr>
            <p:extLst>
              <p:ext uri="{D42A27DB-BD31-4B8C-83A1-F6EECF244321}">
                <p14:modId xmlns:p14="http://schemas.microsoft.com/office/powerpoint/2010/main" val="1579011935"/>
              </p:ext>
            </p:extLst>
          </p:nvPr>
        </p:nvGraphicFramePr>
        <p:xfrm>
          <a:off x="411480" y="3063240"/>
          <a:ext cx="3977640" cy="914400"/>
        </p:xfrm>
        <a:graphic>
          <a:graphicData uri="http://schemas.openxmlformats.org/drawingml/2006/table">
            <a:tbl>
              <a:tblPr/>
              <a:tblGrid>
                <a:gridCol w="502920"/>
                <a:gridCol w="1691640"/>
                <a:gridCol w="1783080"/>
              </a:tblGrid>
              <a:tr h="274320">
                <a:tc>
                  <a:txBody>
                    <a:bodyPr/>
                    <a:lstStyle/>
                    <a:p>
                      <a:pPr indent="0" marL="0">
                        <a:buNone/>
                      </a:pPr>
                      <a:r>
                        <a:rPr lang="en-US" sz="1100" b="1" dirty="0">
                          <a:solidFill>
                            <a:schemeClr val="tx1"/>
                          </a:solidFill>
                        </a:rPr>
                        <a:t>rank</a:t>
                      </a:r>
                      <a:endParaRPr lang="en-US" sz="1100" dirty="0"/>
                    </a:p>
                  </a:txBody>
                  <a:tcPr marL="36576" marR="36576" marT="36576" marB="36576">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100" b="1" dirty="0">
                          <a:solidFill>
                            <a:schemeClr val="tx1"/>
                          </a:solidFill>
                        </a:rPr>
                        <a:t>by F1</a:t>
                      </a:r>
                      <a:endParaRPr lang="en-US" sz="1100" dirty="0"/>
                    </a:p>
                  </a:txBody>
                  <a:tcPr marL="36576" marR="36576" marT="36576" marB="36576">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100" b="1" dirty="0">
                          <a:solidFill>
                            <a:schemeClr val="tx1"/>
                          </a:solidFill>
                        </a:rPr>
                        <a:t>by AUC</a:t>
                      </a:r>
                      <a:endParaRPr lang="en-US" sz="1100" dirty="0"/>
                    </a:p>
                  </a:txBody>
                  <a:tcPr marL="36576" marR="36576" marT="36576" marB="36576">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r>
              <a:tr h="274320">
                <a:tc>
                  <a:txBody>
                    <a:bodyPr/>
                    <a:lstStyle/>
                    <a:p>
                      <a:pPr indent="0" marL="0">
                        <a:buNone/>
                      </a:pPr>
                      <a:r>
                        <a:rPr lang="en-US" sz="1100" dirty="0">
                          <a:solidFill>
                            <a:schemeClr val="tx1"/>
                          </a:solidFill>
                        </a:rPr>
                        <a:t>1</a:t>
                      </a:r>
                      <a:endParaRPr lang="en-US" sz="1100" dirty="0"/>
                    </a:p>
                  </a:txBody>
                  <a:tcPr marL="36576" marR="36576" marT="36576" marB="36576">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RF 0.998</a:t>
                      </a:r>
                      <a:endParaRPr lang="en-US" sz="1100" dirty="0"/>
                    </a:p>
                  </a:txBody>
                  <a:tcPr marL="36576" marR="36576" marT="36576" marB="36576">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RF 1.000</a:t>
                      </a:r>
                      <a:endParaRPr lang="en-US" sz="1100" dirty="0"/>
                    </a:p>
                  </a:txBody>
                  <a:tcPr marL="36576" marR="36576" marT="36576" marB="36576">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r>
              <a:tr h="274320">
                <a:tc>
                  <a:txBody>
                    <a:bodyPr/>
                    <a:lstStyle/>
                    <a:p>
                      <a:pPr indent="0" marL="0">
                        <a:buNone/>
                      </a:pPr>
                      <a:r>
                        <a:rPr lang="en-US" sz="1100" dirty="0">
                          <a:solidFill>
                            <a:schemeClr val="tx1"/>
                          </a:solidFill>
                        </a:rPr>
                        <a:t>2</a:t>
                      </a:r>
                      <a:endParaRPr lang="en-US" sz="1100" dirty="0"/>
                    </a:p>
                  </a:txBody>
                  <a:tcPr marL="36576" marR="36576" marT="36576" marB="36576">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LSTM 0.968</a:t>
                      </a:r>
                      <a:endParaRPr lang="en-US" sz="1100" dirty="0"/>
                    </a:p>
                  </a:txBody>
                  <a:tcPr marL="36576" marR="36576" marT="36576" marB="36576">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LSTM 0.9996</a:t>
                      </a:r>
                      <a:endParaRPr lang="en-US" sz="1100" dirty="0"/>
                    </a:p>
                  </a:txBody>
                  <a:tcPr marL="36576" marR="36576" marT="36576" marB="36576">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r>
              <a:tr h="274320">
                <a:tc>
                  <a:txBody>
                    <a:bodyPr/>
                    <a:lstStyle/>
                    <a:p>
                      <a:pPr indent="0" marL="0">
                        <a:buNone/>
                      </a:pPr>
                      <a:r>
                        <a:rPr lang="en-US" sz="1100" dirty="0">
                          <a:solidFill>
                            <a:schemeClr val="tx1"/>
                          </a:solidFill>
                        </a:rPr>
                        <a:t>3</a:t>
                      </a:r>
                      <a:endParaRPr lang="en-US" sz="1100" dirty="0"/>
                    </a:p>
                  </a:txBody>
                  <a:tcPr marL="36576" marR="36576" marT="36576" marB="36576">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Isolation F. 0.654</a:t>
                      </a:r>
                      <a:endParaRPr lang="en-US" sz="1100" dirty="0"/>
                    </a:p>
                  </a:txBody>
                  <a:tcPr marL="36576" marR="36576" marT="36576" marB="36576">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DeepLog+EOS 0.961</a:t>
                      </a:r>
                      <a:endParaRPr lang="en-US" sz="1100" dirty="0"/>
                    </a:p>
                  </a:txBody>
                  <a:tcPr marL="36576" marR="36576" marT="36576" marB="36576">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r>
              <a:tr h="274320">
                <a:tc>
                  <a:txBody>
                    <a:bodyPr/>
                    <a:lstStyle/>
                    <a:p>
                      <a:pPr indent="0" marL="0">
                        <a:buNone/>
                      </a:pPr>
                      <a:r>
                        <a:rPr lang="en-US" sz="1100" dirty="0">
                          <a:solidFill>
                            <a:schemeClr val="tx1"/>
                          </a:solidFill>
                        </a:rPr>
                        <a:t>4</a:t>
                      </a:r>
                      <a:endParaRPr lang="en-US" sz="1100" dirty="0"/>
                    </a:p>
                  </a:txBody>
                  <a:tcPr marL="36576" marR="36576" marT="36576" marB="36576">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DeepLog+EOS 0.640</a:t>
                      </a:r>
                      <a:endParaRPr lang="en-US" sz="1100" dirty="0"/>
                    </a:p>
                  </a:txBody>
                  <a:tcPr marL="36576" marR="36576" marT="36576" marB="36576">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Isolation F. 0.958</a:t>
                      </a:r>
                      <a:endParaRPr lang="en-US" sz="1100" dirty="0"/>
                    </a:p>
                  </a:txBody>
                  <a:tcPr marL="36576" marR="36576" marT="36576" marB="36576">
                    <a:lnL w="6350" cap="flat" cmpd="sng" algn="ctr">
                      <a:solidFill>
                        <a:srgbClr val="DDE3E7"/>
                      </a:solidFill>
                      <a:prstDash val="solid"/>
                      <a:round/>
                      <a:headEnd type="none" w="med" len="med"/>
                      <a:tailEnd type="none" w="med" len="med"/>
                    </a:lnL>
                    <a:lnR w="6350" cap="flat" cmpd="sng" algn="ctr">
                      <a:solidFill>
                        <a:srgbClr val="DDE3E7"/>
                      </a:solidFill>
                      <a:prstDash val="solid"/>
                      <a:round/>
                      <a:headEnd type="none" w="med" len="med"/>
                      <a:tailEnd type="none" w="med" len="med"/>
                    </a:lnR>
                    <a:lnT w="6350" cap="flat" cmpd="sng" algn="ctr">
                      <a:solidFill>
                        <a:srgbClr val="DDE3E7"/>
                      </a:solidFill>
                      <a:prstDash val="solid"/>
                      <a:round/>
                      <a:headEnd type="none" w="med" len="med"/>
                      <a:tailEnd type="none" w="med" len="med"/>
                    </a:lnT>
                    <a:lnB w="6350" cap="flat" cmpd="sng" algn="ctr">
                      <a:solidFill>
                        <a:srgbClr val="DDE3E7"/>
                      </a:solidFill>
                      <a:prstDash val="solid"/>
                      <a:round/>
                      <a:headEnd type="none" w="med" len="med"/>
                      <a:tailEnd type="none" w="med" len="med"/>
                    </a:lnB>
                    <a:solidFill>
                      <a:schemeClr val="bg1"/>
                    </a:solidFill>
                  </a:tcPr>
                </a:tc>
              </a:tr>
            </a:tbl>
          </a:graphicData>
        </a:graphic>
      </p:graphicFrame>
      <p:pic>
        <p:nvPicPr>
          <p:cNvPr id="20" name="figure-268" descr="D:\Code\[DevOps] Group Assignment\slides\fig_ranking_f1.png">    </p:cNvPr>
          <p:cNvPicPr>
            <a:picLocks noChangeAspect="1"/>
          </p:cNvPicPr>
          <p:nvPr/>
        </p:nvPicPr>
        <p:blipFill>
          <a:blip r:embed="rId6"/>
          <a:stretch>
            <a:fillRect/>
          </a:stretch>
        </p:blipFill>
        <p:spPr>
          <a:xfrm>
            <a:off x="4598060" y="868680"/>
            <a:ext cx="4154119" cy="2011680"/>
          </a:xfrm>
          <a:prstGeom prst="rect">
            <a:avLst/>
          </a:prstGeom>
        </p:spPr>
      </p:pic>
      <p:sp>
        <p:nvSpPr>
          <p:cNvPr id="21" name="text-269"/>
          <p:cNvSpPr txBox="1"/>
          <p:nvPr/>
        </p:nvSpPr>
        <p:spPr>
          <a:xfrm>
            <a:off x="4572000" y="2907792"/>
            <a:ext cx="4206240" cy="219456"/>
          </a:xfrm>
          <a:prstGeom prst="rect">
            <a:avLst/>
          </a:prstGeom>
          <a:noFill/>
          <a:ln/>
        </p:spPr>
        <p:txBody>
          <a:bodyPr wrap="square" lIns="0" tIns="0" rIns="0" bIns="0" rtlCol="0" anchor="t"/>
          <a:lstStyle/>
          <a:p>
            <a:pPr indent="0" marL="0">
              <a:buNone/>
            </a:pPr>
            <a:r>
              <a:rPr lang="en-US" sz="1000" i="1" dirty="0">
                <a:solidFill>
                  <a:schemeClr val="tx2"/>
                </a:solidFill>
              </a:rPr>
              <a:t>F1 over 10 splits, HDFS. Scott-Knott ESD (R ScottKnottESD).</a:t>
            </a:r>
            <a:endParaRPr lang="en-US" sz="1000" dirty="0"/>
          </a:p>
        </p:txBody>
      </p:sp>
      <p:sp>
        <p:nvSpPr>
          <p:cNvPr id="22" name="means-card-270"/>
          <p:cNvSpPr/>
          <p:nvPr/>
        </p:nvSpPr>
        <p:spPr>
          <a:xfrm>
            <a:off x="4617720" y="3154680"/>
            <a:ext cx="4114800" cy="1627632"/>
          </a:xfrm>
          <a:prstGeom prst="roundRect">
            <a:avLst>
              <a:gd name="adj" fmla="val 4494"/>
            </a:avLst>
          </a:prstGeom>
          <a:solidFill>
            <a:schemeClr val="bg2"/>
          </a:solidFill>
          <a:ln w="12700">
            <a:solidFill>
              <a:schemeClr val="bg2"/>
            </a:solidFill>
            <a:prstDash val="solid"/>
          </a:ln>
        </p:spPr>
      </p:sp>
      <p:sp>
        <p:nvSpPr>
          <p:cNvPr id="23" name="text-271"/>
          <p:cNvSpPr txBox="1"/>
          <p:nvPr/>
        </p:nvSpPr>
        <p:spPr>
          <a:xfrm>
            <a:off x="4754880" y="3227832"/>
            <a:ext cx="3840480" cy="256032"/>
          </a:xfrm>
          <a:prstGeom prst="rect">
            <a:avLst/>
          </a:prstGeom>
          <a:noFill/>
          <a:ln/>
        </p:spPr>
        <p:txBody>
          <a:bodyPr wrap="square" lIns="0" tIns="0" rIns="0" bIns="0" rtlCol="0" anchor="t"/>
          <a:lstStyle/>
          <a:p>
            <a:pPr indent="0" marL="0">
              <a:buNone/>
            </a:pPr>
            <a:r>
              <a:rPr lang="en-US" sz="1300" b="1" dirty="0">
                <a:solidFill>
                  <a:schemeClr val="accent3"/>
                </a:solidFill>
              </a:rPr>
              <a:t>What it means</a:t>
            </a:r>
            <a:endParaRPr lang="en-US" sz="1300" dirty="0"/>
          </a:p>
        </p:txBody>
      </p:sp>
      <p:sp>
        <p:nvSpPr>
          <p:cNvPr id="24" name="means-text-272"/>
          <p:cNvSpPr txBox="1"/>
          <p:nvPr/>
        </p:nvSpPr>
        <p:spPr>
          <a:xfrm>
            <a:off x="4727448" y="3502152"/>
            <a:ext cx="3895344" cy="1216152"/>
          </a:xfrm>
          <a:prstGeom prst="rect">
            <a:avLst/>
          </a:prstGeom>
          <a:noFill/>
          <a:ln/>
        </p:spPr>
        <p:txBody>
          <a:bodyPr wrap="square" lIns="254" tIns="254" rIns="254" bIns="254" rtlCol="0" anchor="t"/>
          <a:lstStyle/>
          <a:p>
            <a:pPr marL="152400" indent="-152400">
              <a:spcAft>
                <a:spcPts val="300"/>
              </a:spcAft>
              <a:buSzPct val="100000"/>
              <a:buChar char="•"/>
            </a:pPr>
            <a:r>
              <a:rPr lang="en-US" sz="1250" dirty="0">
                <a:solidFill>
                  <a:schemeClr val="tx1"/>
                </a:solidFill>
              </a:rPr>
              <a:t>Labels buy ~0.34 F1: supervised models rank 1-2 on both metrics</a:t>
            </a:r>
            <a:endParaRPr lang="en-US" sz="1250" dirty="0"/>
          </a:p>
          <a:p>
            <a:pPr marL="152400" indent="-152400">
              <a:spcAft>
                <a:spcPts val="300"/>
              </a:spcAft>
              <a:buSzPct val="100000"/>
              <a:buChar char="•"/>
            </a:pPr>
            <a:r>
              <a:rPr lang="en-US" sz="1250" dirty="0">
                <a:solidFill>
                  <a:schemeClr val="tx1"/>
                </a:solidFill>
              </a:rPr>
              <a:t>Label-free models swap places by metric: no clear winner</a:t>
            </a:r>
            <a:endParaRPr lang="en-US" sz="1250" dirty="0"/>
          </a:p>
          <a:p>
            <a:pPr marL="152400" indent="-152400">
              <a:spcAft>
                <a:spcPts val="300"/>
              </a:spcAft>
              <a:buSzPct val="100000"/>
              <a:buChar char="•"/>
            </a:pPr>
            <a:r>
              <a:rPr lang="en-US" sz="1250" dirty="0">
                <a:solidFill>
                  <a:schemeClr val="tx1"/>
                </a:solidFill>
              </a:rPr>
              <a:t>DeepLog+EOS is less stable (F1 std 0.078 vs 0.020)</a:t>
            </a:r>
            <a:endParaRPr lang="en-US" sz="1250" dirty="0"/>
          </a:p>
        </p:txBody>
      </p:sp>
      <p:sp>
        <p:nvSpPr>
          <p:cNvPr id="25" name="Slide Number Placeholder 0"/>
          <p:cNvSpPr>
            <a:spLocks noGrp="1"/>
          </p:cNvSpPr>
          <p:nvPr>
            <p:ph type="sldNum" sz="quarter" idx="4294967295"/>
          </p:nvPr>
        </p:nvSpPr>
        <p:spPr>
          <a:xfrm>
            <a:off x="8412480" y="4800600"/>
            <a:ext cx="41148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11480" y="256032"/>
            <a:ext cx="6903720" cy="502920"/>
          </a:xfrm>
          <a:prstGeom prst="rect">
            <a:avLst/>
          </a:prstGeom>
          <a:noFill/>
          <a:ln/>
        </p:spPr>
        <p:txBody>
          <a:bodyPr wrap="square" lIns="0" tIns="0" rIns="0" bIns="0" rtlCol="0" anchor="ctr"/>
          <a:lstStyle/>
          <a:p>
            <a:pPr algn="l" indent="0" marL="0">
              <a:buNone/>
            </a:pPr>
            <a:r>
              <a:rPr lang="en-US" sz="2400" dirty="0">
                <a:solidFill>
                  <a:schemeClr val="tx1"/>
                </a:solidFill>
                <a:latin typeface="Bookman Old Style" pitchFamily="34" charset="0"/>
                <a:ea typeface="Bookman Old Style" pitchFamily="34" charset="-122"/>
                <a:cs typeface="Bookman Old Style" pitchFamily="34" charset="-120"/>
              </a:rPr>
              <a:t>Can we trust F1 = 0.998?</a:t>
            </a:r>
            <a:endParaRPr lang="en-US" sz="2400" dirty="0"/>
          </a:p>
        </p:txBody>
      </p:sp>
      <p:sp>
        <p:nvSpPr>
          <p:cNvPr id="3" name="tracker-273"/>
          <p:cNvSpPr/>
          <p:nvPr/>
        </p:nvSpPr>
        <p:spPr>
          <a:xfrm>
            <a:off x="7269480" y="347472"/>
            <a:ext cx="310896" cy="310896"/>
          </a:xfrm>
          <a:prstGeom prst="ellipse">
            <a:avLst/>
          </a:prstGeom>
          <a:solidFill>
            <a:schemeClr val="bg2"/>
          </a:solidFill>
          <a:ln w="12700">
            <a:solidFill>
              <a:schemeClr val="bg2"/>
            </a:solidFill>
            <a:prstDash val="solid"/>
          </a:ln>
        </p:spPr>
      </p:sp>
      <p:pic>
        <p:nvPicPr>
          <p:cNvPr id="4" name="tracker-icon-274" descr="preencoded.png">    </p:cNvPr>
          <p:cNvPicPr>
            <a:picLocks noChangeAspect="1"/>
          </p:cNvPicPr>
          <p:nvPr/>
        </p:nvPicPr>
        <p:blipFill>
          <a:blip r:embed="rId1"/>
          <a:stretch>
            <a:fillRect/>
          </a:stretch>
        </p:blipFill>
        <p:spPr>
          <a:xfrm>
            <a:off x="7347204" y="425196"/>
            <a:ext cx="155448" cy="155448"/>
          </a:xfrm>
          <a:prstGeom prst="rect">
            <a:avLst/>
          </a:prstGeom>
        </p:spPr>
      </p:pic>
      <p:sp>
        <p:nvSpPr>
          <p:cNvPr id="5" name="tracker-275"/>
          <p:cNvSpPr/>
          <p:nvPr/>
        </p:nvSpPr>
        <p:spPr>
          <a:xfrm>
            <a:off x="7653528" y="347472"/>
            <a:ext cx="310896" cy="310896"/>
          </a:xfrm>
          <a:prstGeom prst="ellipse">
            <a:avLst/>
          </a:prstGeom>
          <a:solidFill>
            <a:schemeClr val="bg2"/>
          </a:solidFill>
          <a:ln w="12700">
            <a:solidFill>
              <a:schemeClr val="bg2"/>
            </a:solidFill>
            <a:prstDash val="solid"/>
          </a:ln>
        </p:spPr>
      </p:sp>
      <p:pic>
        <p:nvPicPr>
          <p:cNvPr id="6" name="tracker-icon-276" descr="preencoded.png">    </p:cNvPr>
          <p:cNvPicPr>
            <a:picLocks noChangeAspect="1"/>
          </p:cNvPicPr>
          <p:nvPr/>
        </p:nvPicPr>
        <p:blipFill>
          <a:blip r:embed="rId2"/>
          <a:stretch>
            <a:fillRect/>
          </a:stretch>
        </p:blipFill>
        <p:spPr>
          <a:xfrm>
            <a:off x="7731252" y="425196"/>
            <a:ext cx="155448" cy="155448"/>
          </a:xfrm>
          <a:prstGeom prst="rect">
            <a:avLst/>
          </a:prstGeom>
        </p:spPr>
      </p:pic>
      <p:sp>
        <p:nvSpPr>
          <p:cNvPr id="7" name="tracker-277"/>
          <p:cNvSpPr/>
          <p:nvPr/>
        </p:nvSpPr>
        <p:spPr>
          <a:xfrm>
            <a:off x="8037576" y="347472"/>
            <a:ext cx="310896" cy="310896"/>
          </a:xfrm>
          <a:prstGeom prst="ellipse">
            <a:avLst/>
          </a:prstGeom>
          <a:solidFill>
            <a:schemeClr val="bg2"/>
          </a:solidFill>
          <a:ln w="12700">
            <a:solidFill>
              <a:schemeClr val="bg2"/>
            </a:solidFill>
            <a:prstDash val="solid"/>
          </a:ln>
        </p:spPr>
      </p:sp>
      <p:pic>
        <p:nvPicPr>
          <p:cNvPr id="8" name="tracker-icon-278" descr="preencoded.png">    </p:cNvPr>
          <p:cNvPicPr>
            <a:picLocks noChangeAspect="1"/>
          </p:cNvPicPr>
          <p:nvPr/>
        </p:nvPicPr>
        <p:blipFill>
          <a:blip r:embed="rId3"/>
          <a:stretch>
            <a:fillRect/>
          </a:stretch>
        </p:blipFill>
        <p:spPr>
          <a:xfrm>
            <a:off x="8115300" y="425196"/>
            <a:ext cx="155448" cy="155448"/>
          </a:xfrm>
          <a:prstGeom prst="rect">
            <a:avLst/>
          </a:prstGeom>
        </p:spPr>
      </p:pic>
      <p:sp>
        <p:nvSpPr>
          <p:cNvPr id="9" name="tracker-279"/>
          <p:cNvSpPr/>
          <p:nvPr/>
        </p:nvSpPr>
        <p:spPr>
          <a:xfrm>
            <a:off x="8421624" y="347472"/>
            <a:ext cx="310896" cy="310896"/>
          </a:xfrm>
          <a:prstGeom prst="ellipse">
            <a:avLst/>
          </a:prstGeom>
          <a:solidFill>
            <a:schemeClr val="accent4"/>
          </a:solidFill>
          <a:ln w="12700">
            <a:solidFill>
              <a:schemeClr val="accent4"/>
            </a:solidFill>
            <a:prstDash val="solid"/>
          </a:ln>
        </p:spPr>
      </p:sp>
      <p:pic>
        <p:nvPicPr>
          <p:cNvPr id="10" name="tracker-icon-280" descr="preencoded.png">    </p:cNvPr>
          <p:cNvPicPr>
            <a:picLocks noChangeAspect="1"/>
          </p:cNvPicPr>
          <p:nvPr/>
        </p:nvPicPr>
        <p:blipFill>
          <a:blip r:embed="rId4"/>
          <a:stretch>
            <a:fillRect/>
          </a:stretch>
        </p:blipFill>
        <p:spPr>
          <a:xfrm>
            <a:off x="8499348" y="425196"/>
            <a:ext cx="155448" cy="155448"/>
          </a:xfrm>
          <a:prstGeom prst="rect">
            <a:avLst/>
          </a:prstGeom>
        </p:spPr>
      </p:pic>
      <p:pic>
        <p:nvPicPr>
          <p:cNvPr id="11" name="toy-icon-281" descr="preencoded.png">    </p:cNvPr>
          <p:cNvPicPr>
            <a:picLocks noChangeAspect="1"/>
          </p:cNvPicPr>
          <p:nvPr/>
        </p:nvPicPr>
        <p:blipFill>
          <a:blip r:embed="rId5"/>
          <a:stretch>
            <a:fillRect/>
          </a:stretch>
        </p:blipFill>
        <p:spPr>
          <a:xfrm>
            <a:off x="411480" y="950976"/>
            <a:ext cx="201168" cy="201168"/>
          </a:xfrm>
          <a:prstGeom prst="rect">
            <a:avLst/>
          </a:prstGeom>
        </p:spPr>
      </p:pic>
      <p:sp>
        <p:nvSpPr>
          <p:cNvPr id="12" name="text-282"/>
          <p:cNvSpPr txBox="1"/>
          <p:nvPr/>
        </p:nvSpPr>
        <p:spPr>
          <a:xfrm>
            <a:off x="685800" y="932688"/>
            <a:ext cx="3703320" cy="256032"/>
          </a:xfrm>
          <a:prstGeom prst="rect">
            <a:avLst/>
          </a:prstGeom>
          <a:noFill/>
          <a:ln/>
        </p:spPr>
        <p:txBody>
          <a:bodyPr wrap="square" lIns="0" tIns="0" rIns="0" bIns="0" rtlCol="0" anchor="t"/>
          <a:lstStyle/>
          <a:p>
            <a:pPr indent="0" marL="0">
              <a:buNone/>
            </a:pPr>
            <a:r>
              <a:rPr lang="en-US" sz="1200" b="1" spc="100" kern="0" dirty="0">
                <a:solidFill>
                  <a:schemeClr val="accent5"/>
                </a:solidFill>
              </a:rPr>
              <a:t>FIRST, ON MINIHDFS (INVENTED)</a:t>
            </a:r>
            <a:endParaRPr lang="en-US" sz="1200" dirty="0"/>
          </a:p>
        </p:txBody>
      </p:sp>
      <p:sp>
        <p:nvSpPr>
          <p:cNvPr id="13" name="code-283"/>
          <p:cNvSpPr txBox="1"/>
          <p:nvPr/>
        </p:nvSpPr>
        <p:spPr>
          <a:xfrm>
            <a:off x="411480" y="1280160"/>
            <a:ext cx="2514600" cy="566928"/>
          </a:xfrm>
          <a:prstGeom prst="roundRect">
            <a:avLst>
              <a:gd name="adj" fmla="val 8065"/>
            </a:avLst>
          </a:prstGeom>
          <a:solidFill>
            <a:schemeClr val="bg2"/>
          </a:solidFill>
          <a:ln>
            <a:solidFill>
              <a:schemeClr val="bg2"/>
            </a:solidFill>
          </a:ln>
        </p:spPr>
        <p:txBody>
          <a:bodyPr wrap="square" lIns="1016" tIns="1016" rIns="1016" bIns="1016" rtlCol="0" anchor="ctr"/>
          <a:lstStyle/>
          <a:p>
            <a:pPr indent="0" marL="0">
              <a:buNone/>
            </a:pPr>
            <a:r>
              <a:rPr lang="en-US" sz="1100" dirty="0">
                <a:solidFill>
                  <a:schemeClr val="tx1"/>
                </a:solidFill>
                <a:latin typeface="Courier New" pitchFamily="34" charset="0"/>
                <a:ea typeface="Courier New" pitchFamily="34" charset="-122"/>
                <a:cs typeface="Courier New" pitchFamily="34" charset="-120"/>
              </a:rPr>
              <a:t>test block:</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R R R A P D P D P D S S S</a:t>
            </a:r>
            <a:endParaRPr lang="en-US" sz="1100" dirty="0"/>
          </a:p>
        </p:txBody>
      </p:sp>
      <p:sp>
        <p:nvSpPr>
          <p:cNvPr id="14" name="arrow-284"/>
          <p:cNvSpPr/>
          <p:nvPr/>
        </p:nvSpPr>
        <p:spPr>
          <a:xfrm>
            <a:off x="2999232" y="1463040"/>
            <a:ext cx="292608" cy="201168"/>
          </a:xfrm>
          <a:prstGeom prst="rightArrow">
            <a:avLst/>
          </a:prstGeom>
          <a:solidFill>
            <a:schemeClr val="tx2"/>
          </a:solidFill>
          <a:ln w="12700">
            <a:solidFill>
              <a:schemeClr val="tx2"/>
            </a:solidFill>
            <a:prstDash val="solid"/>
          </a:ln>
        </p:spPr>
      </p:sp>
      <p:sp>
        <p:nvSpPr>
          <p:cNvPr id="15" name="pill-285"/>
          <p:cNvSpPr txBox="1"/>
          <p:nvPr/>
        </p:nvSpPr>
        <p:spPr>
          <a:xfrm>
            <a:off x="3364992" y="1399032"/>
            <a:ext cx="1188720" cy="329184"/>
          </a:xfrm>
          <a:prstGeom prst="roundRect">
            <a:avLst>
              <a:gd name="adj" fmla="val 50000"/>
            </a:avLst>
          </a:prstGeom>
          <a:solidFill>
            <a:schemeClr val="accent4"/>
          </a:solidFill>
          <a:ln>
            <a:solidFill>
              <a:schemeClr val="accent4"/>
            </a:solidFill>
          </a:ln>
        </p:spPr>
        <p:txBody>
          <a:bodyPr wrap="square" lIns="254" tIns="254" rIns="254" bIns="254" rtlCol="0" anchor="ctr"/>
          <a:lstStyle/>
          <a:p>
            <a:pPr algn="ctr" indent="0" marL="0">
              <a:buNone/>
            </a:pPr>
            <a:r>
              <a:rPr lang="en-US" sz="1200" b="1" dirty="0">
                <a:solidFill>
                  <a:schemeClr val="bg1"/>
                </a:solidFill>
              </a:rPr>
              <a:t>seen in train</a:t>
            </a:r>
            <a:endParaRPr lang="en-US" sz="1200" dirty="0"/>
          </a:p>
        </p:txBody>
      </p:sp>
      <p:sp>
        <p:nvSpPr>
          <p:cNvPr id="16" name="text-286"/>
          <p:cNvSpPr txBox="1"/>
          <p:nvPr/>
        </p:nvSpPr>
        <p:spPr>
          <a:xfrm>
            <a:off x="411480" y="2011680"/>
            <a:ext cx="3977640" cy="502920"/>
          </a:xfrm>
          <a:prstGeom prst="rect">
            <a:avLst/>
          </a:prstGeom>
          <a:noFill/>
          <a:ln/>
        </p:spPr>
        <p:txBody>
          <a:bodyPr wrap="square" lIns="0" tIns="0" rIns="0" bIns="0" rtlCol="0" anchor="t"/>
          <a:lstStyle/>
          <a:p>
            <a:pPr indent="0" marL="0">
              <a:buNone/>
            </a:pPr>
            <a:r>
              <a:rPr lang="en-US" sz="1300" i="1" dirty="0">
                <a:solidFill>
                  <a:schemeClr val="tx2"/>
                </a:solidFill>
              </a:rPr>
              <a:t>Like an exam with the homework questions: the model may just remember.</a:t>
            </a:r>
            <a:endParaRPr lang="en-US" sz="1300" dirty="0"/>
          </a:p>
        </p:txBody>
      </p:sp>
      <p:sp>
        <p:nvSpPr>
          <p:cNvPr id="17" name="text-287"/>
          <p:cNvSpPr txBox="1"/>
          <p:nvPr/>
        </p:nvSpPr>
        <p:spPr>
          <a:xfrm>
            <a:off x="4617720" y="914400"/>
            <a:ext cx="2011680" cy="502920"/>
          </a:xfrm>
          <a:prstGeom prst="rect">
            <a:avLst/>
          </a:prstGeom>
          <a:noFill/>
          <a:ln/>
        </p:spPr>
        <p:txBody>
          <a:bodyPr wrap="square" lIns="0" tIns="0" rIns="0" bIns="0" rtlCol="0" anchor="t"/>
          <a:lstStyle/>
          <a:p>
            <a:pPr indent="0" marL="0">
              <a:buNone/>
            </a:pPr>
            <a:r>
              <a:rPr lang="en-US" sz="3000" b="1" dirty="0">
                <a:solidFill>
                  <a:schemeClr val="accent4"/>
                </a:solidFill>
              </a:rPr>
              <a:t>18,375</a:t>
            </a:r>
            <a:endParaRPr lang="en-US" sz="3000" dirty="0"/>
          </a:p>
        </p:txBody>
      </p:sp>
      <p:sp>
        <p:nvSpPr>
          <p:cNvPr id="18" name="text-288"/>
          <p:cNvSpPr txBox="1"/>
          <p:nvPr/>
        </p:nvSpPr>
        <p:spPr>
          <a:xfrm>
            <a:off x="4617720" y="1417320"/>
            <a:ext cx="2011680" cy="457200"/>
          </a:xfrm>
          <a:prstGeom prst="rect">
            <a:avLst/>
          </a:prstGeom>
          <a:noFill/>
          <a:ln/>
        </p:spPr>
        <p:txBody>
          <a:bodyPr wrap="square" lIns="0" tIns="0" rIns="0" bIns="0" rtlCol="0" anchor="t"/>
          <a:lstStyle/>
          <a:p>
            <a:pPr indent="0" marL="0">
              <a:buNone/>
            </a:pPr>
            <a:r>
              <a:rPr lang="en-US" sz="1100" dirty="0">
                <a:solidFill>
                  <a:schemeClr val="tx2"/>
                </a:solidFill>
              </a:rPr>
              <a:t>distinct sequences for 575,061 blocks</a:t>
            </a:r>
            <a:endParaRPr lang="en-US" sz="1100" dirty="0"/>
          </a:p>
        </p:txBody>
      </p:sp>
      <p:sp>
        <p:nvSpPr>
          <p:cNvPr id="19" name="text-289"/>
          <p:cNvSpPr txBox="1"/>
          <p:nvPr/>
        </p:nvSpPr>
        <p:spPr>
          <a:xfrm>
            <a:off x="6720840" y="914400"/>
            <a:ext cx="2011680" cy="502920"/>
          </a:xfrm>
          <a:prstGeom prst="rect">
            <a:avLst/>
          </a:prstGeom>
          <a:noFill/>
          <a:ln/>
        </p:spPr>
        <p:txBody>
          <a:bodyPr wrap="square" lIns="0" tIns="0" rIns="0" bIns="0" rtlCol="0" anchor="t"/>
          <a:lstStyle/>
          <a:p>
            <a:pPr indent="0" marL="0">
              <a:buNone/>
            </a:pPr>
            <a:r>
              <a:rPr lang="en-US" sz="3000" b="1" dirty="0">
                <a:solidFill>
                  <a:schemeClr val="accent4"/>
                </a:solidFill>
              </a:rPr>
              <a:t>97.8%</a:t>
            </a:r>
            <a:endParaRPr lang="en-US" sz="3000" dirty="0"/>
          </a:p>
        </p:txBody>
      </p:sp>
      <p:sp>
        <p:nvSpPr>
          <p:cNvPr id="20" name="text-290"/>
          <p:cNvSpPr txBox="1"/>
          <p:nvPr/>
        </p:nvSpPr>
        <p:spPr>
          <a:xfrm>
            <a:off x="6720840" y="1417320"/>
            <a:ext cx="2011680" cy="457200"/>
          </a:xfrm>
          <a:prstGeom prst="rect">
            <a:avLst/>
          </a:prstGeom>
          <a:noFill/>
          <a:ln/>
        </p:spPr>
        <p:txBody>
          <a:bodyPr wrap="square" lIns="0" tIns="0" rIns="0" bIns="0" rtlCol="0" anchor="t"/>
          <a:lstStyle/>
          <a:p>
            <a:pPr indent="0" marL="0">
              <a:buNone/>
            </a:pPr>
            <a:r>
              <a:rPr lang="en-US" sz="1100" dirty="0">
                <a:solidFill>
                  <a:schemeClr val="tx2"/>
                </a:solidFill>
              </a:rPr>
              <a:t>of test blocks repeat a training sequence</a:t>
            </a:r>
            <a:endParaRPr lang="en-US" sz="1100" dirty="0"/>
          </a:p>
        </p:txBody>
      </p:sp>
      <p:sp>
        <p:nvSpPr>
          <p:cNvPr id="21" name="text-291"/>
          <p:cNvSpPr txBox="1"/>
          <p:nvPr/>
        </p:nvSpPr>
        <p:spPr>
          <a:xfrm>
            <a:off x="4617720" y="1965960"/>
            <a:ext cx="2011680" cy="502920"/>
          </a:xfrm>
          <a:prstGeom prst="rect">
            <a:avLst/>
          </a:prstGeom>
          <a:noFill/>
          <a:ln/>
        </p:spPr>
        <p:txBody>
          <a:bodyPr wrap="square" lIns="0" tIns="0" rIns="0" bIns="0" rtlCol="0" anchor="t"/>
          <a:lstStyle/>
          <a:p>
            <a:pPr indent="0" marL="0">
              <a:buNone/>
            </a:pPr>
            <a:r>
              <a:rPr lang="en-US" sz="3000" b="1" dirty="0">
                <a:solidFill>
                  <a:schemeClr val="accent2"/>
                </a:solidFill>
              </a:rPr>
              <a:t>0.989</a:t>
            </a:r>
            <a:endParaRPr lang="en-US" sz="3000" dirty="0"/>
          </a:p>
        </p:txBody>
      </p:sp>
      <p:sp>
        <p:nvSpPr>
          <p:cNvPr id="22" name="text-292"/>
          <p:cNvSpPr txBox="1"/>
          <p:nvPr/>
        </p:nvSpPr>
        <p:spPr>
          <a:xfrm>
            <a:off x="4617720" y="2468880"/>
            <a:ext cx="2011680" cy="457200"/>
          </a:xfrm>
          <a:prstGeom prst="rect">
            <a:avLst/>
          </a:prstGeom>
          <a:noFill/>
          <a:ln/>
        </p:spPr>
        <p:txBody>
          <a:bodyPr wrap="square" lIns="0" tIns="0" rIns="0" bIns="0" rtlCol="0" anchor="t"/>
          <a:lstStyle/>
          <a:p>
            <a:pPr indent="0" marL="0">
              <a:buNone/>
            </a:pPr>
            <a:r>
              <a:rPr lang="en-US" sz="1100" dirty="0">
                <a:solidFill>
                  <a:schemeClr val="tx2"/>
                </a:solidFill>
              </a:rPr>
              <a:t>RF F1 on the 3,789 test blocks with a NEW sequence</a:t>
            </a:r>
            <a:endParaRPr lang="en-US" sz="1100" dirty="0"/>
          </a:p>
        </p:txBody>
      </p:sp>
      <p:sp>
        <p:nvSpPr>
          <p:cNvPr id="23" name="text-293"/>
          <p:cNvSpPr txBox="1"/>
          <p:nvPr/>
        </p:nvSpPr>
        <p:spPr>
          <a:xfrm>
            <a:off x="6720840" y="1965960"/>
            <a:ext cx="2011680" cy="502920"/>
          </a:xfrm>
          <a:prstGeom prst="rect">
            <a:avLst/>
          </a:prstGeom>
          <a:noFill/>
          <a:ln/>
        </p:spPr>
        <p:txBody>
          <a:bodyPr wrap="square" lIns="0" tIns="0" rIns="0" bIns="0" rtlCol="0" anchor="t"/>
          <a:lstStyle/>
          <a:p>
            <a:pPr indent="0" marL="0">
              <a:buNone/>
            </a:pPr>
            <a:r>
              <a:rPr lang="en-US" sz="3000" b="1" dirty="0">
                <a:solidFill>
                  <a:schemeClr val="accent3"/>
                </a:solidFill>
              </a:rPr>
              <a:t>0.41</a:t>
            </a:r>
            <a:endParaRPr lang="en-US" sz="3000" dirty="0"/>
          </a:p>
        </p:txBody>
      </p:sp>
      <p:sp>
        <p:nvSpPr>
          <p:cNvPr id="24" name="text-294"/>
          <p:cNvSpPr txBox="1"/>
          <p:nvPr/>
        </p:nvSpPr>
        <p:spPr>
          <a:xfrm>
            <a:off x="6720840" y="2468880"/>
            <a:ext cx="2011680" cy="457200"/>
          </a:xfrm>
          <a:prstGeom prst="rect">
            <a:avLst/>
          </a:prstGeom>
          <a:noFill/>
          <a:ln/>
        </p:spPr>
        <p:txBody>
          <a:bodyPr wrap="square" lIns="0" tIns="0" rIns="0" bIns="0" rtlCol="0" anchor="t"/>
          <a:lstStyle/>
          <a:p>
            <a:pPr indent="0" marL="0">
              <a:buNone/>
            </a:pPr>
            <a:r>
              <a:rPr lang="en-US" sz="1100" dirty="0">
                <a:solidFill>
                  <a:schemeClr val="tx2"/>
                </a:solidFill>
              </a:rPr>
              <a:t>Isolation Forest F1 with a label-free threshold (vs 0.654)</a:t>
            </a:r>
            <a:endParaRPr lang="en-US" sz="1100" dirty="0"/>
          </a:p>
        </p:txBody>
      </p:sp>
      <p:sp>
        <p:nvSpPr>
          <p:cNvPr id="25" name="code-295"/>
          <p:cNvSpPr txBox="1"/>
          <p:nvPr/>
        </p:nvSpPr>
        <p:spPr>
          <a:xfrm>
            <a:off x="411480" y="2743200"/>
            <a:ext cx="2514600" cy="566928"/>
          </a:xfrm>
          <a:prstGeom prst="roundRect">
            <a:avLst>
              <a:gd name="adj" fmla="val 8065"/>
            </a:avLst>
          </a:prstGeom>
          <a:solidFill>
            <a:schemeClr val="bg2"/>
          </a:solidFill>
          <a:ln>
            <a:solidFill>
              <a:schemeClr val="bg2"/>
            </a:solidFill>
          </a:ln>
        </p:spPr>
        <p:txBody>
          <a:bodyPr wrap="square" lIns="1016" tIns="1016" rIns="1016" bIns="1016" rtlCol="0" anchor="ctr"/>
          <a:lstStyle/>
          <a:p>
            <a:pPr indent="0" marL="0">
              <a:buNone/>
            </a:pPr>
            <a:r>
              <a:rPr lang="en-US" sz="1100" dirty="0">
                <a:solidFill>
                  <a:schemeClr val="tx1"/>
                </a:solidFill>
                <a:latin typeface="Courier New" pitchFamily="34" charset="0"/>
                <a:ea typeface="Courier New" pitchFamily="34" charset="-122"/>
                <a:cs typeface="Courier New" pitchFamily="34" charset="-120"/>
              </a:rPr>
              <a:t>same block, label-free</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threshold (‘auto’)</a:t>
            </a:r>
            <a:endParaRPr lang="en-US" sz="1100" dirty="0"/>
          </a:p>
        </p:txBody>
      </p:sp>
      <p:sp>
        <p:nvSpPr>
          <p:cNvPr id="26" name="arrow-296"/>
          <p:cNvSpPr/>
          <p:nvPr/>
        </p:nvSpPr>
        <p:spPr>
          <a:xfrm>
            <a:off x="2999232" y="2926080"/>
            <a:ext cx="292608" cy="201168"/>
          </a:xfrm>
          <a:prstGeom prst="rightArrow">
            <a:avLst/>
          </a:prstGeom>
          <a:solidFill>
            <a:schemeClr val="tx2"/>
          </a:solidFill>
          <a:ln w="12700">
            <a:solidFill>
              <a:schemeClr val="tx2"/>
            </a:solidFill>
            <a:prstDash val="solid"/>
          </a:ln>
        </p:spPr>
      </p:sp>
      <p:sp>
        <p:nvSpPr>
          <p:cNvPr id="27" name="pill-297"/>
          <p:cNvSpPr txBox="1"/>
          <p:nvPr/>
        </p:nvSpPr>
        <p:spPr>
          <a:xfrm>
            <a:off x="3364992" y="2862072"/>
            <a:ext cx="1188720" cy="329184"/>
          </a:xfrm>
          <a:prstGeom prst="roundRect">
            <a:avLst>
              <a:gd name="adj" fmla="val 50000"/>
            </a:avLst>
          </a:prstGeom>
          <a:solidFill>
            <a:schemeClr val="accent3"/>
          </a:solidFill>
          <a:ln>
            <a:solidFill>
              <a:schemeClr val="accent3"/>
            </a:solidFill>
          </a:ln>
        </p:spPr>
        <p:txBody>
          <a:bodyPr wrap="square" lIns="254" tIns="254" rIns="254" bIns="254" rtlCol="0" anchor="ctr"/>
          <a:lstStyle/>
          <a:p>
            <a:pPr algn="ctr" indent="0" marL="0">
              <a:buNone/>
            </a:pPr>
            <a:r>
              <a:rPr lang="en-US" sz="1200" b="1" dirty="0">
                <a:solidFill>
                  <a:schemeClr val="bg1"/>
                </a:solidFill>
              </a:rPr>
              <a:t>F1 0.65→0.41</a:t>
            </a:r>
            <a:endParaRPr lang="en-US" sz="1200" dirty="0"/>
          </a:p>
        </p:txBody>
      </p:sp>
      <p:sp>
        <p:nvSpPr>
          <p:cNvPr id="28" name="means-card-298"/>
          <p:cNvSpPr/>
          <p:nvPr/>
        </p:nvSpPr>
        <p:spPr>
          <a:xfrm>
            <a:off x="4617720" y="3154680"/>
            <a:ext cx="4114800" cy="1627632"/>
          </a:xfrm>
          <a:prstGeom prst="roundRect">
            <a:avLst>
              <a:gd name="adj" fmla="val 4494"/>
            </a:avLst>
          </a:prstGeom>
          <a:solidFill>
            <a:schemeClr val="bg2"/>
          </a:solidFill>
          <a:ln w="12700">
            <a:solidFill>
              <a:schemeClr val="bg2"/>
            </a:solidFill>
            <a:prstDash val="solid"/>
          </a:ln>
        </p:spPr>
      </p:sp>
      <p:sp>
        <p:nvSpPr>
          <p:cNvPr id="29" name="text-299"/>
          <p:cNvSpPr txBox="1"/>
          <p:nvPr/>
        </p:nvSpPr>
        <p:spPr>
          <a:xfrm>
            <a:off x="4754880" y="3227832"/>
            <a:ext cx="3840480" cy="256032"/>
          </a:xfrm>
          <a:prstGeom prst="rect">
            <a:avLst/>
          </a:prstGeom>
          <a:noFill/>
          <a:ln/>
        </p:spPr>
        <p:txBody>
          <a:bodyPr wrap="square" lIns="0" tIns="0" rIns="0" bIns="0" rtlCol="0" anchor="t"/>
          <a:lstStyle/>
          <a:p>
            <a:pPr indent="0" marL="0">
              <a:buNone/>
            </a:pPr>
            <a:r>
              <a:rPr lang="en-US" sz="1300" b="1" dirty="0">
                <a:solidFill>
                  <a:schemeClr val="accent4"/>
                </a:solidFill>
              </a:rPr>
              <a:t>What it means</a:t>
            </a:r>
            <a:endParaRPr lang="en-US" sz="1300" dirty="0"/>
          </a:p>
        </p:txBody>
      </p:sp>
      <p:sp>
        <p:nvSpPr>
          <p:cNvPr id="30" name="means-text-300"/>
          <p:cNvSpPr txBox="1"/>
          <p:nvPr/>
        </p:nvSpPr>
        <p:spPr>
          <a:xfrm>
            <a:off x="4727448" y="3502152"/>
            <a:ext cx="3895344" cy="1216152"/>
          </a:xfrm>
          <a:prstGeom prst="rect">
            <a:avLst/>
          </a:prstGeom>
          <a:noFill/>
          <a:ln/>
        </p:spPr>
        <p:txBody>
          <a:bodyPr wrap="square" lIns="254" tIns="254" rIns="254" bIns="254" rtlCol="0" anchor="t"/>
          <a:lstStyle/>
          <a:p>
            <a:pPr marL="152400" indent="-152400">
              <a:spcAft>
                <a:spcPts val="300"/>
              </a:spcAft>
              <a:buSzPct val="100000"/>
              <a:buChar char="•"/>
            </a:pPr>
            <a:r>
              <a:rPr lang="en-US" sz="1250" dirty="0">
                <a:solidFill>
                  <a:schemeClr val="tx1"/>
                </a:solidFill>
              </a:rPr>
              <a:t>Duplicates inflate supervised scores a little, but cannot explain the 0.34 gap (new sequences: 0.989)</a:t>
            </a:r>
            <a:endParaRPr lang="en-US" sz="1250" dirty="0"/>
          </a:p>
          <a:p>
            <a:pPr marL="152400" indent="-152400">
              <a:spcAft>
                <a:spcPts val="300"/>
              </a:spcAft>
              <a:buSzPct val="100000"/>
              <a:buChar char="•"/>
            </a:pPr>
            <a:r>
              <a:rPr lang="en-US" sz="1250" dirty="0">
                <a:solidFill>
                  <a:schemeClr val="tx1"/>
                </a:solidFill>
              </a:rPr>
              <a:t>Isolation Forest's F1 relies on contamination 0.03 ≈ the true 2.9% anomaly rate; AUC (0.96) does not</a:t>
            </a:r>
            <a:endParaRPr lang="en-US" sz="1250" dirty="0"/>
          </a:p>
        </p:txBody>
      </p:sp>
      <p:sp>
        <p:nvSpPr>
          <p:cNvPr id="25" name="Slide Number Placeholder 0"/>
          <p:cNvSpPr>
            <a:spLocks noGrp="1"/>
          </p:cNvSpPr>
          <p:nvPr>
            <p:ph type="sldNum" sz="quarter" idx="4294967295"/>
          </p:nvPr>
        </p:nvSpPr>
        <p:spPr>
          <a:xfrm>
            <a:off x="8412480" y="4800600"/>
            <a:ext cx="41148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11480" y="256032"/>
            <a:ext cx="6903720" cy="502920"/>
          </a:xfrm>
          <a:prstGeom prst="rect">
            <a:avLst/>
          </a:prstGeom>
          <a:noFill/>
          <a:ln/>
        </p:spPr>
        <p:txBody>
          <a:bodyPr wrap="square" lIns="0" tIns="0" rIns="0" bIns="0" rtlCol="0" anchor="ctr"/>
          <a:lstStyle/>
          <a:p>
            <a:pPr algn="l" indent="0" marL="0">
              <a:buNone/>
            </a:pPr>
            <a:r>
              <a:rPr lang="en-US" sz="2400" dirty="0">
                <a:solidFill>
                  <a:schemeClr val="tx1"/>
                </a:solidFill>
                <a:latin typeface="Bookman Old Style" pitchFamily="34" charset="0"/>
                <a:ea typeface="Bookman Old Style" pitchFamily="34" charset="-122"/>
                <a:cs typeface="Bookman Old Style" pitchFamily="34" charset="-120"/>
              </a:rPr>
              <a:t>Ext. 3 · Why does the forest flag block #2?</a:t>
            </a:r>
            <a:endParaRPr lang="en-US" sz="2400" dirty="0"/>
          </a:p>
        </p:txBody>
      </p:sp>
      <p:sp>
        <p:nvSpPr>
          <p:cNvPr id="3" name="tracker-301"/>
          <p:cNvSpPr/>
          <p:nvPr/>
        </p:nvSpPr>
        <p:spPr>
          <a:xfrm>
            <a:off x="7269480" y="347472"/>
            <a:ext cx="310896" cy="310896"/>
          </a:xfrm>
          <a:prstGeom prst="ellipse">
            <a:avLst/>
          </a:prstGeom>
          <a:solidFill>
            <a:schemeClr val="bg2"/>
          </a:solidFill>
          <a:ln w="12700">
            <a:solidFill>
              <a:schemeClr val="bg2"/>
            </a:solidFill>
            <a:prstDash val="solid"/>
          </a:ln>
        </p:spPr>
      </p:sp>
      <p:pic>
        <p:nvPicPr>
          <p:cNvPr id="4" name="tracker-icon-302" descr="preencoded.png">    </p:cNvPr>
          <p:cNvPicPr>
            <a:picLocks noChangeAspect="1"/>
          </p:cNvPicPr>
          <p:nvPr/>
        </p:nvPicPr>
        <p:blipFill>
          <a:blip r:embed="rId1"/>
          <a:stretch>
            <a:fillRect/>
          </a:stretch>
        </p:blipFill>
        <p:spPr>
          <a:xfrm>
            <a:off x="7347204" y="425196"/>
            <a:ext cx="155448" cy="155448"/>
          </a:xfrm>
          <a:prstGeom prst="rect">
            <a:avLst/>
          </a:prstGeom>
        </p:spPr>
      </p:pic>
      <p:sp>
        <p:nvSpPr>
          <p:cNvPr id="5" name="tracker-303"/>
          <p:cNvSpPr/>
          <p:nvPr/>
        </p:nvSpPr>
        <p:spPr>
          <a:xfrm>
            <a:off x="7653528" y="347472"/>
            <a:ext cx="310896" cy="310896"/>
          </a:xfrm>
          <a:prstGeom prst="ellipse">
            <a:avLst/>
          </a:prstGeom>
          <a:solidFill>
            <a:schemeClr val="bg2"/>
          </a:solidFill>
          <a:ln w="12700">
            <a:solidFill>
              <a:schemeClr val="bg2"/>
            </a:solidFill>
            <a:prstDash val="solid"/>
          </a:ln>
        </p:spPr>
      </p:sp>
      <p:pic>
        <p:nvPicPr>
          <p:cNvPr id="6" name="tracker-icon-304" descr="preencoded.png">    </p:cNvPr>
          <p:cNvPicPr>
            <a:picLocks noChangeAspect="1"/>
          </p:cNvPicPr>
          <p:nvPr/>
        </p:nvPicPr>
        <p:blipFill>
          <a:blip r:embed="rId2"/>
          <a:stretch>
            <a:fillRect/>
          </a:stretch>
        </p:blipFill>
        <p:spPr>
          <a:xfrm>
            <a:off x="7731252" y="425196"/>
            <a:ext cx="155448" cy="155448"/>
          </a:xfrm>
          <a:prstGeom prst="rect">
            <a:avLst/>
          </a:prstGeom>
        </p:spPr>
      </p:pic>
      <p:sp>
        <p:nvSpPr>
          <p:cNvPr id="7" name="tracker-305"/>
          <p:cNvSpPr/>
          <p:nvPr/>
        </p:nvSpPr>
        <p:spPr>
          <a:xfrm>
            <a:off x="8037576" y="347472"/>
            <a:ext cx="310896" cy="310896"/>
          </a:xfrm>
          <a:prstGeom prst="ellipse">
            <a:avLst/>
          </a:prstGeom>
          <a:solidFill>
            <a:schemeClr val="bg2"/>
          </a:solidFill>
          <a:ln w="12700">
            <a:solidFill>
              <a:schemeClr val="bg2"/>
            </a:solidFill>
            <a:prstDash val="solid"/>
          </a:ln>
        </p:spPr>
      </p:sp>
      <p:pic>
        <p:nvPicPr>
          <p:cNvPr id="8" name="tracker-icon-306" descr="preencoded.png">    </p:cNvPr>
          <p:cNvPicPr>
            <a:picLocks noChangeAspect="1"/>
          </p:cNvPicPr>
          <p:nvPr/>
        </p:nvPicPr>
        <p:blipFill>
          <a:blip r:embed="rId3"/>
          <a:stretch>
            <a:fillRect/>
          </a:stretch>
        </p:blipFill>
        <p:spPr>
          <a:xfrm>
            <a:off x="8115300" y="425196"/>
            <a:ext cx="155448" cy="155448"/>
          </a:xfrm>
          <a:prstGeom prst="rect">
            <a:avLst/>
          </a:prstGeom>
        </p:spPr>
      </p:pic>
      <p:sp>
        <p:nvSpPr>
          <p:cNvPr id="9" name="tracker-307"/>
          <p:cNvSpPr/>
          <p:nvPr/>
        </p:nvSpPr>
        <p:spPr>
          <a:xfrm>
            <a:off x="8421624" y="347472"/>
            <a:ext cx="310896" cy="310896"/>
          </a:xfrm>
          <a:prstGeom prst="ellipse">
            <a:avLst/>
          </a:prstGeom>
          <a:solidFill>
            <a:schemeClr val="accent4"/>
          </a:solidFill>
          <a:ln w="12700">
            <a:solidFill>
              <a:schemeClr val="accent4"/>
            </a:solidFill>
            <a:prstDash val="solid"/>
          </a:ln>
        </p:spPr>
      </p:sp>
      <p:pic>
        <p:nvPicPr>
          <p:cNvPr id="10" name="tracker-icon-308" descr="preencoded.png">    </p:cNvPr>
          <p:cNvPicPr>
            <a:picLocks noChangeAspect="1"/>
          </p:cNvPicPr>
          <p:nvPr/>
        </p:nvPicPr>
        <p:blipFill>
          <a:blip r:embed="rId4"/>
          <a:stretch>
            <a:fillRect/>
          </a:stretch>
        </p:blipFill>
        <p:spPr>
          <a:xfrm>
            <a:off x="8499348" y="425196"/>
            <a:ext cx="155448" cy="155448"/>
          </a:xfrm>
          <a:prstGeom prst="rect">
            <a:avLst/>
          </a:prstGeom>
        </p:spPr>
      </p:pic>
      <p:pic>
        <p:nvPicPr>
          <p:cNvPr id="11" name="toy-icon-309" descr="preencoded.png">    </p:cNvPr>
          <p:cNvPicPr>
            <a:picLocks noChangeAspect="1"/>
          </p:cNvPicPr>
          <p:nvPr/>
        </p:nvPicPr>
        <p:blipFill>
          <a:blip r:embed="rId5"/>
          <a:stretch>
            <a:fillRect/>
          </a:stretch>
        </p:blipFill>
        <p:spPr>
          <a:xfrm>
            <a:off x="411480" y="950976"/>
            <a:ext cx="201168" cy="201168"/>
          </a:xfrm>
          <a:prstGeom prst="rect">
            <a:avLst/>
          </a:prstGeom>
        </p:spPr>
      </p:pic>
      <p:sp>
        <p:nvSpPr>
          <p:cNvPr id="12" name="text-310"/>
          <p:cNvSpPr txBox="1"/>
          <p:nvPr/>
        </p:nvSpPr>
        <p:spPr>
          <a:xfrm>
            <a:off x="685800" y="932688"/>
            <a:ext cx="3703320" cy="256032"/>
          </a:xfrm>
          <a:prstGeom prst="rect">
            <a:avLst/>
          </a:prstGeom>
          <a:noFill/>
          <a:ln/>
        </p:spPr>
        <p:txBody>
          <a:bodyPr wrap="square" lIns="0" tIns="0" rIns="0" bIns="0" rtlCol="0" anchor="t"/>
          <a:lstStyle/>
          <a:p>
            <a:pPr indent="0" marL="0">
              <a:buNone/>
            </a:pPr>
            <a:r>
              <a:rPr lang="en-US" sz="1200" b="1" spc="100" kern="0" dirty="0">
                <a:solidFill>
                  <a:schemeClr val="accent5"/>
                </a:solidFill>
              </a:rPr>
              <a:t>SHAP ON ONE REAL BLOCK LIKE #2</a:t>
            </a:r>
            <a:endParaRPr lang="en-US" sz="1200" dirty="0"/>
          </a:p>
        </p:txBody>
      </p:sp>
      <p:sp>
        <p:nvSpPr>
          <p:cNvPr id="13" name="code-311"/>
          <p:cNvSpPr txBox="1"/>
          <p:nvPr/>
        </p:nvSpPr>
        <p:spPr>
          <a:xfrm>
            <a:off x="411480" y="1280160"/>
            <a:ext cx="2514600" cy="1188720"/>
          </a:xfrm>
          <a:prstGeom prst="roundRect">
            <a:avLst>
              <a:gd name="adj" fmla="val 3846"/>
            </a:avLst>
          </a:prstGeom>
          <a:solidFill>
            <a:schemeClr val="bg2"/>
          </a:solidFill>
          <a:ln>
            <a:solidFill>
              <a:schemeClr val="bg2"/>
            </a:solidFill>
          </a:ln>
        </p:spPr>
        <p:txBody>
          <a:bodyPr wrap="square" lIns="1016" tIns="1016" rIns="1016" bIns="1016" rtlCol="0" anchor="ctr"/>
          <a:lstStyle/>
          <a:p>
            <a:pPr indent="0" marL="0">
              <a:spcAft>
                <a:spcPts val="200"/>
              </a:spcAft>
              <a:buNone/>
            </a:pPr>
            <a:r>
              <a:rPr lang="en-US" sz="1200" dirty="0">
                <a:solidFill>
                  <a:schemeClr val="tx2"/>
                </a:solidFill>
                <a:latin typeface="Courier New" pitchFamily="34" charset="0"/>
                <a:ea typeface="Courier New" pitchFamily="34" charset="-122"/>
                <a:cs typeface="Courier New" pitchFamily="34" charset="-120"/>
              </a:rPr>
              <a:t>start: 0.03 (base rate)</a:t>
            </a:r>
            <a:endParaRPr lang="en-US" sz="1200" dirty="0"/>
          </a:p>
          <a:p>
            <a:pPr indent="0" marL="0">
              <a:spcAft>
                <a:spcPts val="200"/>
              </a:spcAft>
              <a:buNone/>
            </a:pPr>
            <a:r>
              <a:rPr lang="en-US" sz="1200" b="1" dirty="0">
                <a:solidFill>
                  <a:schemeClr val="accent6"/>
                </a:solidFill>
                <a:latin typeface="Courier New" pitchFamily="34" charset="0"/>
                <a:ea typeface="Courier New" pitchFamily="34" charset="-122"/>
                <a:cs typeface="Courier New" pitchFamily="34" charset="-120"/>
              </a:rPr>
              <a:t>P count = 0      +0.90</a:t>
            </a:r>
            <a:endParaRPr lang="en-US" sz="1200" dirty="0"/>
          </a:p>
          <a:p>
            <a:pPr indent="0" marL="0">
              <a:spcAft>
                <a:spcPts val="200"/>
              </a:spcAft>
              <a:buNone/>
            </a:pPr>
            <a:r>
              <a:rPr lang="en-US" sz="1200" dirty="0">
                <a:solidFill>
                  <a:schemeClr val="tx1"/>
                </a:solidFill>
                <a:latin typeface="Courier New" pitchFamily="34" charset="0"/>
                <a:ea typeface="Courier New" pitchFamily="34" charset="-122"/>
                <a:cs typeface="Courier New" pitchFamily="34" charset="-120"/>
              </a:rPr>
              <a:t>delete count     +0.07</a:t>
            </a:r>
            <a:endParaRPr lang="en-US" sz="1200" dirty="0"/>
          </a:p>
          <a:p>
            <a:pPr indent="0" marL="0">
              <a:spcAft>
                <a:spcPts val="200"/>
              </a:spcAft>
              <a:buNone/>
            </a:pPr>
            <a:r>
              <a:rPr lang="en-US" sz="1200" b="1" dirty="0">
                <a:solidFill>
                  <a:schemeClr val="accent5"/>
                </a:solidFill>
                <a:latin typeface="Courier New" pitchFamily="34" charset="0"/>
                <a:ea typeface="Courier New" pitchFamily="34" charset="-122"/>
                <a:cs typeface="Courier New" pitchFamily="34" charset="-120"/>
              </a:rPr>
              <a:t>final score:     1.00</a:t>
            </a:r>
            <a:endParaRPr lang="en-US" sz="1200" dirty="0"/>
          </a:p>
        </p:txBody>
      </p:sp>
      <p:sp>
        <p:nvSpPr>
          <p:cNvPr id="14" name="arrow-312"/>
          <p:cNvSpPr/>
          <p:nvPr/>
        </p:nvSpPr>
        <p:spPr>
          <a:xfrm>
            <a:off x="2999232" y="1773936"/>
            <a:ext cx="292608" cy="201168"/>
          </a:xfrm>
          <a:prstGeom prst="rightArrow">
            <a:avLst/>
          </a:prstGeom>
          <a:solidFill>
            <a:schemeClr val="tx2"/>
          </a:solidFill>
          <a:ln w="12700">
            <a:solidFill>
              <a:schemeClr val="tx2"/>
            </a:solidFill>
            <a:prstDash val="solid"/>
          </a:ln>
        </p:spPr>
      </p:sp>
      <p:sp>
        <p:nvSpPr>
          <p:cNvPr id="15" name="pill-313"/>
          <p:cNvSpPr txBox="1"/>
          <p:nvPr/>
        </p:nvSpPr>
        <p:spPr>
          <a:xfrm>
            <a:off x="3364992" y="1709928"/>
            <a:ext cx="1005840" cy="329184"/>
          </a:xfrm>
          <a:prstGeom prst="roundRect">
            <a:avLst>
              <a:gd name="adj" fmla="val 50000"/>
            </a:avLst>
          </a:prstGeom>
          <a:solidFill>
            <a:schemeClr val="accent6"/>
          </a:solidFill>
          <a:ln>
            <a:solidFill>
              <a:schemeClr val="accent6"/>
            </a:solidFill>
          </a:ln>
        </p:spPr>
        <p:txBody>
          <a:bodyPr wrap="square" lIns="254" tIns="254" rIns="254" bIns="254" rtlCol="0" anchor="ctr"/>
          <a:lstStyle/>
          <a:p>
            <a:pPr algn="ctr" indent="0" marL="0">
              <a:buNone/>
            </a:pPr>
            <a:r>
              <a:rPr lang="en-US" sz="1200" b="1" dirty="0">
                <a:solidFill>
                  <a:schemeClr val="bg1"/>
                </a:solidFill>
              </a:rPr>
              <a:t>anomaly</a:t>
            </a:r>
            <a:endParaRPr lang="en-US" sz="1200" dirty="0"/>
          </a:p>
        </p:txBody>
      </p:sp>
      <p:sp>
        <p:nvSpPr>
          <p:cNvPr id="16" name="text-314"/>
          <p:cNvSpPr txBox="1"/>
          <p:nvPr/>
        </p:nvSpPr>
        <p:spPr>
          <a:xfrm>
            <a:off x="411480" y="2514600"/>
            <a:ext cx="3977640" cy="219456"/>
          </a:xfrm>
          <a:prstGeom prst="rect">
            <a:avLst/>
          </a:prstGeom>
          <a:noFill/>
          <a:ln/>
        </p:spPr>
        <p:txBody>
          <a:bodyPr wrap="square" lIns="0" tIns="0" rIns="0" bIns="0" rtlCol="0" anchor="t"/>
          <a:lstStyle/>
          <a:p>
            <a:pPr indent="0" marL="0">
              <a:buNone/>
            </a:pPr>
            <a:r>
              <a:rPr lang="en-US" sz="1000" i="1" dirty="0">
                <a:solidFill>
                  <a:schemeClr val="tx2"/>
                </a:solidFill>
              </a:rPr>
              <a:t>Numbers from the real waterfall plot, seed 0 (shap_waterfall_vif_seed0.png).</a:t>
            </a:r>
            <a:endParaRPr lang="en-US" sz="1000" dirty="0"/>
          </a:p>
        </p:txBody>
      </p:sp>
      <p:sp>
        <p:nvSpPr>
          <p:cNvPr id="17" name="text-315"/>
          <p:cNvSpPr txBox="1"/>
          <p:nvPr/>
        </p:nvSpPr>
        <p:spPr>
          <a:xfrm>
            <a:off x="411480" y="2880360"/>
            <a:ext cx="3977640" cy="274320"/>
          </a:xfrm>
          <a:prstGeom prst="rect">
            <a:avLst/>
          </a:prstGeom>
          <a:noFill/>
          <a:ln/>
        </p:spPr>
        <p:txBody>
          <a:bodyPr wrap="square" lIns="0" tIns="0" rIns="0" bIns="0" rtlCol="0" anchor="t"/>
          <a:lstStyle/>
          <a:p>
            <a:pPr indent="0" marL="0">
              <a:buNone/>
            </a:pPr>
            <a:r>
              <a:rPr lang="en-US" sz="1300" b="1" dirty="0">
                <a:solidFill>
                  <a:schemeClr val="tx1"/>
                </a:solidFill>
              </a:rPr>
              <a:t>Normal blocks: </a:t>
            </a:r>
            <a:pPr indent="0" marL="0">
              <a:buNone/>
            </a:pPr>
            <a:r>
              <a:rPr lang="en-US" sz="1300" dirty="0">
                <a:solidFill>
                  <a:schemeClr val="tx1"/>
                </a:solidFill>
              </a:rPr>
              <a:t>558,223 of 558,223 have exactly 3 P lines.</a:t>
            </a:r>
            <a:endParaRPr lang="en-US" sz="1300" dirty="0"/>
          </a:p>
        </p:txBody>
      </p:sp>
      <p:sp>
        <p:nvSpPr>
          <p:cNvPr id="18" name="text-316"/>
          <p:cNvSpPr txBox="1"/>
          <p:nvPr/>
        </p:nvSpPr>
        <p:spPr>
          <a:xfrm>
            <a:off x="411480" y="3200400"/>
            <a:ext cx="3977640" cy="457200"/>
          </a:xfrm>
          <a:prstGeom prst="rect">
            <a:avLst/>
          </a:prstGeom>
          <a:noFill/>
          <a:ln/>
        </p:spPr>
        <p:txBody>
          <a:bodyPr wrap="square" lIns="0" tIns="0" rIns="0" bIns="0" rtlCol="0" anchor="t"/>
          <a:lstStyle/>
          <a:p>
            <a:pPr indent="0" marL="0">
              <a:buNone/>
            </a:pPr>
            <a:r>
              <a:rPr lang="en-US" sz="1300" b="1" dirty="0">
                <a:solidFill>
                  <a:schemeClr val="tx1"/>
                </a:solidFill>
              </a:rPr>
              <a:t>Anomalous blocks: </a:t>
            </a:r>
            <a:pPr indent="0" marL="0">
              <a:buNone/>
            </a:pPr>
            <a:r>
              <a:rPr lang="en-US" sz="1300" dirty="0">
                <a:solidFill>
                  <a:schemeClr val="tx1"/>
                </a:solidFill>
              </a:rPr>
              <a:t>6,181 (36.7%) have 0 P lines; none has exactly 2.</a:t>
            </a:r>
            <a:endParaRPr lang="en-US" sz="1300" dirty="0"/>
          </a:p>
        </p:txBody>
      </p:sp>
      <p:graphicFrame>
        <p:nvGraphicFramePr>
          <p:cNvPr id="19" name="chart-317" descr=""/>
          <p:cNvGraphicFramePr/>
          <p:nvPr/>
        </p:nvGraphicFramePr>
        <p:xfrm>
          <a:off x="4572000" y="868680"/>
          <a:ext cx="4206240" cy="2148840"/>
        </p:xfrm>
        <a:graphic xmlns:a="http://schemas.openxmlformats.org/drawingml/2006/main">
          <a:graphicData uri="http://schemas.openxmlformats.org/drawingml/2006/chart">
            <c:chart xmlns:c="http://schemas.openxmlformats.org/drawingml/2006/chart" r:id="rId6"/>
          </a:graphicData>
        </a:graphic>
      </p:graphicFrame>
      <p:sp>
        <p:nvSpPr>
          <p:cNvPr id="20" name="means-card-318"/>
          <p:cNvSpPr/>
          <p:nvPr/>
        </p:nvSpPr>
        <p:spPr>
          <a:xfrm>
            <a:off x="4617720" y="3154680"/>
            <a:ext cx="4114800" cy="1627632"/>
          </a:xfrm>
          <a:prstGeom prst="roundRect">
            <a:avLst>
              <a:gd name="adj" fmla="val 4494"/>
            </a:avLst>
          </a:prstGeom>
          <a:solidFill>
            <a:schemeClr val="bg2"/>
          </a:solidFill>
          <a:ln w="12700">
            <a:solidFill>
              <a:schemeClr val="bg2"/>
            </a:solidFill>
            <a:prstDash val="solid"/>
          </a:ln>
        </p:spPr>
      </p:sp>
      <p:sp>
        <p:nvSpPr>
          <p:cNvPr id="21" name="text-319"/>
          <p:cNvSpPr txBox="1"/>
          <p:nvPr/>
        </p:nvSpPr>
        <p:spPr>
          <a:xfrm>
            <a:off x="4754880" y="3227832"/>
            <a:ext cx="3840480" cy="256032"/>
          </a:xfrm>
          <a:prstGeom prst="rect">
            <a:avLst/>
          </a:prstGeom>
          <a:noFill/>
          <a:ln/>
        </p:spPr>
        <p:txBody>
          <a:bodyPr wrap="square" lIns="0" tIns="0" rIns="0" bIns="0" rtlCol="0" anchor="t"/>
          <a:lstStyle/>
          <a:p>
            <a:pPr indent="0" marL="0">
              <a:buNone/>
            </a:pPr>
            <a:r>
              <a:rPr lang="en-US" sz="1300" b="1" dirty="0">
                <a:solidFill>
                  <a:schemeClr val="accent4"/>
                </a:solidFill>
              </a:rPr>
              <a:t>What it means</a:t>
            </a:r>
            <a:endParaRPr lang="en-US" sz="1300" dirty="0"/>
          </a:p>
        </p:txBody>
      </p:sp>
      <p:sp>
        <p:nvSpPr>
          <p:cNvPr id="22" name="means-text-320"/>
          <p:cNvSpPr txBox="1"/>
          <p:nvPr/>
        </p:nvSpPr>
        <p:spPr>
          <a:xfrm>
            <a:off x="4727448" y="3502152"/>
            <a:ext cx="3895344" cy="1216152"/>
          </a:xfrm>
          <a:prstGeom prst="rect">
            <a:avLst/>
          </a:prstGeom>
          <a:noFill/>
          <a:ln/>
        </p:spPr>
        <p:txBody>
          <a:bodyPr wrap="square" lIns="254" tIns="254" rIns="254" bIns="254" rtlCol="0" anchor="t"/>
          <a:lstStyle/>
          <a:p>
            <a:pPr marL="152400" indent="-152400">
              <a:spcAft>
                <a:spcPts val="300"/>
              </a:spcAft>
              <a:buSzPct val="100000"/>
              <a:buChar char="•"/>
            </a:pPr>
            <a:r>
              <a:rPr lang="en-US" sz="1250" dirty="0">
                <a:solidFill>
                  <a:schemeClr val="tx1"/>
                </a:solidFill>
              </a:rPr>
              <a:t>Two tied top signals: the P count and “Unexpected error deleting block”</a:t>
            </a:r>
            <a:endParaRPr lang="en-US" sz="1250" dirty="0"/>
          </a:p>
          <a:p>
            <a:pPr marL="152400" indent="-152400">
              <a:spcAft>
                <a:spcPts val="300"/>
              </a:spcAft>
              <a:buSzPct val="100000"/>
              <a:buChar char="•"/>
            </a:pPr>
            <a:r>
              <a:rPr lang="en-US" sz="1250" dirty="0">
                <a:solidFill>
                  <a:schemeClr val="tx1"/>
                </a:solidFill>
              </a:rPr>
              <a:t>The forest rediscovered HDFS's 3-copy write protocol</a:t>
            </a:r>
            <a:endParaRPr lang="en-US" sz="1250" dirty="0"/>
          </a:p>
          <a:p>
            <a:pPr marL="152400" indent="-152400">
              <a:spcAft>
                <a:spcPts val="300"/>
              </a:spcAft>
              <a:buSzPct val="100000"/>
              <a:buChar char="•"/>
            </a:pPr>
            <a:r>
              <a:rPr lang="en-US" sz="1250" dirty="0">
                <a:solidFill>
                  <a:schemeClr val="tx1"/>
                </a:solidFill>
              </a:rPr>
              <a:t>Explained on the 28-feature corr/VIF model, so correlated P/D/S don't split the credit</a:t>
            </a:r>
            <a:endParaRPr lang="en-US" sz="1250" dirty="0"/>
          </a:p>
        </p:txBody>
      </p:sp>
      <p:sp>
        <p:nvSpPr>
          <p:cNvPr id="25" name="Slide Number Placeholder 0"/>
          <p:cNvSpPr>
            <a:spLocks noGrp="1"/>
          </p:cNvSpPr>
          <p:nvPr>
            <p:ph type="sldNum" sz="quarter" idx="4294967295"/>
          </p:nvPr>
        </p:nvSpPr>
        <p:spPr>
          <a:xfrm>
            <a:off x="8412480" y="4800600"/>
            <a:ext cx="41148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11480" y="256032"/>
            <a:ext cx="6903720" cy="502920"/>
          </a:xfrm>
          <a:prstGeom prst="rect">
            <a:avLst/>
          </a:prstGeom>
          <a:noFill/>
          <a:ln/>
        </p:spPr>
        <p:txBody>
          <a:bodyPr wrap="square" lIns="0" tIns="0" rIns="0" bIns="0" rtlCol="0" anchor="ctr"/>
          <a:lstStyle/>
          <a:p>
            <a:pPr algn="l" indent="0" marL="0">
              <a:buNone/>
            </a:pPr>
            <a:r>
              <a:rPr lang="en-US" sz="2400" dirty="0">
                <a:solidFill>
                  <a:schemeClr val="tx1"/>
                </a:solidFill>
                <a:latin typeface="Bookman Old Style" pitchFamily="34" charset="0"/>
                <a:ea typeface="Bookman Old Style" pitchFamily="34" charset="-122"/>
                <a:cs typeface="Bookman Old Style" pitchFamily="34" charset="-120"/>
              </a:rPr>
              <a:t>Recap: MiniHDFS vs the real thing</a:t>
            </a:r>
            <a:endParaRPr lang="en-US" sz="2400" dirty="0"/>
          </a:p>
        </p:txBody>
      </p:sp>
      <p:sp>
        <p:nvSpPr>
          <p:cNvPr id="3" name="recap-card-321"/>
          <p:cNvSpPr/>
          <p:nvPr/>
        </p:nvSpPr>
        <p:spPr>
          <a:xfrm>
            <a:off x="411480" y="914400"/>
            <a:ext cx="4069080" cy="1691640"/>
          </a:xfrm>
          <a:prstGeom prst="roundRect">
            <a:avLst>
              <a:gd name="adj" fmla="val 4324"/>
            </a:avLst>
          </a:prstGeom>
          <a:solidFill>
            <a:schemeClr val="bg2"/>
          </a:solidFill>
          <a:ln w="12700">
            <a:solidFill>
              <a:schemeClr val="bg2"/>
            </a:solidFill>
            <a:prstDash val="solid"/>
          </a:ln>
        </p:spPr>
      </p:sp>
      <p:sp>
        <p:nvSpPr>
          <p:cNvPr id="4" name="recap-circle-322"/>
          <p:cNvSpPr/>
          <p:nvPr/>
        </p:nvSpPr>
        <p:spPr>
          <a:xfrm>
            <a:off x="548640" y="1051560"/>
            <a:ext cx="411480" cy="411480"/>
          </a:xfrm>
          <a:prstGeom prst="ellipse">
            <a:avLst/>
          </a:prstGeom>
          <a:solidFill>
            <a:schemeClr val="accent1"/>
          </a:solidFill>
          <a:ln w="12700">
            <a:solidFill>
              <a:schemeClr val="accent1"/>
            </a:solidFill>
            <a:prstDash val="solid"/>
          </a:ln>
        </p:spPr>
      </p:sp>
      <p:pic>
        <p:nvPicPr>
          <p:cNvPr id="5" name="recap-icon-323" descr="preencoded.png">    </p:cNvPr>
          <p:cNvPicPr>
            <a:picLocks noChangeAspect="1"/>
          </p:cNvPicPr>
          <p:nvPr/>
        </p:nvPicPr>
        <p:blipFill>
          <a:blip r:embed="rId1"/>
          <a:stretch>
            <a:fillRect/>
          </a:stretch>
        </p:blipFill>
        <p:spPr>
          <a:xfrm>
            <a:off x="649224" y="1152144"/>
            <a:ext cx="210312" cy="210312"/>
          </a:xfrm>
          <a:prstGeom prst="rect">
            <a:avLst/>
          </a:prstGeom>
        </p:spPr>
      </p:pic>
      <p:sp>
        <p:nvSpPr>
          <p:cNvPr id="6" name="text-324"/>
          <p:cNvSpPr txBox="1"/>
          <p:nvPr/>
        </p:nvSpPr>
        <p:spPr>
          <a:xfrm>
            <a:off x="1051560" y="1097280"/>
            <a:ext cx="3291840" cy="274320"/>
          </a:xfrm>
          <a:prstGeom prst="rect">
            <a:avLst/>
          </a:prstGeom>
          <a:noFill/>
          <a:ln/>
        </p:spPr>
        <p:txBody>
          <a:bodyPr wrap="square" lIns="0" tIns="0" rIns="0" bIns="0" rtlCol="0" anchor="t"/>
          <a:lstStyle/>
          <a:p>
            <a:pPr indent="0" marL="0">
              <a:buNone/>
            </a:pPr>
            <a:r>
              <a:rPr lang="en-US" sz="1300" b="1" dirty="0">
                <a:solidFill>
                  <a:schemeClr val="accent1"/>
                </a:solidFill>
              </a:rPr>
              <a:t>Prepare the data</a:t>
            </a:r>
            <a:endParaRPr lang="en-US" sz="1300" dirty="0"/>
          </a:p>
        </p:txBody>
      </p:sp>
      <p:sp>
        <p:nvSpPr>
          <p:cNvPr id="7" name="text-325"/>
          <p:cNvSpPr txBox="1"/>
          <p:nvPr/>
        </p:nvSpPr>
        <p:spPr>
          <a:xfrm>
            <a:off x="594360" y="1572768"/>
            <a:ext cx="3749040" cy="320040"/>
          </a:xfrm>
          <a:prstGeom prst="rect">
            <a:avLst/>
          </a:prstGeom>
          <a:noFill/>
          <a:ln/>
        </p:spPr>
        <p:txBody>
          <a:bodyPr wrap="square" lIns="0" tIns="0" rIns="0" bIns="0" rtlCol="0" anchor="t"/>
          <a:lstStyle/>
          <a:p>
            <a:pPr indent="0" marL="0">
              <a:buNone/>
            </a:pPr>
            <a:r>
              <a:rPr lang="en-US" sz="1300" b="1" dirty="0">
                <a:solidFill>
                  <a:schemeClr val="accent5"/>
                </a:solidFill>
              </a:rPr>
              <a:t>Toy: </a:t>
            </a:r>
            <a:pPr indent="0" marL="0">
              <a:buNone/>
            </a:pPr>
            <a:r>
              <a:rPr lang="en-US" sz="1300" dirty="0">
                <a:solidFill>
                  <a:schemeClr val="tx1"/>
                </a:solidFill>
              </a:rPr>
              <a:t>Lines → letters and counts</a:t>
            </a:r>
            <a:endParaRPr lang="en-US" sz="1300" dirty="0"/>
          </a:p>
        </p:txBody>
      </p:sp>
      <p:sp>
        <p:nvSpPr>
          <p:cNvPr id="8" name="text-326"/>
          <p:cNvSpPr txBox="1"/>
          <p:nvPr/>
        </p:nvSpPr>
        <p:spPr>
          <a:xfrm>
            <a:off x="594360" y="1892808"/>
            <a:ext cx="3749040" cy="640080"/>
          </a:xfrm>
          <a:prstGeom prst="rect">
            <a:avLst/>
          </a:prstGeom>
          <a:noFill/>
          <a:ln/>
        </p:spPr>
        <p:txBody>
          <a:bodyPr wrap="square" lIns="0" tIns="0" rIns="0" bIns="0" rtlCol="0" anchor="t"/>
          <a:lstStyle/>
          <a:p>
            <a:pPr indent="0" marL="0">
              <a:buNone/>
            </a:pPr>
            <a:r>
              <a:rPr lang="en-US" sz="1200" b="1" dirty="0">
                <a:solidFill>
                  <a:schemeClr val="tx1"/>
                </a:solidFill>
              </a:rPr>
              <a:t>Real: </a:t>
            </a:r>
            <a:pPr indent="0" marL="0">
              <a:buNone/>
            </a:pPr>
            <a:r>
              <a:rPr lang="en-US" sz="1200" dirty="0">
                <a:solidFill>
                  <a:schemeClr val="tx1"/>
                </a:solidFill>
              </a:rPr>
              <a:t>HDFS GA 1.000, BGL 0.970; HDFS matches the paper, BGL 826 vs 718 windows</a:t>
            </a:r>
            <a:endParaRPr lang="en-US" sz="1200" dirty="0"/>
          </a:p>
        </p:txBody>
      </p:sp>
      <p:sp>
        <p:nvSpPr>
          <p:cNvPr id="9" name="recap-card-327"/>
          <p:cNvSpPr/>
          <p:nvPr/>
        </p:nvSpPr>
        <p:spPr>
          <a:xfrm>
            <a:off x="4617720" y="914400"/>
            <a:ext cx="4069080" cy="1691640"/>
          </a:xfrm>
          <a:prstGeom prst="roundRect">
            <a:avLst>
              <a:gd name="adj" fmla="val 4324"/>
            </a:avLst>
          </a:prstGeom>
          <a:solidFill>
            <a:schemeClr val="bg2"/>
          </a:solidFill>
          <a:ln w="12700">
            <a:solidFill>
              <a:schemeClr val="bg2"/>
            </a:solidFill>
            <a:prstDash val="solid"/>
          </a:ln>
        </p:spPr>
      </p:sp>
      <p:sp>
        <p:nvSpPr>
          <p:cNvPr id="10" name="recap-circle-328"/>
          <p:cNvSpPr/>
          <p:nvPr/>
        </p:nvSpPr>
        <p:spPr>
          <a:xfrm>
            <a:off x="4754880" y="1051560"/>
            <a:ext cx="411480" cy="411480"/>
          </a:xfrm>
          <a:prstGeom prst="ellipse">
            <a:avLst/>
          </a:prstGeom>
          <a:solidFill>
            <a:schemeClr val="accent2"/>
          </a:solidFill>
          <a:ln w="12700">
            <a:solidFill>
              <a:schemeClr val="accent2"/>
            </a:solidFill>
            <a:prstDash val="solid"/>
          </a:ln>
        </p:spPr>
      </p:sp>
      <p:pic>
        <p:nvPicPr>
          <p:cNvPr id="11" name="recap-icon-329" descr="preencoded.png">    </p:cNvPr>
          <p:cNvPicPr>
            <a:picLocks noChangeAspect="1"/>
          </p:cNvPicPr>
          <p:nvPr/>
        </p:nvPicPr>
        <p:blipFill>
          <a:blip r:embed="rId2"/>
          <a:stretch>
            <a:fillRect/>
          </a:stretch>
        </p:blipFill>
        <p:spPr>
          <a:xfrm>
            <a:off x="4855464" y="1152144"/>
            <a:ext cx="210312" cy="210312"/>
          </a:xfrm>
          <a:prstGeom prst="rect">
            <a:avLst/>
          </a:prstGeom>
        </p:spPr>
      </p:pic>
      <p:sp>
        <p:nvSpPr>
          <p:cNvPr id="12" name="text-330"/>
          <p:cNvSpPr txBox="1"/>
          <p:nvPr/>
        </p:nvSpPr>
        <p:spPr>
          <a:xfrm>
            <a:off x="5257800" y="1097280"/>
            <a:ext cx="3291840" cy="274320"/>
          </a:xfrm>
          <a:prstGeom prst="rect">
            <a:avLst/>
          </a:prstGeom>
          <a:noFill/>
          <a:ln/>
        </p:spPr>
        <p:txBody>
          <a:bodyPr wrap="square" lIns="0" tIns="0" rIns="0" bIns="0" rtlCol="0" anchor="t"/>
          <a:lstStyle/>
          <a:p>
            <a:pPr indent="0" marL="0">
              <a:buNone/>
            </a:pPr>
            <a:r>
              <a:rPr lang="en-US" sz="1300" b="1" dirty="0">
                <a:solidFill>
                  <a:schemeClr val="accent2"/>
                </a:solidFill>
              </a:rPr>
              <a:t>Detect with labels</a:t>
            </a:r>
            <a:endParaRPr lang="en-US" sz="1300" dirty="0"/>
          </a:p>
        </p:txBody>
      </p:sp>
      <p:sp>
        <p:nvSpPr>
          <p:cNvPr id="13" name="text-331"/>
          <p:cNvSpPr txBox="1"/>
          <p:nvPr/>
        </p:nvSpPr>
        <p:spPr>
          <a:xfrm>
            <a:off x="4800600" y="1572768"/>
            <a:ext cx="3749040" cy="320040"/>
          </a:xfrm>
          <a:prstGeom prst="rect">
            <a:avLst/>
          </a:prstGeom>
          <a:noFill/>
          <a:ln/>
        </p:spPr>
        <p:txBody>
          <a:bodyPr wrap="square" lIns="0" tIns="0" rIns="0" bIns="0" rtlCol="0" anchor="t"/>
          <a:lstStyle/>
          <a:p>
            <a:pPr indent="0" marL="0">
              <a:buNone/>
            </a:pPr>
            <a:r>
              <a:rPr lang="en-US" sz="1300" b="1" dirty="0">
                <a:solidFill>
                  <a:schemeClr val="accent5"/>
                </a:solidFill>
              </a:rPr>
              <a:t>Toy: </a:t>
            </a:r>
            <a:pPr indent="0" marL="0">
              <a:buNone/>
            </a:pPr>
            <a:r>
              <a:rPr lang="en-US" sz="1300" dirty="0">
                <a:solidFill>
                  <a:schemeClr val="tx1"/>
                </a:solidFill>
              </a:rPr>
              <a:t>Forest beats LSTM</a:t>
            </a:r>
            <a:endParaRPr lang="en-US" sz="1300" dirty="0"/>
          </a:p>
        </p:txBody>
      </p:sp>
      <p:sp>
        <p:nvSpPr>
          <p:cNvPr id="14" name="text-332"/>
          <p:cNvSpPr txBox="1"/>
          <p:nvPr/>
        </p:nvSpPr>
        <p:spPr>
          <a:xfrm>
            <a:off x="4800600" y="1892808"/>
            <a:ext cx="3749040" cy="640080"/>
          </a:xfrm>
          <a:prstGeom prst="rect">
            <a:avLst/>
          </a:prstGeom>
          <a:noFill/>
          <a:ln/>
        </p:spPr>
        <p:txBody>
          <a:bodyPr wrap="square" lIns="0" tIns="0" rIns="0" bIns="0" rtlCol="0" anchor="t"/>
          <a:lstStyle/>
          <a:p>
            <a:pPr indent="0" marL="0">
              <a:buNone/>
            </a:pPr>
            <a:r>
              <a:rPr lang="en-US" sz="1200" b="1" dirty="0">
                <a:solidFill>
                  <a:schemeClr val="tx1"/>
                </a:solidFill>
              </a:rPr>
              <a:t>Real: </a:t>
            </a:r>
            <a:pPr indent="0" marL="0">
              <a:buNone/>
            </a:pPr>
            <a:r>
              <a:rPr lang="en-US" sz="1200" dirty="0">
                <a:solidFill>
                  <a:schemeClr val="tx1"/>
                </a:solidFill>
              </a:rPr>
              <a:t>RF 0.998 / 0.921 F1 ≥ LSTM 0.968 / 0.851; VIF fine for RF, bad for LSTM</a:t>
            </a:r>
            <a:endParaRPr lang="en-US" sz="1200" dirty="0"/>
          </a:p>
        </p:txBody>
      </p:sp>
      <p:sp>
        <p:nvSpPr>
          <p:cNvPr id="15" name="recap-card-333"/>
          <p:cNvSpPr/>
          <p:nvPr/>
        </p:nvSpPr>
        <p:spPr>
          <a:xfrm>
            <a:off x="411480" y="2788920"/>
            <a:ext cx="4069080" cy="1691640"/>
          </a:xfrm>
          <a:prstGeom prst="roundRect">
            <a:avLst>
              <a:gd name="adj" fmla="val 4324"/>
            </a:avLst>
          </a:prstGeom>
          <a:solidFill>
            <a:schemeClr val="bg2"/>
          </a:solidFill>
          <a:ln w="12700">
            <a:solidFill>
              <a:schemeClr val="bg2"/>
            </a:solidFill>
            <a:prstDash val="solid"/>
          </a:ln>
        </p:spPr>
      </p:sp>
      <p:sp>
        <p:nvSpPr>
          <p:cNvPr id="16" name="recap-circle-334"/>
          <p:cNvSpPr/>
          <p:nvPr/>
        </p:nvSpPr>
        <p:spPr>
          <a:xfrm>
            <a:off x="548640" y="2926080"/>
            <a:ext cx="411480" cy="411480"/>
          </a:xfrm>
          <a:prstGeom prst="ellipse">
            <a:avLst/>
          </a:prstGeom>
          <a:solidFill>
            <a:schemeClr val="accent3"/>
          </a:solidFill>
          <a:ln w="12700">
            <a:solidFill>
              <a:schemeClr val="accent3"/>
            </a:solidFill>
            <a:prstDash val="solid"/>
          </a:ln>
        </p:spPr>
      </p:sp>
      <p:pic>
        <p:nvPicPr>
          <p:cNvPr id="17" name="recap-icon-335" descr="preencoded.png">    </p:cNvPr>
          <p:cNvPicPr>
            <a:picLocks noChangeAspect="1"/>
          </p:cNvPicPr>
          <p:nvPr/>
        </p:nvPicPr>
        <p:blipFill>
          <a:blip r:embed="rId3"/>
          <a:stretch>
            <a:fillRect/>
          </a:stretch>
        </p:blipFill>
        <p:spPr>
          <a:xfrm>
            <a:off x="649224" y="3026664"/>
            <a:ext cx="210312" cy="210312"/>
          </a:xfrm>
          <a:prstGeom prst="rect">
            <a:avLst/>
          </a:prstGeom>
        </p:spPr>
      </p:pic>
      <p:sp>
        <p:nvSpPr>
          <p:cNvPr id="18" name="text-336"/>
          <p:cNvSpPr txBox="1"/>
          <p:nvPr/>
        </p:nvSpPr>
        <p:spPr>
          <a:xfrm>
            <a:off x="1051560" y="2971800"/>
            <a:ext cx="3291840" cy="274320"/>
          </a:xfrm>
          <a:prstGeom prst="rect">
            <a:avLst/>
          </a:prstGeom>
          <a:noFill/>
          <a:ln/>
        </p:spPr>
        <p:txBody>
          <a:bodyPr wrap="square" lIns="0" tIns="0" rIns="0" bIns="0" rtlCol="0" anchor="t"/>
          <a:lstStyle/>
          <a:p>
            <a:pPr indent="0" marL="0">
              <a:buNone/>
            </a:pPr>
            <a:r>
              <a:rPr lang="en-US" sz="1300" b="1" dirty="0">
                <a:solidFill>
                  <a:schemeClr val="accent3"/>
                </a:solidFill>
              </a:rPr>
              <a:t>Detect without labels</a:t>
            </a:r>
            <a:endParaRPr lang="en-US" sz="1300" dirty="0"/>
          </a:p>
        </p:txBody>
      </p:sp>
      <p:sp>
        <p:nvSpPr>
          <p:cNvPr id="19" name="text-337"/>
          <p:cNvSpPr txBox="1"/>
          <p:nvPr/>
        </p:nvSpPr>
        <p:spPr>
          <a:xfrm>
            <a:off x="594360" y="3447288"/>
            <a:ext cx="3749040" cy="320040"/>
          </a:xfrm>
          <a:prstGeom prst="rect">
            <a:avLst/>
          </a:prstGeom>
          <a:noFill/>
          <a:ln/>
        </p:spPr>
        <p:txBody>
          <a:bodyPr wrap="square" lIns="0" tIns="0" rIns="0" bIns="0" rtlCol="0" anchor="t"/>
          <a:lstStyle/>
          <a:p>
            <a:pPr indent="0" marL="0">
              <a:buNone/>
            </a:pPr>
            <a:r>
              <a:rPr lang="en-US" sz="1300" b="1" dirty="0">
                <a:solidFill>
                  <a:schemeClr val="accent5"/>
                </a:solidFill>
              </a:rPr>
              <a:t>Toy: </a:t>
            </a:r>
            <a:pPr indent="0" marL="0">
              <a:buNone/>
            </a:pPr>
            <a:r>
              <a:rPr lang="en-US" sz="1300" dirty="0">
                <a:solidFill>
                  <a:schemeClr val="tx1"/>
                </a:solidFill>
              </a:rPr>
              <a:t>Block #2 needs an EOS token</a:t>
            </a:r>
            <a:endParaRPr lang="en-US" sz="1300" dirty="0"/>
          </a:p>
        </p:txBody>
      </p:sp>
      <p:sp>
        <p:nvSpPr>
          <p:cNvPr id="20" name="text-338"/>
          <p:cNvSpPr txBox="1"/>
          <p:nvPr/>
        </p:nvSpPr>
        <p:spPr>
          <a:xfrm>
            <a:off x="594360" y="3767328"/>
            <a:ext cx="3749040" cy="640080"/>
          </a:xfrm>
          <a:prstGeom prst="rect">
            <a:avLst/>
          </a:prstGeom>
          <a:noFill/>
          <a:ln/>
        </p:spPr>
        <p:txBody>
          <a:bodyPr wrap="square" lIns="0" tIns="0" rIns="0" bIns="0" rtlCol="0" anchor="t"/>
          <a:lstStyle/>
          <a:p>
            <a:pPr indent="0" marL="0">
              <a:buNone/>
            </a:pPr>
            <a:r>
              <a:rPr lang="en-US" sz="1200" b="1" dirty="0">
                <a:solidFill>
                  <a:schemeClr val="tx1"/>
                </a:solidFill>
              </a:rPr>
              <a:t>Real: </a:t>
            </a:r>
            <a:pPr indent="0" marL="0">
              <a:buNone/>
            </a:pPr>
            <a:r>
              <a:rPr lang="en-US" sz="1200" dirty="0">
                <a:solidFill>
                  <a:schemeClr val="tx1"/>
                </a:solidFill>
              </a:rPr>
              <a:t>Label-free: F1 ≈ 0.65, AUC ≈ 0.96; no clear winner</a:t>
            </a:r>
            <a:endParaRPr lang="en-US" sz="1200" dirty="0"/>
          </a:p>
        </p:txBody>
      </p:sp>
      <p:sp>
        <p:nvSpPr>
          <p:cNvPr id="21" name="recap-card-339"/>
          <p:cNvSpPr/>
          <p:nvPr/>
        </p:nvSpPr>
        <p:spPr>
          <a:xfrm>
            <a:off x="4617720" y="2788920"/>
            <a:ext cx="4069080" cy="1691640"/>
          </a:xfrm>
          <a:prstGeom prst="roundRect">
            <a:avLst>
              <a:gd name="adj" fmla="val 4324"/>
            </a:avLst>
          </a:prstGeom>
          <a:solidFill>
            <a:schemeClr val="bg2"/>
          </a:solidFill>
          <a:ln w="12700">
            <a:solidFill>
              <a:schemeClr val="bg2"/>
            </a:solidFill>
            <a:prstDash val="solid"/>
          </a:ln>
        </p:spPr>
      </p:sp>
      <p:sp>
        <p:nvSpPr>
          <p:cNvPr id="22" name="recap-circle-340"/>
          <p:cNvSpPr/>
          <p:nvPr/>
        </p:nvSpPr>
        <p:spPr>
          <a:xfrm>
            <a:off x="4754880" y="2926080"/>
            <a:ext cx="411480" cy="411480"/>
          </a:xfrm>
          <a:prstGeom prst="ellipse">
            <a:avLst/>
          </a:prstGeom>
          <a:solidFill>
            <a:schemeClr val="accent4"/>
          </a:solidFill>
          <a:ln w="12700">
            <a:solidFill>
              <a:schemeClr val="accent4"/>
            </a:solidFill>
            <a:prstDash val="solid"/>
          </a:ln>
        </p:spPr>
      </p:sp>
      <p:pic>
        <p:nvPicPr>
          <p:cNvPr id="23" name="recap-icon-341" descr="preencoded.png">    </p:cNvPr>
          <p:cNvPicPr>
            <a:picLocks noChangeAspect="1"/>
          </p:cNvPicPr>
          <p:nvPr/>
        </p:nvPicPr>
        <p:blipFill>
          <a:blip r:embed="rId4"/>
          <a:stretch>
            <a:fillRect/>
          </a:stretch>
        </p:blipFill>
        <p:spPr>
          <a:xfrm>
            <a:off x="4855464" y="3026664"/>
            <a:ext cx="210312" cy="210312"/>
          </a:xfrm>
          <a:prstGeom prst="rect">
            <a:avLst/>
          </a:prstGeom>
        </p:spPr>
      </p:pic>
      <p:sp>
        <p:nvSpPr>
          <p:cNvPr id="24" name="text-342"/>
          <p:cNvSpPr txBox="1"/>
          <p:nvPr/>
        </p:nvSpPr>
        <p:spPr>
          <a:xfrm>
            <a:off x="5257800" y="2971800"/>
            <a:ext cx="3291840" cy="274320"/>
          </a:xfrm>
          <a:prstGeom prst="rect">
            <a:avLst/>
          </a:prstGeom>
          <a:noFill/>
          <a:ln/>
        </p:spPr>
        <p:txBody>
          <a:bodyPr wrap="square" lIns="0" tIns="0" rIns="0" bIns="0" rtlCol="0" anchor="t"/>
          <a:lstStyle/>
          <a:p>
            <a:pPr indent="0" marL="0">
              <a:buNone/>
            </a:pPr>
            <a:r>
              <a:rPr lang="en-US" sz="1300" b="1" dirty="0">
                <a:solidFill>
                  <a:schemeClr val="accent4"/>
                </a:solidFill>
              </a:rPr>
              <a:t>Trust &amp; explain</a:t>
            </a:r>
            <a:endParaRPr lang="en-US" sz="1300" dirty="0"/>
          </a:p>
        </p:txBody>
      </p:sp>
      <p:sp>
        <p:nvSpPr>
          <p:cNvPr id="25" name="text-343"/>
          <p:cNvSpPr txBox="1"/>
          <p:nvPr/>
        </p:nvSpPr>
        <p:spPr>
          <a:xfrm>
            <a:off x="4800600" y="3447288"/>
            <a:ext cx="3749040" cy="320040"/>
          </a:xfrm>
          <a:prstGeom prst="rect">
            <a:avLst/>
          </a:prstGeom>
          <a:noFill/>
          <a:ln/>
        </p:spPr>
        <p:txBody>
          <a:bodyPr wrap="square" lIns="0" tIns="0" rIns="0" bIns="0" rtlCol="0" anchor="t"/>
          <a:lstStyle/>
          <a:p>
            <a:pPr indent="0" marL="0">
              <a:buNone/>
            </a:pPr>
            <a:r>
              <a:rPr lang="en-US" sz="1300" b="1" dirty="0">
                <a:solidFill>
                  <a:schemeClr val="accent5"/>
                </a:solidFill>
              </a:rPr>
              <a:t>Toy: </a:t>
            </a:r>
            <a:pPr indent="0" marL="0">
              <a:buNone/>
            </a:pPr>
            <a:r>
              <a:rPr lang="en-US" sz="1300" dirty="0">
                <a:solidFill>
                  <a:schemeClr val="tx1"/>
                </a:solidFill>
              </a:rPr>
              <a:t>“No P” = broken</a:t>
            </a:r>
            <a:endParaRPr lang="en-US" sz="1300" dirty="0"/>
          </a:p>
        </p:txBody>
      </p:sp>
      <p:sp>
        <p:nvSpPr>
          <p:cNvPr id="26" name="text-344"/>
          <p:cNvSpPr txBox="1"/>
          <p:nvPr/>
        </p:nvSpPr>
        <p:spPr>
          <a:xfrm>
            <a:off x="4800600" y="3767328"/>
            <a:ext cx="3749040" cy="640080"/>
          </a:xfrm>
          <a:prstGeom prst="rect">
            <a:avLst/>
          </a:prstGeom>
          <a:noFill/>
          <a:ln/>
        </p:spPr>
        <p:txBody>
          <a:bodyPr wrap="square" lIns="0" tIns="0" rIns="0" bIns="0" rtlCol="0" anchor="t"/>
          <a:lstStyle/>
          <a:p>
            <a:pPr indent="0" marL="0">
              <a:buNone/>
            </a:pPr>
            <a:r>
              <a:rPr lang="en-US" sz="1200" b="1" dirty="0">
                <a:solidFill>
                  <a:schemeClr val="tx1"/>
                </a:solidFill>
              </a:rPr>
              <a:t>Real: </a:t>
            </a:r>
            <a:pPr indent="0" marL="0">
              <a:buNone/>
            </a:pPr>
            <a:r>
              <a:rPr lang="en-US" sz="1200" dirty="0">
                <a:solidFill>
                  <a:schemeClr val="tx1"/>
                </a:solidFill>
              </a:rPr>
              <a:t>SHAP: missing P lines drive the forest; 97.8% repeated sequences</a:t>
            </a:r>
            <a:endParaRPr lang="en-US" sz="1200" dirty="0"/>
          </a:p>
        </p:txBody>
      </p:sp>
      <p:sp>
        <p:nvSpPr>
          <p:cNvPr id="25" name="Slide Number Placeholder 0"/>
          <p:cNvSpPr>
            <a:spLocks noGrp="1"/>
          </p:cNvSpPr>
          <p:nvPr>
            <p:ph type="sldNum" sz="quarter" idx="4294967295"/>
          </p:nvPr>
        </p:nvSpPr>
        <p:spPr>
          <a:xfrm>
            <a:off x="8412480" y="4800600"/>
            <a:ext cx="41148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11480" y="256032"/>
            <a:ext cx="6903720" cy="502920"/>
          </a:xfrm>
          <a:prstGeom prst="rect">
            <a:avLst/>
          </a:prstGeom>
          <a:noFill/>
          <a:ln/>
        </p:spPr>
        <p:txBody>
          <a:bodyPr wrap="square" lIns="0" tIns="0" rIns="0" bIns="0" rtlCol="0" anchor="ctr"/>
          <a:lstStyle/>
          <a:p>
            <a:pPr algn="l" indent="0" marL="0">
              <a:buNone/>
            </a:pPr>
            <a:r>
              <a:rPr lang="en-US" sz="2400" dirty="0">
                <a:solidFill>
                  <a:schemeClr val="tx1"/>
                </a:solidFill>
                <a:latin typeface="Bookman Old Style" pitchFamily="34" charset="0"/>
                <a:ea typeface="Bookman Old Style" pitchFamily="34" charset="-122"/>
                <a:cs typeface="Bookman Old Style" pitchFamily="34" charset="-120"/>
              </a:rPr>
              <a:t>How confident should we be?</a:t>
            </a:r>
            <a:endParaRPr lang="en-US" sz="2400" dirty="0"/>
          </a:p>
        </p:txBody>
      </p:sp>
      <p:sp>
        <p:nvSpPr>
          <p:cNvPr id="3" name="cav-circle-345"/>
          <p:cNvSpPr/>
          <p:nvPr/>
        </p:nvSpPr>
        <p:spPr>
          <a:xfrm>
            <a:off x="411480" y="960120"/>
            <a:ext cx="411480" cy="411480"/>
          </a:xfrm>
          <a:prstGeom prst="ellipse">
            <a:avLst/>
          </a:prstGeom>
          <a:solidFill>
            <a:schemeClr val="accent1"/>
          </a:solidFill>
          <a:ln w="12700">
            <a:solidFill>
              <a:schemeClr val="accent1"/>
            </a:solidFill>
            <a:prstDash val="solid"/>
          </a:ln>
        </p:spPr>
      </p:sp>
      <p:pic>
        <p:nvPicPr>
          <p:cNvPr id="4" name="cav-icon-346" descr="preencoded.png">    </p:cNvPr>
          <p:cNvPicPr>
            <a:picLocks noChangeAspect="1"/>
          </p:cNvPicPr>
          <p:nvPr/>
        </p:nvPicPr>
        <p:blipFill>
          <a:blip r:embed="rId1"/>
          <a:stretch>
            <a:fillRect/>
          </a:stretch>
        </p:blipFill>
        <p:spPr>
          <a:xfrm>
            <a:off x="512064" y="1060704"/>
            <a:ext cx="210312" cy="210312"/>
          </a:xfrm>
          <a:prstGeom prst="rect">
            <a:avLst/>
          </a:prstGeom>
        </p:spPr>
      </p:pic>
      <p:sp>
        <p:nvSpPr>
          <p:cNvPr id="5" name="text-347"/>
          <p:cNvSpPr txBox="1"/>
          <p:nvPr/>
        </p:nvSpPr>
        <p:spPr>
          <a:xfrm>
            <a:off x="1005840" y="932688"/>
            <a:ext cx="7726680" cy="502920"/>
          </a:xfrm>
          <a:prstGeom prst="rect">
            <a:avLst/>
          </a:prstGeom>
          <a:noFill/>
          <a:ln/>
        </p:spPr>
        <p:txBody>
          <a:bodyPr wrap="square" lIns="0" tIns="0" rIns="0" bIns="0" rtlCol="0" anchor="ctr"/>
          <a:lstStyle/>
          <a:p>
            <a:pPr indent="0" marL="0">
              <a:buNone/>
            </a:pPr>
            <a:r>
              <a:rPr lang="en-US" sz="1400" dirty="0">
                <a:solidFill>
                  <a:schemeClr val="tx1"/>
                </a:solidFill>
              </a:rPr>
              <a:t>Drain ran on all data before the split (as in the paper); BGL windows differ (826 vs 718)</a:t>
            </a:r>
            <a:endParaRPr lang="en-US" sz="1400" dirty="0"/>
          </a:p>
        </p:txBody>
      </p:sp>
      <p:sp>
        <p:nvSpPr>
          <p:cNvPr id="6" name="cav-circle-348"/>
          <p:cNvSpPr/>
          <p:nvPr/>
        </p:nvSpPr>
        <p:spPr>
          <a:xfrm>
            <a:off x="411480" y="1691640"/>
            <a:ext cx="411480" cy="411480"/>
          </a:xfrm>
          <a:prstGeom prst="ellipse">
            <a:avLst/>
          </a:prstGeom>
          <a:solidFill>
            <a:schemeClr val="accent2"/>
          </a:solidFill>
          <a:ln w="12700">
            <a:solidFill>
              <a:schemeClr val="accent2"/>
            </a:solidFill>
            <a:prstDash val="solid"/>
          </a:ln>
        </p:spPr>
      </p:sp>
      <p:pic>
        <p:nvPicPr>
          <p:cNvPr id="7" name="cav-icon-349" descr="preencoded.png">    </p:cNvPr>
          <p:cNvPicPr>
            <a:picLocks noChangeAspect="1"/>
          </p:cNvPicPr>
          <p:nvPr/>
        </p:nvPicPr>
        <p:blipFill>
          <a:blip r:embed="rId2"/>
          <a:stretch>
            <a:fillRect/>
          </a:stretch>
        </p:blipFill>
        <p:spPr>
          <a:xfrm>
            <a:off x="512064" y="1792224"/>
            <a:ext cx="210312" cy="210312"/>
          </a:xfrm>
          <a:prstGeom prst="rect">
            <a:avLst/>
          </a:prstGeom>
        </p:spPr>
      </p:pic>
      <p:sp>
        <p:nvSpPr>
          <p:cNvPr id="8" name="text-350"/>
          <p:cNvSpPr txBox="1"/>
          <p:nvPr/>
        </p:nvSpPr>
        <p:spPr>
          <a:xfrm>
            <a:off x="1005840" y="1664208"/>
            <a:ext cx="7726680" cy="502920"/>
          </a:xfrm>
          <a:prstGeom prst="rect">
            <a:avLst/>
          </a:prstGeom>
          <a:noFill/>
          <a:ln/>
        </p:spPr>
        <p:txBody>
          <a:bodyPr wrap="square" lIns="0" tIns="0" rIns="0" bIns="0" rtlCol="0" anchor="ctr"/>
          <a:lstStyle/>
          <a:p>
            <a:pPr indent="0" marL="0">
              <a:buNone/>
            </a:pPr>
            <a:r>
              <a:rPr lang="en-US" sz="1400" dirty="0">
                <a:solidFill>
                  <a:schemeClr val="tx1"/>
                </a:solidFill>
              </a:rPr>
              <a:t>Random session split + 97.8% repeated sequences make HDFS easier (not discussed by Wu et al.)</a:t>
            </a:r>
            <a:endParaRPr lang="en-US" sz="1400" dirty="0"/>
          </a:p>
        </p:txBody>
      </p:sp>
      <p:sp>
        <p:nvSpPr>
          <p:cNvPr id="9" name="cav-circle-351"/>
          <p:cNvSpPr/>
          <p:nvPr/>
        </p:nvSpPr>
        <p:spPr>
          <a:xfrm>
            <a:off x="411480" y="2423160"/>
            <a:ext cx="411480" cy="411480"/>
          </a:xfrm>
          <a:prstGeom prst="ellipse">
            <a:avLst/>
          </a:prstGeom>
          <a:solidFill>
            <a:schemeClr val="accent2"/>
          </a:solidFill>
          <a:ln w="12700">
            <a:solidFill>
              <a:schemeClr val="accent2"/>
            </a:solidFill>
            <a:prstDash val="solid"/>
          </a:ln>
        </p:spPr>
      </p:sp>
      <p:pic>
        <p:nvPicPr>
          <p:cNvPr id="10" name="cav-icon-352" descr="preencoded.png">    </p:cNvPr>
          <p:cNvPicPr>
            <a:picLocks noChangeAspect="1"/>
          </p:cNvPicPr>
          <p:nvPr/>
        </p:nvPicPr>
        <p:blipFill>
          <a:blip r:embed="rId3"/>
          <a:stretch>
            <a:fillRect/>
          </a:stretch>
        </p:blipFill>
        <p:spPr>
          <a:xfrm>
            <a:off x="512064" y="2523744"/>
            <a:ext cx="210312" cy="210312"/>
          </a:xfrm>
          <a:prstGeom prst="rect">
            <a:avLst/>
          </a:prstGeom>
        </p:spPr>
      </p:pic>
      <p:sp>
        <p:nvSpPr>
          <p:cNvPr id="11" name="text-353"/>
          <p:cNvSpPr txBox="1"/>
          <p:nvPr/>
        </p:nvSpPr>
        <p:spPr>
          <a:xfrm>
            <a:off x="1005840" y="2395728"/>
            <a:ext cx="7726680" cy="502920"/>
          </a:xfrm>
          <a:prstGeom prst="rect">
            <a:avLst/>
          </a:prstGeom>
          <a:noFill/>
          <a:ln/>
        </p:spPr>
        <p:txBody>
          <a:bodyPr wrap="square" lIns="0" tIns="0" rIns="0" bIns="0" rtlCol="0" anchor="ctr"/>
          <a:lstStyle/>
          <a:p>
            <a:pPr indent="0" marL="0">
              <a:buNone/>
            </a:pPr>
            <a:r>
              <a:rPr lang="en-US" sz="1400" dirty="0">
                <a:solidFill>
                  <a:schemeClr val="tx1"/>
                </a:solidFill>
              </a:rPr>
              <a:t>LSTM epochs and class weights were fixed by us; the paper does not report them</a:t>
            </a:r>
            <a:endParaRPr lang="en-US" sz="1400" dirty="0"/>
          </a:p>
        </p:txBody>
      </p:sp>
      <p:sp>
        <p:nvSpPr>
          <p:cNvPr id="12" name="cav-circle-354"/>
          <p:cNvSpPr/>
          <p:nvPr/>
        </p:nvSpPr>
        <p:spPr>
          <a:xfrm>
            <a:off x="411480" y="3154680"/>
            <a:ext cx="411480" cy="411480"/>
          </a:xfrm>
          <a:prstGeom prst="ellipse">
            <a:avLst/>
          </a:prstGeom>
          <a:solidFill>
            <a:schemeClr val="accent3"/>
          </a:solidFill>
          <a:ln w="12700">
            <a:solidFill>
              <a:schemeClr val="accent3"/>
            </a:solidFill>
            <a:prstDash val="solid"/>
          </a:ln>
        </p:spPr>
      </p:sp>
      <p:pic>
        <p:nvPicPr>
          <p:cNvPr id="13" name="cav-icon-355" descr="preencoded.png">    </p:cNvPr>
          <p:cNvPicPr>
            <a:picLocks noChangeAspect="1"/>
          </p:cNvPicPr>
          <p:nvPr/>
        </p:nvPicPr>
        <p:blipFill>
          <a:blip r:embed="rId4"/>
          <a:stretch>
            <a:fillRect/>
          </a:stretch>
        </p:blipFill>
        <p:spPr>
          <a:xfrm>
            <a:off x="512064" y="3255264"/>
            <a:ext cx="210312" cy="210312"/>
          </a:xfrm>
          <a:prstGeom prst="rect">
            <a:avLst/>
          </a:prstGeom>
        </p:spPr>
      </p:pic>
      <p:sp>
        <p:nvSpPr>
          <p:cNvPr id="14" name="text-356"/>
          <p:cNvSpPr txBox="1"/>
          <p:nvPr/>
        </p:nvSpPr>
        <p:spPr>
          <a:xfrm>
            <a:off x="1005840" y="3127248"/>
            <a:ext cx="7726680" cy="502920"/>
          </a:xfrm>
          <a:prstGeom prst="rect">
            <a:avLst/>
          </a:prstGeom>
          <a:noFill/>
          <a:ln/>
        </p:spPr>
        <p:txBody>
          <a:bodyPr wrap="square" lIns="0" tIns="0" rIns="0" bIns="0" rtlCol="0" anchor="ctr"/>
          <a:lstStyle/>
          <a:p>
            <a:pPr indent="0" marL="0">
              <a:buNone/>
            </a:pPr>
            <a:r>
              <a:rPr lang="en-US" sz="1400" dirty="0">
                <a:solidFill>
                  <a:schemeClr val="tx1"/>
                </a:solidFill>
              </a:rPr>
              <a:t>Isolation Forest threshold ≈ true anomaly rate; DeepLog trained on 100k blocks on CPU, EOS added after split 0</a:t>
            </a:r>
            <a:endParaRPr lang="en-US" sz="1400" dirty="0"/>
          </a:p>
        </p:txBody>
      </p:sp>
      <p:sp>
        <p:nvSpPr>
          <p:cNvPr id="15" name="cav-circle-357"/>
          <p:cNvSpPr/>
          <p:nvPr/>
        </p:nvSpPr>
        <p:spPr>
          <a:xfrm>
            <a:off x="411480" y="3886200"/>
            <a:ext cx="411480" cy="411480"/>
          </a:xfrm>
          <a:prstGeom prst="ellipse">
            <a:avLst/>
          </a:prstGeom>
          <a:solidFill>
            <a:schemeClr val="accent4"/>
          </a:solidFill>
          <a:ln w="12700">
            <a:solidFill>
              <a:schemeClr val="accent4"/>
            </a:solidFill>
            <a:prstDash val="solid"/>
          </a:ln>
        </p:spPr>
      </p:sp>
      <p:pic>
        <p:nvPicPr>
          <p:cNvPr id="16" name="cav-icon-358" descr="preencoded.png">    </p:cNvPr>
          <p:cNvPicPr>
            <a:picLocks noChangeAspect="1"/>
          </p:cNvPicPr>
          <p:nvPr/>
        </p:nvPicPr>
        <p:blipFill>
          <a:blip r:embed="rId5"/>
          <a:stretch>
            <a:fillRect/>
          </a:stretch>
        </p:blipFill>
        <p:spPr>
          <a:xfrm>
            <a:off x="512064" y="3986784"/>
            <a:ext cx="210312" cy="210312"/>
          </a:xfrm>
          <a:prstGeom prst="rect">
            <a:avLst/>
          </a:prstGeom>
        </p:spPr>
      </p:pic>
      <p:sp>
        <p:nvSpPr>
          <p:cNvPr id="17" name="text-359"/>
          <p:cNvSpPr txBox="1"/>
          <p:nvPr/>
        </p:nvSpPr>
        <p:spPr>
          <a:xfrm>
            <a:off x="1005840" y="3858768"/>
            <a:ext cx="7726680" cy="502920"/>
          </a:xfrm>
          <a:prstGeom prst="rect">
            <a:avLst/>
          </a:prstGeom>
          <a:noFill/>
          <a:ln/>
        </p:spPr>
        <p:txBody>
          <a:bodyPr wrap="square" lIns="0" tIns="0" rIns="0" bIns="0" rtlCol="0" anchor="ctr"/>
          <a:lstStyle/>
          <a:p>
            <a:pPr indent="0" marL="0">
              <a:buNone/>
            </a:pPr>
            <a:r>
              <a:rPr lang="en-US" sz="1400" dirty="0">
                <a:solidFill>
                  <a:schemeClr val="tx1"/>
                </a:solidFill>
              </a:rPr>
              <a:t>Each seed changes both the split and the model initialisation; extension on HDFS only</a:t>
            </a:r>
            <a:endParaRPr lang="en-US" sz="1400" dirty="0"/>
          </a:p>
        </p:txBody>
      </p:sp>
      <p:sp>
        <p:nvSpPr>
          <p:cNvPr id="25" name="Slide Number Placeholder 0"/>
          <p:cNvSpPr>
            <a:spLocks noGrp="1"/>
          </p:cNvSpPr>
          <p:nvPr>
            <p:ph type="sldNum" sz="quarter" idx="4294967295"/>
          </p:nvPr>
        </p:nvSpPr>
        <p:spPr>
          <a:xfrm>
            <a:off x="8412480" y="4800600"/>
            <a:ext cx="41148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360"/>
          <p:cNvSpPr txBox="1"/>
          <p:nvPr/>
        </p:nvSpPr>
        <p:spPr>
          <a:xfrm>
            <a:off x="731520" y="1463040"/>
            <a:ext cx="7680960" cy="1188720"/>
          </a:xfrm>
          <a:prstGeom prst="rect">
            <a:avLst/>
          </a:prstGeom>
          <a:noFill/>
          <a:ln/>
        </p:spPr>
        <p:txBody>
          <a:bodyPr wrap="square" lIns="635" tIns="635" rIns="635" bIns="635" rtlCol="0" anchor="ctr"/>
          <a:lstStyle/>
          <a:p>
            <a:pPr indent="0" marL="0">
              <a:buNone/>
            </a:pPr>
            <a:r>
              <a:rPr lang="en-US" sz="3200" b="1" dirty="0">
                <a:solidFill>
                  <a:schemeClr val="bg1"/>
                </a:solidFill>
                <a:latin typeface="Bookman Old Style" pitchFamily="34" charset="0"/>
                <a:ea typeface="Bookman Old Style" pitchFamily="34" charset="-122"/>
                <a:cs typeface="Bookman Old Style" pitchFamily="34" charset="-120"/>
              </a:rPr>
              <a:t>On HDFS, the loudest anomaly is a line that never shows up.</a:t>
            </a:r>
            <a:endParaRPr lang="en-US" sz="3200" dirty="0"/>
          </a:p>
        </p:txBody>
      </p:sp>
      <p:sp>
        <p:nvSpPr>
          <p:cNvPr id="3" name="text-361"/>
          <p:cNvSpPr txBox="1"/>
          <p:nvPr/>
        </p:nvSpPr>
        <p:spPr>
          <a:xfrm>
            <a:off x="731520" y="2788920"/>
            <a:ext cx="7680960" cy="640080"/>
          </a:xfrm>
          <a:prstGeom prst="rect">
            <a:avLst/>
          </a:prstGeom>
          <a:noFill/>
          <a:ln/>
        </p:spPr>
        <p:txBody>
          <a:bodyPr wrap="square" lIns="635" tIns="635" rIns="635" bIns="635" rtlCol="0" anchor="t"/>
          <a:lstStyle/>
          <a:p>
            <a:pPr indent="0" marL="0">
              <a:buNone/>
            </a:pPr>
            <a:r>
              <a:rPr lang="en-US" sz="1800" dirty="0">
                <a:solidFill>
                  <a:schemeClr val="accent5"/>
                </a:solidFill>
              </a:rPr>
              <a:t>Count before you read: a forest on template counts beats sequence models, and finds the missing lines.</a:t>
            </a:r>
            <a:endParaRPr lang="en-US" sz="1800" dirty="0"/>
          </a:p>
        </p:txBody>
      </p:sp>
      <p:sp>
        <p:nvSpPr>
          <p:cNvPr id="25" name="Slide Number Placeholder 0"/>
          <p:cNvSpPr>
            <a:spLocks noGrp="1"/>
          </p:cNvSpPr>
          <p:nvPr>
            <p:ph type="sldNum" sz="quarter" idx="4294967295"/>
          </p:nvPr>
        </p:nvSpPr>
        <p:spPr>
          <a:xfrm>
            <a:off x="8412480" y="4800600"/>
            <a:ext cx="41148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11480" y="256032"/>
            <a:ext cx="6903720" cy="502920"/>
          </a:xfrm>
          <a:prstGeom prst="rect">
            <a:avLst/>
          </a:prstGeom>
          <a:noFill/>
          <a:ln/>
        </p:spPr>
        <p:txBody>
          <a:bodyPr wrap="square" lIns="0" tIns="0" rIns="0" bIns="0" rtlCol="0" anchor="ctr"/>
          <a:lstStyle/>
          <a:p>
            <a:pPr algn="l" indent="0" marL="0">
              <a:buNone/>
            </a:pPr>
            <a:r>
              <a:rPr lang="en-US" sz="2400" dirty="0">
                <a:solidFill>
                  <a:schemeClr val="tx1"/>
                </a:solidFill>
                <a:latin typeface="Bookman Old Style" pitchFamily="34" charset="0"/>
                <a:ea typeface="Bookman Old Style" pitchFamily="34" charset="-122"/>
                <a:cs typeface="Bookman Old Style" pitchFamily="34" charset="-120"/>
              </a:rPr>
              <a:t>Your turn: what if MiniHDFS changed?</a:t>
            </a:r>
            <a:endParaRPr lang="en-US" sz="2400" dirty="0"/>
          </a:p>
        </p:txBody>
      </p:sp>
      <p:sp>
        <p:nvSpPr>
          <p:cNvPr id="3" name="text-362"/>
          <p:cNvSpPr txBox="1"/>
          <p:nvPr/>
        </p:nvSpPr>
        <p:spPr>
          <a:xfrm>
            <a:off x="411480" y="914400"/>
            <a:ext cx="8321040" cy="777240"/>
          </a:xfrm>
          <a:prstGeom prst="rect">
            <a:avLst/>
          </a:prstGeom>
          <a:noFill/>
          <a:ln/>
        </p:spPr>
        <p:txBody>
          <a:bodyPr wrap="square" lIns="635" tIns="635" rIns="635" bIns="635" rtlCol="0" anchor="t"/>
          <a:lstStyle/>
          <a:p>
            <a:pPr indent="0" marL="0">
              <a:buNone/>
            </a:pPr>
            <a:r>
              <a:rPr lang="en-US" sz="1700" b="1" dirty="0">
                <a:solidFill>
                  <a:schemeClr val="tx1"/>
                </a:solidFill>
              </a:rPr>
              <a:t>MiniHDFS always writes 3 copies. Suppose each file chooses 1 to 5 copies.</a:t>
            </a:r>
            <a:endParaRPr lang="en-US" sz="1700" dirty="0"/>
          </a:p>
          <a:p>
            <a:pPr indent="0" marL="0">
              <a:buNone/>
            </a:pPr>
            <a:r>
              <a:rPr lang="en-US" sz="1700" b="1" dirty="0">
                <a:solidFill>
                  <a:schemeClr val="tx1"/>
                </a:solidFill>
              </a:rPr>
              <a:t>Would counting (MCV + Random Forest) still win?</a:t>
            </a:r>
            <a:endParaRPr lang="en-US" sz="1700" dirty="0"/>
          </a:p>
        </p:txBody>
      </p:sp>
      <p:sp>
        <p:nvSpPr>
          <p:cNvPr id="4" name="hint-363"/>
          <p:cNvSpPr/>
          <p:nvPr/>
        </p:nvSpPr>
        <p:spPr>
          <a:xfrm>
            <a:off x="411480" y="1920240"/>
            <a:ext cx="2651760" cy="960120"/>
          </a:xfrm>
          <a:prstGeom prst="roundRect">
            <a:avLst>
              <a:gd name="adj" fmla="val 14286"/>
            </a:avLst>
          </a:prstGeom>
          <a:solidFill>
            <a:schemeClr val="bg2"/>
          </a:solidFill>
          <a:ln w="12700">
            <a:solidFill>
              <a:schemeClr val="accent5"/>
            </a:solidFill>
            <a:prstDash val="solid"/>
          </a:ln>
        </p:spPr>
      </p:sp>
      <p:sp>
        <p:nvSpPr>
          <p:cNvPr id="5" name="text-364"/>
          <p:cNvSpPr txBox="1"/>
          <p:nvPr/>
        </p:nvSpPr>
        <p:spPr>
          <a:xfrm>
            <a:off x="521208" y="1965960"/>
            <a:ext cx="2432304" cy="868680"/>
          </a:xfrm>
          <a:prstGeom prst="rect">
            <a:avLst/>
          </a:prstGeom>
          <a:noFill/>
          <a:ln/>
        </p:spPr>
        <p:txBody>
          <a:bodyPr wrap="square" lIns="0" tIns="0" rIns="0" bIns="0" rtlCol="0" anchor="ctr"/>
          <a:lstStyle/>
          <a:p>
            <a:pPr indent="0" marL="0">
              <a:buNone/>
            </a:pPr>
            <a:r>
              <a:rPr lang="en-US" sz="1300" b="1" dirty="0">
                <a:solidFill>
                  <a:schemeClr val="accent5"/>
                </a:solidFill>
              </a:rPr>
              <a:t>Hint 1: </a:t>
            </a:r>
            <a:pPr indent="0" marL="0">
              <a:buNone/>
            </a:pPr>
            <a:r>
              <a:rPr lang="en-US" sz="1300" dirty="0">
                <a:solidFill>
                  <a:schemeClr val="tx1"/>
                </a:solidFill>
              </a:rPr>
              <a:t>“exactly 3 P lines” stops being a fixed rule</a:t>
            </a:r>
            <a:endParaRPr lang="en-US" sz="1300" dirty="0"/>
          </a:p>
        </p:txBody>
      </p:sp>
      <p:sp>
        <p:nvSpPr>
          <p:cNvPr id="6" name="hint-365"/>
          <p:cNvSpPr/>
          <p:nvPr/>
        </p:nvSpPr>
        <p:spPr>
          <a:xfrm>
            <a:off x="3200400" y="1920240"/>
            <a:ext cx="2651760" cy="960120"/>
          </a:xfrm>
          <a:prstGeom prst="roundRect">
            <a:avLst>
              <a:gd name="adj" fmla="val 14286"/>
            </a:avLst>
          </a:prstGeom>
          <a:solidFill>
            <a:schemeClr val="bg2"/>
          </a:solidFill>
          <a:ln w="12700">
            <a:solidFill>
              <a:schemeClr val="accent5"/>
            </a:solidFill>
            <a:prstDash val="solid"/>
          </a:ln>
        </p:spPr>
      </p:sp>
      <p:sp>
        <p:nvSpPr>
          <p:cNvPr id="7" name="text-366"/>
          <p:cNvSpPr txBox="1"/>
          <p:nvPr/>
        </p:nvSpPr>
        <p:spPr>
          <a:xfrm>
            <a:off x="3310128" y="1965960"/>
            <a:ext cx="2432304" cy="868680"/>
          </a:xfrm>
          <a:prstGeom prst="rect">
            <a:avLst/>
          </a:prstGeom>
          <a:noFill/>
          <a:ln/>
        </p:spPr>
        <p:txBody>
          <a:bodyPr wrap="square" lIns="0" tIns="0" rIns="0" bIns="0" rtlCol="0" anchor="ctr"/>
          <a:lstStyle/>
          <a:p>
            <a:pPr indent="0" marL="0">
              <a:buNone/>
            </a:pPr>
            <a:r>
              <a:rPr lang="en-US" sz="1300" b="1" dirty="0">
                <a:solidFill>
                  <a:schemeClr val="accent5"/>
                </a:solidFill>
              </a:rPr>
              <a:t>Hint 2: </a:t>
            </a:r>
            <a:pPr indent="0" marL="0">
              <a:buNone/>
            </a:pPr>
            <a:r>
              <a:rPr lang="en-US" sz="1300" dirty="0">
                <a:solidFill>
                  <a:schemeClr val="tx1"/>
                </a:solidFill>
              </a:rPr>
              <a:t>DeepLog does not care how many copies there are</a:t>
            </a:r>
            <a:endParaRPr lang="en-US" sz="1300" dirty="0"/>
          </a:p>
        </p:txBody>
      </p:sp>
      <p:sp>
        <p:nvSpPr>
          <p:cNvPr id="8" name="hint-367"/>
          <p:cNvSpPr/>
          <p:nvPr/>
        </p:nvSpPr>
        <p:spPr>
          <a:xfrm>
            <a:off x="5989320" y="1920240"/>
            <a:ext cx="2651760" cy="960120"/>
          </a:xfrm>
          <a:prstGeom prst="roundRect">
            <a:avLst>
              <a:gd name="adj" fmla="val 14286"/>
            </a:avLst>
          </a:prstGeom>
          <a:solidFill>
            <a:schemeClr val="bg2"/>
          </a:solidFill>
          <a:ln w="12700">
            <a:solidFill>
              <a:schemeClr val="accent5"/>
            </a:solidFill>
            <a:prstDash val="solid"/>
          </a:ln>
        </p:spPr>
      </p:sp>
      <p:sp>
        <p:nvSpPr>
          <p:cNvPr id="9" name="text-368"/>
          <p:cNvSpPr txBox="1"/>
          <p:nvPr/>
        </p:nvSpPr>
        <p:spPr>
          <a:xfrm>
            <a:off x="6099048" y="1965960"/>
            <a:ext cx="2432304" cy="868680"/>
          </a:xfrm>
          <a:prstGeom prst="rect">
            <a:avLst/>
          </a:prstGeom>
          <a:noFill/>
          <a:ln/>
        </p:spPr>
        <p:txBody>
          <a:bodyPr wrap="square" lIns="0" tIns="0" rIns="0" bIns="0" rtlCol="0" anchor="ctr"/>
          <a:lstStyle/>
          <a:p>
            <a:pPr indent="0" marL="0">
              <a:buNone/>
            </a:pPr>
            <a:r>
              <a:rPr lang="en-US" sz="1300" b="1" dirty="0">
                <a:solidFill>
                  <a:schemeClr val="accent5"/>
                </a:solidFill>
              </a:rPr>
              <a:t>Hint 3: </a:t>
            </a:r>
            <a:pPr indent="0" marL="0">
              <a:buNone/>
            </a:pPr>
            <a:r>
              <a:rPr lang="en-US" sz="1300" dirty="0">
                <a:solidFill>
                  <a:schemeClr val="tx1"/>
                </a:solidFill>
              </a:rPr>
              <a:t>Could we divide each count by the number of copies?</a:t>
            </a:r>
            <a:endParaRPr lang="en-US" sz="1300" dirty="0"/>
          </a:p>
        </p:txBody>
      </p:sp>
      <p:sp>
        <p:nvSpPr>
          <p:cNvPr id="10" name="text-369"/>
          <p:cNvSpPr txBox="1"/>
          <p:nvPr/>
        </p:nvSpPr>
        <p:spPr>
          <a:xfrm>
            <a:off x="411480" y="3337560"/>
            <a:ext cx="8321040" cy="685800"/>
          </a:xfrm>
          <a:prstGeom prst="rect">
            <a:avLst/>
          </a:prstGeom>
          <a:noFill/>
          <a:ln/>
        </p:spPr>
        <p:txBody>
          <a:bodyPr wrap="square" lIns="635" tIns="635" rIns="635" bIns="635" rtlCol="0" anchor="t"/>
          <a:lstStyle/>
          <a:p>
            <a:pPr indent="0" marL="0">
              <a:buNone/>
            </a:pPr>
            <a:r>
              <a:rPr lang="en-US" sz="3000" b="1" dirty="0">
                <a:solidFill>
                  <a:schemeClr val="tx1"/>
                </a:solidFill>
                <a:latin typeface="Bookman Old Style" pitchFamily="34" charset="0"/>
                <a:ea typeface="Bookman Old Style" pitchFamily="34" charset="-122"/>
                <a:cs typeface="Bookman Old Style" pitchFamily="34" charset="-120"/>
              </a:rPr>
              <a:t>Thank you!  Questions?</a:t>
            </a:r>
            <a:endParaRPr lang="en-US" sz="3000" dirty="0"/>
          </a:p>
        </p:txBody>
      </p:sp>
      <p:sp>
        <p:nvSpPr>
          <p:cNvPr id="11" name="text-370"/>
          <p:cNvSpPr txBox="1"/>
          <p:nvPr/>
        </p:nvSpPr>
        <p:spPr>
          <a:xfrm>
            <a:off x="411480" y="4069080"/>
            <a:ext cx="8321040" cy="274320"/>
          </a:xfrm>
          <a:prstGeom prst="rect">
            <a:avLst/>
          </a:prstGeom>
          <a:noFill/>
          <a:ln/>
        </p:spPr>
        <p:txBody>
          <a:bodyPr wrap="square" lIns="635" tIns="635" rIns="635" bIns="635" rtlCol="0" anchor="t"/>
          <a:lstStyle/>
          <a:p>
            <a:pPr indent="0" marL="0">
              <a:buNone/>
            </a:pPr>
            <a:r>
              <a:rPr lang="en-US" sz="1200" i="1" dirty="0">
                <a:solidFill>
                  <a:schemeClr val="tx2"/>
                </a:solidFill>
              </a:rPr>
              <a:t>Code, results and notes: git tags step1-final … ext-final</a:t>
            </a:r>
            <a:endParaRPr lang="en-US" sz="1200" dirty="0"/>
          </a:p>
        </p:txBody>
      </p:sp>
      <p:sp>
        <p:nvSpPr>
          <p:cNvPr id="25" name="Slide Number Placeholder 0"/>
          <p:cNvSpPr>
            <a:spLocks noGrp="1"/>
          </p:cNvSpPr>
          <p:nvPr>
            <p:ph type="sldNum" sz="quarter" idx="4294967295"/>
          </p:nvPr>
        </p:nvSpPr>
        <p:spPr>
          <a:xfrm>
            <a:off x="8412480" y="4800600"/>
            <a:ext cx="41148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LogBlocks">
  <a:themeElements>
    <a:clrScheme name="LogBlocks">
      <a:dk1>
        <a:srgbClr val="1B2A35"/>
      </a:dk1>
      <a:lt1>
        <a:srgbClr val="FFFFFF"/>
      </a:lt1>
      <a:dk2>
        <a:srgbClr val="5B6770"/>
      </a:dk2>
      <a:lt2>
        <a:srgbClr val="EEF2F4"/>
      </a:lt2>
      <a:accent1>
        <a:srgbClr val="2A9D8F"/>
      </a:accent1>
      <a:accent2>
        <a:srgbClr val="3D5A80"/>
      </a:accent2>
      <a:accent3>
        <a:srgbClr val="7B5EA7"/>
      </a:accent3>
      <a:accent4>
        <a:srgbClr val="B5179E"/>
      </a:accent4>
      <a:accent5>
        <a:srgbClr val="E07A2F"/>
      </a:accent5>
      <a:accent6>
        <a:srgbClr val="C8323F"/>
      </a:accent6>
      <a:hlink>
        <a:srgbClr val="3D5A80"/>
      </a:hlink>
      <a:folHlink>
        <a:srgbClr val="7B5EA7"/>
      </a:folHlink>
    </a:clrScheme>
    <a:fontScheme name="LogBlocks">
      <a:majorFont>
        <a:latin typeface="Bookman Old Styl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Log-based anomaly detection: replication and extension</dc:title>
  <dc:subject>PptxGenJS Presentation</dc:subject>
  <dc:creator>PptxGenJS</dc:creator>
  <cp:lastModifiedBy>PptxGenJS</cp:lastModifiedBy>
  <cp:revision>1</cp:revision>
  <dcterms:created xsi:type="dcterms:W3CDTF">2026-10-20T01:00:28Z</dcterms:created>
  <dcterms:modified xsi:type="dcterms:W3CDTF">2026-10-20T01:00:28Z</dcterms:modified>
</cp:coreProperties>
</file>